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FD8D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 CoE ／ SoAエージェント基盤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SoA AIエージェント層 ― 完全アーキテクチャ</a:t>
            </a:r>
            <a:endParaRPr lang="en-US" sz="3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全体像 × 各層コンポーネント構成 × データ構成・データフロー</a:t>
            </a:r>
            <a:endParaRPr lang="en-US" sz="3300" dirty="0"/>
          </a:p>
          <a:p>
            <a:pPr algn="l"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F3B8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 暗黙知・技術継承の統合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DF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アーキテクチャの絶対像から、各層の部品と18＋αの棚、3本のデータフローまで ― どの部品がどのデータを持ち、どこで連動するかを、1つの記法（色・ID・F番号）で全頁貫いて示す。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3611880"/>
            <a:ext cx="3383280" cy="1572768"/>
          </a:xfrm>
          <a:prstGeom prst="roundRect">
            <a:avLst>
              <a:gd name="adj" fmla="val 3488"/>
            </a:avLst>
          </a:prstGeom>
          <a:solidFill>
            <a:srgbClr val="223457"/>
          </a:solidFill>
          <a:ln w="12700">
            <a:solidFill>
              <a:srgbClr val="3A4E7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3730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B8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 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絶対像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87552" y="4059936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9D3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5つの置き場（SoE／SoA／標準I/F／中間層／SoR＋暗黙知・技術継承）と役割分担を1枚で確定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87552" y="488289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FD8D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P.2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34840" y="3611880"/>
            <a:ext cx="3383280" cy="1572768"/>
          </a:xfrm>
          <a:prstGeom prst="roundRect">
            <a:avLst>
              <a:gd name="adj" fmla="val 3488"/>
            </a:avLst>
          </a:prstGeom>
          <a:solidFill>
            <a:srgbClr val="223457"/>
          </a:solidFill>
          <a:ln w="12700">
            <a:solidFill>
              <a:srgbClr val="3A4E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3730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B8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 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各層のコンポーネント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99432" y="4059936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9D3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層ごとに部品ID・機能・保持データを定義。暗黙知の入口＝Evidence Planeを第5の置き場として新設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99432" y="488289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FD8D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P.3〜P.6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46720" y="3611880"/>
            <a:ext cx="3383280" cy="1572768"/>
          </a:xfrm>
          <a:prstGeom prst="roundRect">
            <a:avLst>
              <a:gd name="adj" fmla="val 3488"/>
            </a:avLst>
          </a:prstGeom>
          <a:solidFill>
            <a:srgbClr val="223457"/>
          </a:solidFill>
          <a:ln w="12700">
            <a:solidFill>
              <a:srgbClr val="3A4E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1312" y="3730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B87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 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データフロー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11312" y="4059936"/>
            <a:ext cx="30906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9D3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取込（F-I）・実行（F-II）・還流（F-III）の3本。読む棚・書く棚を部品IDで対照し、連関マップで総括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211312" y="488289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FD8D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P.7〜P.10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544068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9A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本書は「SoA AIエージェント層 仕様アーキテクチャ（2026-07-24）」のデザイン・記法に準拠。旧・協業前提の共同開発部品（ナレッジ抽出Agent・標準I/F・業種パターン）は、本来あるべき姿として自社開発コンポーネント（紫）に置換・再定義し、暗黙知・技術継承（Evidence Plane／知識オブジェクト／承認状態遷移）を全層・全フローに統合した。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22960" y="6172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2026年7月 ／ AI CoE ― 部門長・上長・顧客企業向け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09728"/>
            <a:ext cx="11679631" cy="475488"/>
          </a:xfrm>
          <a:prstGeom prst="roundRect">
            <a:avLst>
              <a:gd name="adj" fmla="val 9615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20624" y="10972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SoA AIエージェント層 完全版 ｜ ① 絶対像 ― 5層アーキテクチャ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98003" y="205740"/>
            <a:ext cx="882396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798003" y="205740"/>
            <a:ext cx="8823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テクノプロ内製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753551" y="205740"/>
            <a:ext cx="1056132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753551" y="205740"/>
            <a:ext cx="10561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自社開発・継承部品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9882835" y="205740"/>
            <a:ext cx="969264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882835" y="205740"/>
            <a:ext cx="969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決定済プロダクト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0925251" y="205740"/>
            <a:ext cx="882396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925251" y="205740"/>
            <a:ext cx="8823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既製品・投資先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01752" y="640080"/>
            <a:ext cx="115881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絶対像 ― 5つの置き場と3本のデータフロー。差分はエージェントでなく「置き場」が吸収し、暗黙知はEvidence Planeから正本として入る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56032" y="1005840"/>
            <a:ext cx="868680" cy="658368"/>
          </a:xfrm>
          <a:prstGeom prst="roundRect">
            <a:avLst>
              <a:gd name="adj" fmla="val 6250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" y="1005840"/>
            <a:ext cx="8686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SoE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6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UI層・内製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188720" y="1005840"/>
            <a:ext cx="9198864" cy="658368"/>
          </a:xfrm>
          <a:prstGeom prst="roundRect">
            <a:avLst>
              <a:gd name="adj" fmla="val 6944"/>
            </a:avLst>
          </a:prstGeom>
          <a:solidFill>
            <a:srgbClr val="E8EDF7"/>
          </a:solidFill>
          <a:ln w="9525">
            <a:solidFill>
              <a:srgbClr val="1B2A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80160" y="1088136"/>
            <a:ext cx="1444752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35024" y="1138428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1335024" y="1128370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645920" y="1088136"/>
            <a:ext cx="1060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意思決定支援UI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93492" y="1088136"/>
            <a:ext cx="1444752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48356" y="1138428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2848356" y="1128370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159252" y="1088136"/>
            <a:ext cx="1060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業務特化UI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306824" y="1088136"/>
            <a:ext cx="1444752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61688" y="1138428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4361688" y="1128370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672584" y="1088136"/>
            <a:ext cx="1060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ノウハウ抽出UI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820156" y="1088136"/>
            <a:ext cx="1444752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6D4FA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75020" y="1138428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6D4FA1"/>
          </a:solidFill>
          <a:ln/>
        </p:spPr>
      </p:sp>
      <p:sp>
        <p:nvSpPr>
          <p:cNvPr id="30" name="Text 28"/>
          <p:cNvSpPr/>
          <p:nvPr/>
        </p:nvSpPr>
        <p:spPr>
          <a:xfrm>
            <a:off x="5875020" y="1128370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185916" y="1088136"/>
            <a:ext cx="1060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面接・収録UI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333488" y="1088136"/>
            <a:ext cx="1444752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6D4FA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88352" y="1138428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6D4FA1"/>
          </a:solidFill>
          <a:ln/>
        </p:spPr>
      </p:sp>
      <p:sp>
        <p:nvSpPr>
          <p:cNvPr id="34" name="Text 32"/>
          <p:cNvSpPr/>
          <p:nvPr/>
        </p:nvSpPr>
        <p:spPr>
          <a:xfrm>
            <a:off x="7388352" y="1128370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699248" y="1088136"/>
            <a:ext cx="1060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承認・レビューUI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8846820" y="1088136"/>
            <a:ext cx="1444752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6D4FA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01684" y="1138428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6D4FA1"/>
          </a:solidFill>
          <a:ln/>
        </p:spPr>
      </p:sp>
      <p:sp>
        <p:nvSpPr>
          <p:cNvPr id="38" name="Text 36"/>
          <p:cNvSpPr/>
          <p:nvPr/>
        </p:nvSpPr>
        <p:spPr>
          <a:xfrm>
            <a:off x="8901684" y="1128370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U6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9212580" y="1088136"/>
            <a:ext cx="10607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効果測定ダッシュボード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2377440" y="1700784"/>
            <a:ext cx="0" cy="18288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2450592" y="16824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 → task契約に翻訳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 flipV="1">
            <a:off x="9052560" y="1700784"/>
            <a:ext cx="0" cy="182880"/>
          </a:xfrm>
          <a:prstGeom prst="line">
            <a:avLst/>
          </a:prstGeom>
          <a:noFill/>
          <a:ln w="19050">
            <a:solidFill>
              <a:srgbClr val="2F7D4F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7178040" y="168249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F7D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review通過成果のみ返す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256032" y="1920240"/>
            <a:ext cx="868680" cy="1572768"/>
          </a:xfrm>
          <a:prstGeom prst="roundRect">
            <a:avLst>
              <a:gd name="adj" fmla="val 4737"/>
            </a:avLst>
          </a:prstGeom>
          <a:solidFill>
            <a:srgbClr val="C96A1B"/>
          </a:solidFill>
          <a:ln/>
        </p:spPr>
      </p:sp>
      <p:sp>
        <p:nvSpPr>
          <p:cNvPr id="45" name="Text 43"/>
          <p:cNvSpPr/>
          <p:nvPr/>
        </p:nvSpPr>
        <p:spPr>
          <a:xfrm>
            <a:off x="256032" y="1920240"/>
            <a:ext cx="868680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SoA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6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6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基盤・内製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1188720" y="1920240"/>
            <a:ext cx="9198864" cy="1572768"/>
          </a:xfrm>
          <a:prstGeom prst="roundRect">
            <a:avLst>
              <a:gd name="adj" fmla="val 2907"/>
            </a:avLst>
          </a:prstGeom>
          <a:solidFill>
            <a:srgbClr val="FDF7EE"/>
          </a:solidFill>
          <a:ln w="9525">
            <a:solidFill>
              <a:srgbClr val="C96A1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16736" y="196596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C96A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共通・無個性の三役 ＋ 機械の門番（全顧客・全業務で同一）</a:t>
            </a:r>
            <a:endParaRPr lang="en-US" sz="720" dirty="0"/>
          </a:p>
        </p:txBody>
      </p:sp>
      <p:sp>
        <p:nvSpPr>
          <p:cNvPr id="48" name="Shape 46"/>
          <p:cNvSpPr/>
          <p:nvPr/>
        </p:nvSpPr>
        <p:spPr>
          <a:xfrm>
            <a:off x="1316736" y="2176272"/>
            <a:ext cx="3054096" cy="283464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80744" y="2235708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C96A1B"/>
          </a:solidFill>
          <a:ln/>
        </p:spPr>
      </p:sp>
      <p:sp>
        <p:nvSpPr>
          <p:cNvPr id="50" name="Text 48"/>
          <p:cNvSpPr/>
          <p:nvPr/>
        </p:nvSpPr>
        <p:spPr>
          <a:xfrm>
            <a:off x="1380744" y="2225650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A1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1737360" y="219456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lead ― 統括・調停（task契約の作成／統合）</a:t>
            </a:r>
            <a:endParaRPr lang="en-US" sz="740" dirty="0"/>
          </a:p>
        </p:txBody>
      </p:sp>
      <p:sp>
        <p:nvSpPr>
          <p:cNvPr id="52" name="Shape 50"/>
          <p:cNvSpPr/>
          <p:nvPr/>
        </p:nvSpPr>
        <p:spPr>
          <a:xfrm>
            <a:off x="1600200" y="2459736"/>
            <a:ext cx="0" cy="41148"/>
          </a:xfrm>
          <a:prstGeom prst="line">
            <a:avLst/>
          </a:prstGeom>
          <a:noFill/>
          <a:ln w="12700">
            <a:solidFill>
              <a:srgbClr val="C96A1B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1316736" y="2500884"/>
            <a:ext cx="3054096" cy="283464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380744" y="2560320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C96A1B"/>
          </a:solidFill>
          <a:ln/>
        </p:spPr>
      </p:sp>
      <p:sp>
        <p:nvSpPr>
          <p:cNvPr id="55" name="Text 53"/>
          <p:cNvSpPr/>
          <p:nvPr/>
        </p:nvSpPr>
        <p:spPr>
          <a:xfrm>
            <a:off x="1380744" y="2550262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A2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1737360" y="251917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worker × N ― 並列実装（claim → 実装）</a:t>
            </a:r>
            <a:endParaRPr lang="en-US" sz="740" dirty="0"/>
          </a:p>
        </p:txBody>
      </p:sp>
      <p:sp>
        <p:nvSpPr>
          <p:cNvPr id="57" name="Shape 55"/>
          <p:cNvSpPr/>
          <p:nvPr/>
        </p:nvSpPr>
        <p:spPr>
          <a:xfrm>
            <a:off x="1600200" y="2784348"/>
            <a:ext cx="0" cy="41148"/>
          </a:xfrm>
          <a:prstGeom prst="line">
            <a:avLst/>
          </a:prstGeom>
          <a:noFill/>
          <a:ln w="12700">
            <a:solidFill>
              <a:srgbClr val="C96A1B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1316736" y="2825496"/>
            <a:ext cx="3054096" cy="283464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380744" y="288493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C96A1B"/>
          </a:solidFill>
          <a:ln/>
        </p:spPr>
      </p:sp>
      <p:sp>
        <p:nvSpPr>
          <p:cNvPr id="60" name="Text 58"/>
          <p:cNvSpPr/>
          <p:nvPr/>
        </p:nvSpPr>
        <p:spPr>
          <a:xfrm>
            <a:off x="1380744" y="287487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G1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1737360" y="284378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検証ゲート ― 機械チェック＋業務ゲート</a:t>
            </a:r>
            <a:endParaRPr lang="en-US" sz="740" dirty="0"/>
          </a:p>
        </p:txBody>
      </p:sp>
      <p:sp>
        <p:nvSpPr>
          <p:cNvPr id="62" name="Shape 60"/>
          <p:cNvSpPr/>
          <p:nvPr/>
        </p:nvSpPr>
        <p:spPr>
          <a:xfrm>
            <a:off x="1600200" y="3108960"/>
            <a:ext cx="0" cy="41148"/>
          </a:xfrm>
          <a:prstGeom prst="line">
            <a:avLst/>
          </a:prstGeom>
          <a:noFill/>
          <a:ln w="12700">
            <a:solidFill>
              <a:srgbClr val="C96A1B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1316736" y="3150108"/>
            <a:ext cx="3054096" cy="283464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380744" y="3209544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C96A1B"/>
          </a:solidFill>
          <a:ln/>
        </p:spPr>
      </p:sp>
      <p:sp>
        <p:nvSpPr>
          <p:cNvPr id="65" name="Text 63"/>
          <p:cNvSpPr/>
          <p:nvPr/>
        </p:nvSpPr>
        <p:spPr>
          <a:xfrm>
            <a:off x="1380744" y="3199486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A3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1737360" y="3168396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verifier ― 独立照合（OK / FIX / ASK_LEAD）</a:t>
            </a:r>
            <a:endParaRPr lang="en-US" sz="740" dirty="0"/>
          </a:p>
        </p:txBody>
      </p:sp>
      <p:sp>
        <p:nvSpPr>
          <p:cNvPr id="67" name="Text 65"/>
          <p:cNvSpPr/>
          <p:nvPr/>
        </p:nvSpPr>
        <p:spPr>
          <a:xfrm>
            <a:off x="4553712" y="196596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C96A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ハーネス ― 1業務1本・6つの棚（やり方の差分を吸収）</a:t>
            </a:r>
            <a:endParaRPr lang="en-US" sz="720" dirty="0"/>
          </a:p>
        </p:txBody>
      </p:sp>
      <p:sp>
        <p:nvSpPr>
          <p:cNvPr id="68" name="Shape 66"/>
          <p:cNvSpPr/>
          <p:nvPr/>
        </p:nvSpPr>
        <p:spPr>
          <a:xfrm>
            <a:off x="4553712" y="2194560"/>
            <a:ext cx="987552" cy="384048"/>
          </a:xfrm>
          <a:prstGeom prst="roundRect">
            <a:avLst>
              <a:gd name="adj" fmla="val 9524"/>
            </a:avLst>
          </a:prstGeom>
          <a:solidFill>
            <a:srgbClr val="FBF0E1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599432" y="224485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C96A1B"/>
          </a:solidFill>
          <a:ln/>
        </p:spPr>
      </p:sp>
      <p:sp>
        <p:nvSpPr>
          <p:cNvPr id="70" name="Text 68"/>
          <p:cNvSpPr/>
          <p:nvPr/>
        </p:nvSpPr>
        <p:spPr>
          <a:xfrm>
            <a:off x="4599432" y="223479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H1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4901184" y="219456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rules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614416" y="2194560"/>
            <a:ext cx="987552" cy="384048"/>
          </a:xfrm>
          <a:prstGeom prst="roundRect">
            <a:avLst>
              <a:gd name="adj" fmla="val 9524"/>
            </a:avLst>
          </a:prstGeom>
          <a:solidFill>
            <a:srgbClr val="FBF0E1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660136" y="224485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C96A1B"/>
          </a:solidFill>
          <a:ln/>
        </p:spPr>
      </p:sp>
      <p:sp>
        <p:nvSpPr>
          <p:cNvPr id="74" name="Text 72"/>
          <p:cNvSpPr/>
          <p:nvPr/>
        </p:nvSpPr>
        <p:spPr>
          <a:xfrm>
            <a:off x="5660136" y="223479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H2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5961888" y="219456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SKILLS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675120" y="2194560"/>
            <a:ext cx="987552" cy="384048"/>
          </a:xfrm>
          <a:prstGeom prst="roundRect">
            <a:avLst>
              <a:gd name="adj" fmla="val 9524"/>
            </a:avLst>
          </a:prstGeom>
          <a:solidFill>
            <a:srgbClr val="FBF0E1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720840" y="224485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C96A1B"/>
          </a:solidFill>
          <a:ln/>
        </p:spPr>
      </p:sp>
      <p:sp>
        <p:nvSpPr>
          <p:cNvPr id="78" name="Text 76"/>
          <p:cNvSpPr/>
          <p:nvPr/>
        </p:nvSpPr>
        <p:spPr>
          <a:xfrm>
            <a:off x="6720840" y="223479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H3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7022592" y="219456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Hooks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4553712" y="2651760"/>
            <a:ext cx="987552" cy="384048"/>
          </a:xfrm>
          <a:prstGeom prst="roundRect">
            <a:avLst>
              <a:gd name="adj" fmla="val 9524"/>
            </a:avLst>
          </a:prstGeom>
          <a:solidFill>
            <a:srgbClr val="FBF0E1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599432" y="270205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C96A1B"/>
          </a:solidFill>
          <a:ln/>
        </p:spPr>
      </p:sp>
      <p:sp>
        <p:nvSpPr>
          <p:cNvPr id="82" name="Text 80"/>
          <p:cNvSpPr/>
          <p:nvPr/>
        </p:nvSpPr>
        <p:spPr>
          <a:xfrm>
            <a:off x="4599432" y="269199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H4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4901184" y="265176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Wiki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5614416" y="2651760"/>
            <a:ext cx="987552" cy="384048"/>
          </a:xfrm>
          <a:prstGeom prst="roundRect">
            <a:avLst>
              <a:gd name="adj" fmla="val 9524"/>
            </a:avLst>
          </a:prstGeom>
          <a:solidFill>
            <a:srgbClr val="FBF0E1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660136" y="270205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C96A1B"/>
          </a:solidFill>
          <a:ln/>
        </p:spPr>
      </p:sp>
      <p:sp>
        <p:nvSpPr>
          <p:cNvPr id="86" name="Text 84"/>
          <p:cNvSpPr/>
          <p:nvPr/>
        </p:nvSpPr>
        <p:spPr>
          <a:xfrm>
            <a:off x="5660136" y="269199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H5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5961888" y="265176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CI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6675120" y="2651760"/>
            <a:ext cx="987552" cy="384048"/>
          </a:xfrm>
          <a:prstGeom prst="roundRect">
            <a:avLst>
              <a:gd name="adj" fmla="val 9524"/>
            </a:avLst>
          </a:prstGeom>
          <a:solidFill>
            <a:srgbClr val="FBF0E1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720840" y="270205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C96A1B"/>
          </a:solidFill>
          <a:ln/>
        </p:spPr>
      </p:sp>
      <p:sp>
        <p:nvSpPr>
          <p:cNvPr id="90" name="Text 88"/>
          <p:cNvSpPr/>
          <p:nvPr/>
        </p:nvSpPr>
        <p:spPr>
          <a:xfrm>
            <a:off x="6720840" y="269199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H6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7022592" y="265176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queue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4553712" y="314553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H6 queue ＝ task台帳・file正本（実行記録の置き場）</a:t>
            </a:r>
            <a:endParaRPr lang="en-US" sz="680" dirty="0"/>
          </a:p>
        </p:txBody>
      </p:sp>
      <p:sp>
        <p:nvSpPr>
          <p:cNvPr id="93" name="Shape 91"/>
          <p:cNvSpPr/>
          <p:nvPr/>
        </p:nvSpPr>
        <p:spPr>
          <a:xfrm>
            <a:off x="7882128" y="2011680"/>
            <a:ext cx="2395728" cy="1389888"/>
          </a:xfrm>
          <a:prstGeom prst="roundRect">
            <a:avLst>
              <a:gd name="adj" fmla="val 3289"/>
            </a:avLst>
          </a:prstGeom>
          <a:solidFill>
            <a:srgbClr val="EFEAF7"/>
          </a:solidFill>
          <a:ln w="15875">
            <a:solidFill>
              <a:srgbClr val="6D4FA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973568" y="205740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知識抽出・継承Agent群（自社開発）</a:t>
            </a:r>
            <a:endParaRPr lang="en-US" sz="740" dirty="0"/>
          </a:p>
        </p:txBody>
      </p:sp>
      <p:sp>
        <p:nvSpPr>
          <p:cNvPr id="95" name="Shape 93"/>
          <p:cNvSpPr/>
          <p:nvPr/>
        </p:nvSpPr>
        <p:spPr>
          <a:xfrm>
            <a:off x="7973568" y="2286000"/>
            <a:ext cx="2212848" cy="32004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6D4FA1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037576" y="2345436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6D4FA1"/>
          </a:solidFill>
          <a:ln/>
        </p:spPr>
      </p:sp>
      <p:sp>
        <p:nvSpPr>
          <p:cNvPr id="97" name="Text 95"/>
          <p:cNvSpPr/>
          <p:nvPr/>
        </p:nvSpPr>
        <p:spPr>
          <a:xfrm>
            <a:off x="8037576" y="2335378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X1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8394192" y="230428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CTA面接Agent ― 判断根拠を対話で深掘り</a:t>
            </a:r>
            <a:endParaRPr lang="en-US" sz="680" dirty="0"/>
          </a:p>
        </p:txBody>
      </p:sp>
      <p:sp>
        <p:nvSpPr>
          <p:cNvPr id="99" name="Shape 97"/>
          <p:cNvSpPr/>
          <p:nvPr/>
        </p:nvSpPr>
        <p:spPr>
          <a:xfrm>
            <a:off x="7973568" y="2651760"/>
            <a:ext cx="2212848" cy="32004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6D4FA1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8037576" y="2711196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6D4FA1"/>
          </a:solidFill>
          <a:ln/>
        </p:spPr>
      </p:sp>
      <p:sp>
        <p:nvSpPr>
          <p:cNvPr id="101" name="Text 99"/>
          <p:cNvSpPr/>
          <p:nvPr/>
        </p:nvSpPr>
        <p:spPr>
          <a:xfrm>
            <a:off x="8037576" y="2701138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X2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8394192" y="267004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構造化Agent ― 知識オブジェクト草案を生成</a:t>
            </a:r>
            <a:endParaRPr lang="en-US" sz="680" dirty="0"/>
          </a:p>
        </p:txBody>
      </p:sp>
      <p:sp>
        <p:nvSpPr>
          <p:cNvPr id="103" name="Shape 101"/>
          <p:cNvSpPr/>
          <p:nvPr/>
        </p:nvSpPr>
        <p:spPr>
          <a:xfrm>
            <a:off x="7973568" y="3017520"/>
            <a:ext cx="2212848" cy="32004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12700">
            <a:solidFill>
              <a:srgbClr val="6D4FA1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8037576" y="3076956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6D4FA1"/>
          </a:solidFill>
          <a:ln/>
        </p:spPr>
      </p:sp>
      <p:sp>
        <p:nvSpPr>
          <p:cNvPr id="105" name="Text 103"/>
          <p:cNvSpPr/>
          <p:nvPr/>
        </p:nvSpPr>
        <p:spPr>
          <a:xfrm>
            <a:off x="8037576" y="3066898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X3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8394192" y="3035808"/>
            <a:ext cx="17556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承認WF Agent ― 状態遷移・失効を運転</a:t>
            </a:r>
            <a:endParaRPr lang="en-US" sz="680" dirty="0"/>
          </a:p>
        </p:txBody>
      </p:sp>
      <p:sp>
        <p:nvSpPr>
          <p:cNvPr id="107" name="Shape 105"/>
          <p:cNvSpPr/>
          <p:nvPr/>
        </p:nvSpPr>
        <p:spPr>
          <a:xfrm>
            <a:off x="256032" y="3566160"/>
            <a:ext cx="868680" cy="347472"/>
          </a:xfrm>
          <a:prstGeom prst="roundRect">
            <a:avLst>
              <a:gd name="adj" fmla="val 11842"/>
            </a:avLst>
          </a:prstGeom>
          <a:solidFill>
            <a:srgbClr val="0E7C86"/>
          </a:solidFill>
          <a:ln/>
        </p:spPr>
      </p:sp>
      <p:sp>
        <p:nvSpPr>
          <p:cNvPr id="108" name="Text 106"/>
          <p:cNvSpPr/>
          <p:nvPr/>
        </p:nvSpPr>
        <p:spPr>
          <a:xfrm>
            <a:off x="256032" y="3566160"/>
            <a:ext cx="868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標準I/F</a:t>
            </a:r>
            <a:endParaRPr lang="en-US" sz="1250" dirty="0"/>
          </a:p>
        </p:txBody>
      </p:sp>
      <p:sp>
        <p:nvSpPr>
          <p:cNvPr id="109" name="Shape 107"/>
          <p:cNvSpPr/>
          <p:nvPr/>
        </p:nvSpPr>
        <p:spPr>
          <a:xfrm>
            <a:off x="1188720" y="3566160"/>
            <a:ext cx="9198864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dash"/>
          </a:ln>
        </p:spPr>
      </p:sp>
      <p:sp>
        <p:nvSpPr>
          <p:cNvPr id="110" name="Text 108"/>
          <p:cNvSpPr/>
          <p:nvPr/>
        </p:nvSpPr>
        <p:spPr>
          <a:xfrm>
            <a:off x="1316736" y="35661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MCP準拠・自社設計 ― 全Agent・UI共通の「知識の窓口」</a:t>
            </a:r>
            <a:endParaRPr lang="en-US" sz="760" dirty="0"/>
          </a:p>
        </p:txBody>
      </p:sp>
      <p:sp>
        <p:nvSpPr>
          <p:cNvPr id="111" name="Shape 109"/>
          <p:cNvSpPr/>
          <p:nvPr/>
        </p:nvSpPr>
        <p:spPr>
          <a:xfrm>
            <a:off x="4434840" y="3643884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112" name="Text 110"/>
          <p:cNvSpPr/>
          <p:nvPr/>
        </p:nvSpPr>
        <p:spPr>
          <a:xfrm>
            <a:off x="4434840" y="3633826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M1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4745736" y="356616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意味検索</a:t>
            </a:r>
            <a:endParaRPr lang="en-US" sz="760" dirty="0"/>
          </a:p>
        </p:txBody>
      </p:sp>
      <p:sp>
        <p:nvSpPr>
          <p:cNvPr id="114" name="Shape 112"/>
          <p:cNvSpPr/>
          <p:nvPr/>
        </p:nvSpPr>
        <p:spPr>
          <a:xfrm>
            <a:off x="5623560" y="3643884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115" name="Text 113"/>
          <p:cNvSpPr/>
          <p:nvPr/>
        </p:nvSpPr>
        <p:spPr>
          <a:xfrm>
            <a:off x="5623560" y="3633826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M2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5934456" y="356616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グラフ探索</a:t>
            </a:r>
            <a:endParaRPr lang="en-US" sz="760" dirty="0"/>
          </a:p>
        </p:txBody>
      </p:sp>
      <p:sp>
        <p:nvSpPr>
          <p:cNvPr id="117" name="Shape 115"/>
          <p:cNvSpPr/>
          <p:nvPr/>
        </p:nvSpPr>
        <p:spPr>
          <a:xfrm>
            <a:off x="6812280" y="3643884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118" name="Text 116"/>
          <p:cNvSpPr/>
          <p:nvPr/>
        </p:nvSpPr>
        <p:spPr>
          <a:xfrm>
            <a:off x="6812280" y="3633826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M3</a:t>
            </a:r>
            <a:endParaRPr lang="en-US" sz="800" dirty="0"/>
          </a:p>
        </p:txBody>
      </p:sp>
      <p:sp>
        <p:nvSpPr>
          <p:cNvPr id="119" name="Text 117"/>
          <p:cNvSpPr/>
          <p:nvPr/>
        </p:nvSpPr>
        <p:spPr>
          <a:xfrm>
            <a:off x="7123176" y="356616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文脈取得</a:t>
            </a:r>
            <a:endParaRPr lang="en-US" sz="760" dirty="0"/>
          </a:p>
        </p:txBody>
      </p:sp>
      <p:sp>
        <p:nvSpPr>
          <p:cNvPr id="120" name="Shape 118"/>
          <p:cNvSpPr/>
          <p:nvPr/>
        </p:nvSpPr>
        <p:spPr>
          <a:xfrm>
            <a:off x="8001000" y="3643884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121" name="Text 119"/>
          <p:cNvSpPr/>
          <p:nvPr/>
        </p:nvSpPr>
        <p:spPr>
          <a:xfrm>
            <a:off x="8001000" y="3633826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M4</a:t>
            </a:r>
            <a:endParaRPr lang="en-US" sz="800" dirty="0"/>
          </a:p>
        </p:txBody>
      </p:sp>
      <p:sp>
        <p:nvSpPr>
          <p:cNvPr id="122" name="Text 120"/>
          <p:cNvSpPr/>
          <p:nvPr/>
        </p:nvSpPr>
        <p:spPr>
          <a:xfrm>
            <a:off x="8311896" y="356616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書き戻し</a:t>
            </a:r>
            <a:endParaRPr lang="en-US" sz="760" dirty="0"/>
          </a:p>
        </p:txBody>
      </p:sp>
      <p:sp>
        <p:nvSpPr>
          <p:cNvPr id="123" name="Shape 121"/>
          <p:cNvSpPr/>
          <p:nvPr/>
        </p:nvSpPr>
        <p:spPr>
          <a:xfrm>
            <a:off x="9189720" y="3643884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124" name="Text 122"/>
          <p:cNvSpPr/>
          <p:nvPr/>
        </p:nvSpPr>
        <p:spPr>
          <a:xfrm>
            <a:off x="9189720" y="3633826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M5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9500616" y="356616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制約照会</a:t>
            </a:r>
            <a:endParaRPr lang="en-US" sz="760" dirty="0"/>
          </a:p>
        </p:txBody>
      </p:sp>
      <p:sp>
        <p:nvSpPr>
          <p:cNvPr id="126" name="Shape 124"/>
          <p:cNvSpPr/>
          <p:nvPr/>
        </p:nvSpPr>
        <p:spPr>
          <a:xfrm>
            <a:off x="2834640" y="3493008"/>
            <a:ext cx="0" cy="73152"/>
          </a:xfrm>
          <a:prstGeom prst="line">
            <a:avLst/>
          </a:prstGeom>
          <a:noFill/>
          <a:ln w="1587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27" name="Shape 125"/>
          <p:cNvSpPr/>
          <p:nvPr/>
        </p:nvSpPr>
        <p:spPr>
          <a:xfrm>
            <a:off x="3063240" y="3913632"/>
            <a:ext cx="0" cy="73152"/>
          </a:xfrm>
          <a:prstGeom prst="line">
            <a:avLst/>
          </a:prstGeom>
          <a:noFill/>
          <a:ln w="1587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28" name="Shape 126"/>
          <p:cNvSpPr/>
          <p:nvPr/>
        </p:nvSpPr>
        <p:spPr>
          <a:xfrm flipV="1">
            <a:off x="7452360" y="3493008"/>
            <a:ext cx="0" cy="73152"/>
          </a:xfrm>
          <a:prstGeom prst="line">
            <a:avLst/>
          </a:prstGeom>
          <a:noFill/>
          <a:ln w="1587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29" name="Shape 127"/>
          <p:cNvSpPr/>
          <p:nvPr/>
        </p:nvSpPr>
        <p:spPr>
          <a:xfrm flipV="1">
            <a:off x="7680960" y="3913632"/>
            <a:ext cx="0" cy="73152"/>
          </a:xfrm>
          <a:prstGeom prst="line">
            <a:avLst/>
          </a:prstGeom>
          <a:noFill/>
          <a:ln w="1587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130" name="Shape 128"/>
          <p:cNvSpPr/>
          <p:nvPr/>
        </p:nvSpPr>
        <p:spPr>
          <a:xfrm>
            <a:off x="256032" y="3968496"/>
            <a:ext cx="868680" cy="1188720"/>
          </a:xfrm>
          <a:prstGeom prst="roundRect">
            <a:avLst>
              <a:gd name="adj" fmla="val 4737"/>
            </a:avLst>
          </a:prstGeom>
          <a:solidFill>
            <a:srgbClr val="0E7C86"/>
          </a:solidFill>
          <a:ln/>
        </p:spPr>
      </p:sp>
      <p:sp>
        <p:nvSpPr>
          <p:cNvPr id="131" name="Text 129"/>
          <p:cNvSpPr/>
          <p:nvPr/>
        </p:nvSpPr>
        <p:spPr>
          <a:xfrm>
            <a:off x="256032" y="3968496"/>
            <a:ext cx="86868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中間層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6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共通の脳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66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決定済</a:t>
            </a:r>
            <a:endParaRPr lang="en-US" sz="1250" dirty="0"/>
          </a:p>
        </p:txBody>
      </p:sp>
      <p:sp>
        <p:nvSpPr>
          <p:cNvPr id="132" name="Shape 130"/>
          <p:cNvSpPr/>
          <p:nvPr/>
        </p:nvSpPr>
        <p:spPr>
          <a:xfrm>
            <a:off x="1188720" y="3968496"/>
            <a:ext cx="9198864" cy="1188720"/>
          </a:xfrm>
          <a:prstGeom prst="roundRect">
            <a:avLst>
              <a:gd name="adj" fmla="val 3846"/>
            </a:avLst>
          </a:prstGeom>
          <a:solidFill>
            <a:srgbClr val="E9F5F6"/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316736" y="4005072"/>
            <a:ext cx="5943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Ontosphere ナレッジグラフ基盤（決定済・正本は自社保有＋可搬形式）</a:t>
            </a:r>
            <a:endParaRPr lang="en-US" sz="740" dirty="0"/>
          </a:p>
        </p:txBody>
      </p:sp>
      <p:sp>
        <p:nvSpPr>
          <p:cNvPr id="134" name="Text 132"/>
          <p:cNvSpPr/>
          <p:nvPr/>
        </p:nvSpPr>
        <p:spPr>
          <a:xfrm>
            <a:off x="1316736" y="4206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オントロジー『定義』（凍結）</a:t>
            </a:r>
            <a:endParaRPr lang="en-US" sz="700" dirty="0"/>
          </a:p>
        </p:txBody>
      </p:sp>
      <p:sp>
        <p:nvSpPr>
          <p:cNvPr id="135" name="Shape 133"/>
          <p:cNvSpPr/>
          <p:nvPr/>
        </p:nvSpPr>
        <p:spPr>
          <a:xfrm>
            <a:off x="1316736" y="4389120"/>
            <a:ext cx="1389888" cy="265176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1430">
            <a:solidFill>
              <a:srgbClr val="0E7C86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357884" y="4430268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137" name="Text 135"/>
          <p:cNvSpPr/>
          <p:nvPr/>
        </p:nvSpPr>
        <p:spPr>
          <a:xfrm>
            <a:off x="1357884" y="4420210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K1</a:t>
            </a:r>
            <a:endParaRPr lang="en-US" sz="800" dirty="0"/>
          </a:p>
        </p:txBody>
      </p:sp>
      <p:sp>
        <p:nvSpPr>
          <p:cNvPr id="138" name="Text 136"/>
          <p:cNvSpPr/>
          <p:nvPr/>
        </p:nvSpPr>
        <p:spPr>
          <a:xfrm>
            <a:off x="1700784" y="4389120"/>
            <a:ext cx="9875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クラス階層</a:t>
            </a:r>
            <a:endParaRPr lang="en-US" sz="720" dirty="0"/>
          </a:p>
        </p:txBody>
      </p:sp>
      <p:sp>
        <p:nvSpPr>
          <p:cNvPr id="139" name="Shape 137"/>
          <p:cNvSpPr/>
          <p:nvPr/>
        </p:nvSpPr>
        <p:spPr>
          <a:xfrm>
            <a:off x="2779776" y="4389120"/>
            <a:ext cx="1389888" cy="265176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1430">
            <a:solidFill>
              <a:srgbClr val="0E7C86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820924" y="4430268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141" name="Text 139"/>
          <p:cNvSpPr/>
          <p:nvPr/>
        </p:nvSpPr>
        <p:spPr>
          <a:xfrm>
            <a:off x="2820924" y="4420210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K2</a:t>
            </a:r>
            <a:endParaRPr lang="en-US" sz="800" dirty="0"/>
          </a:p>
        </p:txBody>
      </p:sp>
      <p:sp>
        <p:nvSpPr>
          <p:cNvPr id="142" name="Text 140"/>
          <p:cNvSpPr/>
          <p:nvPr/>
        </p:nvSpPr>
        <p:spPr>
          <a:xfrm>
            <a:off x="3163824" y="4389120"/>
            <a:ext cx="9875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関係定義</a:t>
            </a:r>
            <a:endParaRPr lang="en-US" sz="720" dirty="0"/>
          </a:p>
        </p:txBody>
      </p:sp>
      <p:sp>
        <p:nvSpPr>
          <p:cNvPr id="143" name="Shape 141"/>
          <p:cNvSpPr/>
          <p:nvPr/>
        </p:nvSpPr>
        <p:spPr>
          <a:xfrm>
            <a:off x="1316736" y="4695444"/>
            <a:ext cx="1389888" cy="265176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1430">
            <a:solidFill>
              <a:srgbClr val="0E7C86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357884" y="473659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145" name="Text 143"/>
          <p:cNvSpPr/>
          <p:nvPr/>
        </p:nvSpPr>
        <p:spPr>
          <a:xfrm>
            <a:off x="1357884" y="472653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K3</a:t>
            </a:r>
            <a:endParaRPr lang="en-US" sz="800" dirty="0"/>
          </a:p>
        </p:txBody>
      </p:sp>
      <p:sp>
        <p:nvSpPr>
          <p:cNvPr id="146" name="Text 144"/>
          <p:cNvSpPr/>
          <p:nvPr/>
        </p:nvSpPr>
        <p:spPr>
          <a:xfrm>
            <a:off x="1700784" y="4695444"/>
            <a:ext cx="9875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制約・ルール</a:t>
            </a:r>
            <a:endParaRPr lang="en-US" sz="720" dirty="0"/>
          </a:p>
        </p:txBody>
      </p:sp>
      <p:sp>
        <p:nvSpPr>
          <p:cNvPr id="147" name="Shape 145"/>
          <p:cNvSpPr/>
          <p:nvPr/>
        </p:nvSpPr>
        <p:spPr>
          <a:xfrm>
            <a:off x="2779776" y="4695444"/>
            <a:ext cx="1389888" cy="265176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1430">
            <a:solidFill>
              <a:srgbClr val="0E7C86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2820924" y="473659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149" name="Text 147"/>
          <p:cNvSpPr/>
          <p:nvPr/>
        </p:nvSpPr>
        <p:spPr>
          <a:xfrm>
            <a:off x="2820924" y="472653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K4</a:t>
            </a:r>
            <a:endParaRPr lang="en-US" sz="800" dirty="0"/>
          </a:p>
        </p:txBody>
      </p:sp>
      <p:sp>
        <p:nvSpPr>
          <p:cNvPr id="150" name="Text 148"/>
          <p:cNvSpPr/>
          <p:nvPr/>
        </p:nvSpPr>
        <p:spPr>
          <a:xfrm>
            <a:off x="3163824" y="4695444"/>
            <a:ext cx="9875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用語辞書</a:t>
            </a:r>
            <a:endParaRPr lang="en-US" sz="720" dirty="0"/>
          </a:p>
        </p:txBody>
      </p:sp>
      <p:sp>
        <p:nvSpPr>
          <p:cNvPr id="151" name="Text 149"/>
          <p:cNvSpPr/>
          <p:nvPr/>
        </p:nvSpPr>
        <p:spPr>
          <a:xfrm>
            <a:off x="1316736" y="498805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◆ 変更は版管理＋人の承認のみ（凍結）</a:t>
            </a:r>
            <a:endParaRPr lang="en-US" sz="660" dirty="0"/>
          </a:p>
        </p:txBody>
      </p:sp>
      <p:sp>
        <p:nvSpPr>
          <p:cNvPr id="152" name="Text 150"/>
          <p:cNvSpPr/>
          <p:nvPr/>
        </p:nvSpPr>
        <p:spPr>
          <a:xfrm>
            <a:off x="4334256" y="4206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ナレッジグラフ『解釈』（更新）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4334256" y="4389120"/>
            <a:ext cx="1389888" cy="265176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1430">
            <a:solidFill>
              <a:srgbClr val="0E7C86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4375404" y="4430268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155" name="Text 153"/>
          <p:cNvSpPr/>
          <p:nvPr/>
        </p:nvSpPr>
        <p:spPr>
          <a:xfrm>
            <a:off x="4375404" y="4420210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K5</a:t>
            </a:r>
            <a:endParaRPr lang="en-US" sz="800" dirty="0"/>
          </a:p>
        </p:txBody>
      </p:sp>
      <p:sp>
        <p:nvSpPr>
          <p:cNvPr id="156" name="Text 154"/>
          <p:cNvSpPr/>
          <p:nvPr/>
        </p:nvSpPr>
        <p:spPr>
          <a:xfrm>
            <a:off x="4718304" y="4389120"/>
            <a:ext cx="9875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インスタンス</a:t>
            </a:r>
            <a:endParaRPr lang="en-US" sz="720" dirty="0"/>
          </a:p>
        </p:txBody>
      </p:sp>
      <p:sp>
        <p:nvSpPr>
          <p:cNvPr id="157" name="Shape 155"/>
          <p:cNvSpPr/>
          <p:nvPr/>
        </p:nvSpPr>
        <p:spPr>
          <a:xfrm>
            <a:off x="5797296" y="4389120"/>
            <a:ext cx="1389888" cy="265176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1430">
            <a:solidFill>
              <a:srgbClr val="0E7C86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5838444" y="4430268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159" name="Text 157"/>
          <p:cNvSpPr/>
          <p:nvPr/>
        </p:nvSpPr>
        <p:spPr>
          <a:xfrm>
            <a:off x="5838444" y="4420210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K6</a:t>
            </a:r>
            <a:endParaRPr lang="en-US" sz="800" dirty="0"/>
          </a:p>
        </p:txBody>
      </p:sp>
      <p:sp>
        <p:nvSpPr>
          <p:cNvPr id="160" name="Text 158"/>
          <p:cNvSpPr/>
          <p:nvPr/>
        </p:nvSpPr>
        <p:spPr>
          <a:xfrm>
            <a:off x="6181344" y="4389120"/>
            <a:ext cx="9875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イベント履歴</a:t>
            </a:r>
            <a:endParaRPr lang="en-US" sz="720" dirty="0"/>
          </a:p>
        </p:txBody>
      </p:sp>
      <p:sp>
        <p:nvSpPr>
          <p:cNvPr id="161" name="Shape 159"/>
          <p:cNvSpPr/>
          <p:nvPr/>
        </p:nvSpPr>
        <p:spPr>
          <a:xfrm>
            <a:off x="4334256" y="4695444"/>
            <a:ext cx="1389888" cy="265176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1430">
            <a:solidFill>
              <a:srgbClr val="0E7C86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4375404" y="473659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163" name="Text 161"/>
          <p:cNvSpPr/>
          <p:nvPr/>
        </p:nvSpPr>
        <p:spPr>
          <a:xfrm>
            <a:off x="4375404" y="472653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K7</a:t>
            </a:r>
            <a:endParaRPr lang="en-US" sz="800" dirty="0"/>
          </a:p>
        </p:txBody>
      </p:sp>
      <p:sp>
        <p:nvSpPr>
          <p:cNvPr id="164" name="Text 162"/>
          <p:cNvSpPr/>
          <p:nvPr/>
        </p:nvSpPr>
        <p:spPr>
          <a:xfrm>
            <a:off x="4718304" y="4695444"/>
            <a:ext cx="9875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過去トラ・知見</a:t>
            </a:r>
            <a:endParaRPr lang="en-US" sz="720" dirty="0"/>
          </a:p>
        </p:txBody>
      </p:sp>
      <p:sp>
        <p:nvSpPr>
          <p:cNvPr id="165" name="Shape 163"/>
          <p:cNvSpPr/>
          <p:nvPr/>
        </p:nvSpPr>
        <p:spPr>
          <a:xfrm>
            <a:off x="5797296" y="4695444"/>
            <a:ext cx="1389888" cy="265176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1430">
            <a:solidFill>
              <a:srgbClr val="0E7C86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838444" y="473659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167" name="Text 165"/>
          <p:cNvSpPr/>
          <p:nvPr/>
        </p:nvSpPr>
        <p:spPr>
          <a:xfrm>
            <a:off x="5838444" y="472653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K8</a:t>
            </a:r>
            <a:endParaRPr lang="en-US" sz="800" dirty="0"/>
          </a:p>
        </p:txBody>
      </p:sp>
      <p:sp>
        <p:nvSpPr>
          <p:cNvPr id="168" name="Text 166"/>
          <p:cNvSpPr/>
          <p:nvPr/>
        </p:nvSpPr>
        <p:spPr>
          <a:xfrm>
            <a:off x="6181344" y="4695444"/>
            <a:ext cx="9875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根拠リンク</a:t>
            </a:r>
            <a:endParaRPr lang="en-US" sz="720" dirty="0"/>
          </a:p>
        </p:txBody>
      </p:sp>
      <p:sp>
        <p:nvSpPr>
          <p:cNvPr id="169" name="Shape 167"/>
          <p:cNvSpPr/>
          <p:nvPr/>
        </p:nvSpPr>
        <p:spPr>
          <a:xfrm>
            <a:off x="4334256" y="4988052"/>
            <a:ext cx="2852928" cy="256032"/>
          </a:xfrm>
          <a:prstGeom prst="roundRect">
            <a:avLst>
              <a:gd name="adj" fmla="val 12500"/>
            </a:avLst>
          </a:prstGeom>
          <a:solidFill>
            <a:srgbClr val="EFEAF7"/>
          </a:solidFill>
          <a:ln w="12700">
            <a:solidFill>
              <a:srgbClr val="6D4FA1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4375404" y="5024628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6D4FA1"/>
          </a:solidFill>
          <a:ln/>
        </p:spPr>
      </p:sp>
      <p:sp>
        <p:nvSpPr>
          <p:cNvPr id="171" name="Text 169"/>
          <p:cNvSpPr/>
          <p:nvPr/>
        </p:nvSpPr>
        <p:spPr>
          <a:xfrm>
            <a:off x="4375404" y="5014570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</a:t>
            </a:r>
            <a:endParaRPr lang="en-US" sz="800" dirty="0"/>
          </a:p>
        </p:txBody>
      </p:sp>
      <p:sp>
        <p:nvSpPr>
          <p:cNvPr id="172" name="Text 170"/>
          <p:cNvSpPr/>
          <p:nvPr/>
        </p:nvSpPr>
        <p:spPr>
          <a:xfrm>
            <a:off x="4754880" y="498805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知識オブジェクト（暗黙知の正本）</a:t>
            </a:r>
            <a:endParaRPr lang="en-US" sz="700" dirty="0"/>
          </a:p>
        </p:txBody>
      </p:sp>
      <p:sp>
        <p:nvSpPr>
          <p:cNvPr id="173" name="Text 171"/>
          <p:cNvSpPr/>
          <p:nvPr/>
        </p:nvSpPr>
        <p:spPr>
          <a:xfrm>
            <a:off x="7351776" y="420624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共通機能群（維持装置）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7351776" y="4389120"/>
            <a:ext cx="1389888" cy="265176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1430">
            <a:solidFill>
              <a:srgbClr val="0E7C86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7392924" y="4430268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176" name="Text 174"/>
          <p:cNvSpPr/>
          <p:nvPr/>
        </p:nvSpPr>
        <p:spPr>
          <a:xfrm>
            <a:off x="7392924" y="4420210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K9</a:t>
            </a:r>
            <a:endParaRPr lang="en-US" sz="800" dirty="0"/>
          </a:p>
        </p:txBody>
      </p:sp>
      <p:sp>
        <p:nvSpPr>
          <p:cNvPr id="177" name="Text 175"/>
          <p:cNvSpPr/>
          <p:nvPr/>
        </p:nvSpPr>
        <p:spPr>
          <a:xfrm>
            <a:off x="7735824" y="4389120"/>
            <a:ext cx="9875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セマンティック統合</a:t>
            </a:r>
            <a:endParaRPr lang="en-US" sz="640" dirty="0"/>
          </a:p>
        </p:txBody>
      </p:sp>
      <p:sp>
        <p:nvSpPr>
          <p:cNvPr id="178" name="Shape 176"/>
          <p:cNvSpPr/>
          <p:nvPr/>
        </p:nvSpPr>
        <p:spPr>
          <a:xfrm>
            <a:off x="8814816" y="4389120"/>
            <a:ext cx="1389888" cy="265176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1430">
            <a:solidFill>
              <a:srgbClr val="0E7C86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8855964" y="4430268"/>
            <a:ext cx="379476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180" name="Text 178"/>
          <p:cNvSpPr/>
          <p:nvPr/>
        </p:nvSpPr>
        <p:spPr>
          <a:xfrm>
            <a:off x="8855964" y="4420210"/>
            <a:ext cx="3794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K10</a:t>
            </a:r>
            <a:endParaRPr lang="en-US" sz="800" dirty="0"/>
          </a:p>
        </p:txBody>
      </p:sp>
      <p:sp>
        <p:nvSpPr>
          <p:cNvPr id="181" name="Text 179"/>
          <p:cNvSpPr/>
          <p:nvPr/>
        </p:nvSpPr>
        <p:spPr>
          <a:xfrm>
            <a:off x="9198864" y="4389120"/>
            <a:ext cx="9875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推論エンジン</a:t>
            </a:r>
            <a:endParaRPr lang="en-US" sz="720" dirty="0"/>
          </a:p>
        </p:txBody>
      </p:sp>
      <p:sp>
        <p:nvSpPr>
          <p:cNvPr id="182" name="Shape 180"/>
          <p:cNvSpPr/>
          <p:nvPr/>
        </p:nvSpPr>
        <p:spPr>
          <a:xfrm>
            <a:off x="7351776" y="4695444"/>
            <a:ext cx="1389888" cy="265176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1430">
            <a:solidFill>
              <a:srgbClr val="0E7C86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7392924" y="4736592"/>
            <a:ext cx="379476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184" name="Text 182"/>
          <p:cNvSpPr/>
          <p:nvPr/>
        </p:nvSpPr>
        <p:spPr>
          <a:xfrm>
            <a:off x="7392924" y="4726534"/>
            <a:ext cx="3794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K11</a:t>
            </a:r>
            <a:endParaRPr lang="en-US" sz="800" dirty="0"/>
          </a:p>
        </p:txBody>
      </p:sp>
      <p:sp>
        <p:nvSpPr>
          <p:cNvPr id="185" name="Text 183"/>
          <p:cNvSpPr/>
          <p:nvPr/>
        </p:nvSpPr>
        <p:spPr>
          <a:xfrm>
            <a:off x="7735824" y="4695444"/>
            <a:ext cx="9875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ハイブリッド検索</a:t>
            </a:r>
            <a:endParaRPr lang="en-US" sz="640" dirty="0"/>
          </a:p>
        </p:txBody>
      </p:sp>
      <p:sp>
        <p:nvSpPr>
          <p:cNvPr id="186" name="Shape 184"/>
          <p:cNvSpPr/>
          <p:nvPr/>
        </p:nvSpPr>
        <p:spPr>
          <a:xfrm>
            <a:off x="8814816" y="4695444"/>
            <a:ext cx="1389888" cy="265176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1430">
            <a:solidFill>
              <a:srgbClr val="0E7C86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8855964" y="4736592"/>
            <a:ext cx="379476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188" name="Text 186"/>
          <p:cNvSpPr/>
          <p:nvPr/>
        </p:nvSpPr>
        <p:spPr>
          <a:xfrm>
            <a:off x="8855964" y="4726534"/>
            <a:ext cx="3794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K12</a:t>
            </a:r>
            <a:endParaRPr lang="en-US" sz="800" dirty="0"/>
          </a:p>
        </p:txBody>
      </p:sp>
      <p:sp>
        <p:nvSpPr>
          <p:cNvPr id="189" name="Text 187"/>
          <p:cNvSpPr/>
          <p:nvPr/>
        </p:nvSpPr>
        <p:spPr>
          <a:xfrm>
            <a:off x="9198864" y="4695444"/>
            <a:ext cx="9875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ガバナンス</a:t>
            </a:r>
            <a:endParaRPr lang="en-US" sz="720" dirty="0"/>
          </a:p>
        </p:txBody>
      </p:sp>
      <p:sp>
        <p:nvSpPr>
          <p:cNvPr id="190" name="Shape 188"/>
          <p:cNvSpPr/>
          <p:nvPr/>
        </p:nvSpPr>
        <p:spPr>
          <a:xfrm>
            <a:off x="7351776" y="4988052"/>
            <a:ext cx="2852928" cy="256032"/>
          </a:xfrm>
          <a:prstGeom prst="roundRect">
            <a:avLst>
              <a:gd name="adj" fmla="val 12500"/>
            </a:avLst>
          </a:prstGeom>
          <a:solidFill>
            <a:srgbClr val="EFEAF7"/>
          </a:solidFill>
          <a:ln w="12700">
            <a:solidFill>
              <a:srgbClr val="6D4FA1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7392924" y="5024628"/>
            <a:ext cx="379476" cy="182880"/>
          </a:xfrm>
          <a:prstGeom prst="roundRect">
            <a:avLst>
              <a:gd name="adj" fmla="val 20000"/>
            </a:avLst>
          </a:prstGeom>
          <a:solidFill>
            <a:srgbClr val="6D4FA1"/>
          </a:solidFill>
          <a:ln/>
        </p:spPr>
      </p:sp>
      <p:sp>
        <p:nvSpPr>
          <p:cNvPr id="192" name="Text 190"/>
          <p:cNvSpPr/>
          <p:nvPr/>
        </p:nvSpPr>
        <p:spPr>
          <a:xfrm>
            <a:off x="7392924" y="5014570"/>
            <a:ext cx="3794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K13</a:t>
            </a:r>
            <a:endParaRPr lang="en-US" sz="800" dirty="0"/>
          </a:p>
        </p:txBody>
      </p:sp>
      <p:sp>
        <p:nvSpPr>
          <p:cNvPr id="193" name="Text 191"/>
          <p:cNvSpPr/>
          <p:nvPr/>
        </p:nvSpPr>
        <p:spPr>
          <a:xfrm>
            <a:off x="7772400" y="498805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承認状態遷移（版・失効管理）</a:t>
            </a:r>
            <a:endParaRPr lang="en-US" sz="700" dirty="0"/>
          </a:p>
        </p:txBody>
      </p:sp>
      <p:sp>
        <p:nvSpPr>
          <p:cNvPr id="194" name="Shape 192"/>
          <p:cNvSpPr/>
          <p:nvPr/>
        </p:nvSpPr>
        <p:spPr>
          <a:xfrm flipV="1">
            <a:off x="2834640" y="5157216"/>
            <a:ext cx="0" cy="201168"/>
          </a:xfrm>
          <a:prstGeom prst="line">
            <a:avLst/>
          </a:prstGeom>
          <a:noFill/>
          <a:ln w="1587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195" name="Text 193"/>
          <p:cNvSpPr/>
          <p:nvPr/>
        </p:nvSpPr>
        <p:spPr>
          <a:xfrm>
            <a:off x="2926080" y="5175504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取り込み ― 記録・観測に意味づけ（読むだけ・書き換えない）</a:t>
            </a:r>
            <a:endParaRPr lang="en-US" sz="680" dirty="0"/>
          </a:p>
        </p:txBody>
      </p:sp>
      <p:sp>
        <p:nvSpPr>
          <p:cNvPr id="196" name="Shape 194"/>
          <p:cNvSpPr/>
          <p:nvPr/>
        </p:nvSpPr>
        <p:spPr>
          <a:xfrm>
            <a:off x="256032" y="5358384"/>
            <a:ext cx="868680" cy="731520"/>
          </a:xfrm>
          <a:prstGeom prst="roundRect">
            <a:avLst>
              <a:gd name="adj" fmla="val 5625"/>
            </a:avLst>
          </a:prstGeom>
          <a:solidFill>
            <a:srgbClr val="5B6577"/>
          </a:solidFill>
          <a:ln/>
        </p:spPr>
      </p:sp>
      <p:sp>
        <p:nvSpPr>
          <p:cNvPr id="197" name="Text 195"/>
          <p:cNvSpPr/>
          <p:nvPr/>
        </p:nvSpPr>
        <p:spPr>
          <a:xfrm>
            <a:off x="256032" y="5358384"/>
            <a:ext cx="86868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SoR＋暗黙知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技術継承</a:t>
            </a:r>
            <a:endParaRPr lang="en-US" sz="1250" dirty="0"/>
          </a:p>
        </p:txBody>
      </p:sp>
      <p:sp>
        <p:nvSpPr>
          <p:cNvPr id="198" name="Shape 196"/>
          <p:cNvSpPr/>
          <p:nvPr/>
        </p:nvSpPr>
        <p:spPr>
          <a:xfrm>
            <a:off x="1188720" y="5358384"/>
            <a:ext cx="4315968" cy="731520"/>
          </a:xfrm>
          <a:prstGeom prst="roundRect">
            <a:avLst>
              <a:gd name="adj" fmla="val 6250"/>
            </a:avLst>
          </a:prstGeom>
          <a:solidFill>
            <a:srgbClr val="F1F3F6"/>
          </a:solidFill>
          <a:ln w="9525">
            <a:solidFill>
              <a:srgbClr val="5B6577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1316736" y="5394960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SoR ― 基幹・現場（既製品・投資先）｜ 起きた事実の正本</a:t>
            </a:r>
            <a:endParaRPr lang="en-US" sz="720" dirty="0"/>
          </a:p>
        </p:txBody>
      </p:sp>
      <p:sp>
        <p:nvSpPr>
          <p:cNvPr id="200" name="Shape 198"/>
          <p:cNvSpPr/>
          <p:nvPr/>
        </p:nvSpPr>
        <p:spPr>
          <a:xfrm>
            <a:off x="1316736" y="5605272"/>
            <a:ext cx="969264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1430">
            <a:solidFill>
              <a:srgbClr val="5B6577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1362456" y="5646420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5B6577"/>
          </a:solidFill>
          <a:ln/>
        </p:spPr>
      </p:sp>
      <p:sp>
        <p:nvSpPr>
          <p:cNvPr id="202" name="Text 200"/>
          <p:cNvSpPr/>
          <p:nvPr/>
        </p:nvSpPr>
        <p:spPr>
          <a:xfrm>
            <a:off x="1362456" y="5636362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R1</a:t>
            </a:r>
            <a:endParaRPr lang="en-US" sz="800" dirty="0"/>
          </a:p>
        </p:txBody>
      </p:sp>
      <p:sp>
        <p:nvSpPr>
          <p:cNvPr id="203" name="Text 201"/>
          <p:cNvSpPr/>
          <p:nvPr/>
        </p:nvSpPr>
        <p:spPr>
          <a:xfrm>
            <a:off x="1664208" y="5605272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PLM</a:t>
            </a:r>
            <a:endParaRPr lang="en-US" sz="800" dirty="0"/>
          </a:p>
        </p:txBody>
      </p:sp>
      <p:sp>
        <p:nvSpPr>
          <p:cNvPr id="204" name="Shape 202"/>
          <p:cNvSpPr/>
          <p:nvPr/>
        </p:nvSpPr>
        <p:spPr>
          <a:xfrm>
            <a:off x="2350008" y="5605272"/>
            <a:ext cx="969264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1430">
            <a:solidFill>
              <a:srgbClr val="5B6577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2395728" y="5646420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5B6577"/>
          </a:solidFill>
          <a:ln/>
        </p:spPr>
      </p:sp>
      <p:sp>
        <p:nvSpPr>
          <p:cNvPr id="206" name="Text 204"/>
          <p:cNvSpPr/>
          <p:nvPr/>
        </p:nvSpPr>
        <p:spPr>
          <a:xfrm>
            <a:off x="2395728" y="5636362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R2</a:t>
            </a:r>
            <a:endParaRPr lang="en-US" sz="800" dirty="0"/>
          </a:p>
        </p:txBody>
      </p:sp>
      <p:sp>
        <p:nvSpPr>
          <p:cNvPr id="207" name="Text 205"/>
          <p:cNvSpPr/>
          <p:nvPr/>
        </p:nvSpPr>
        <p:spPr>
          <a:xfrm>
            <a:off x="2697480" y="5605272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MES</a:t>
            </a:r>
            <a:endParaRPr lang="en-US" sz="800" dirty="0"/>
          </a:p>
        </p:txBody>
      </p:sp>
      <p:sp>
        <p:nvSpPr>
          <p:cNvPr id="208" name="Shape 206"/>
          <p:cNvSpPr/>
          <p:nvPr/>
        </p:nvSpPr>
        <p:spPr>
          <a:xfrm>
            <a:off x="3383280" y="5605272"/>
            <a:ext cx="969264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1430">
            <a:solidFill>
              <a:srgbClr val="5B6577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3429000" y="5646420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5B6577"/>
          </a:solidFill>
          <a:ln/>
        </p:spPr>
      </p:sp>
      <p:sp>
        <p:nvSpPr>
          <p:cNvPr id="210" name="Text 208"/>
          <p:cNvSpPr/>
          <p:nvPr/>
        </p:nvSpPr>
        <p:spPr>
          <a:xfrm>
            <a:off x="3429000" y="5636362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R3</a:t>
            </a:r>
            <a:endParaRPr lang="en-US" sz="800" dirty="0"/>
          </a:p>
        </p:txBody>
      </p:sp>
      <p:sp>
        <p:nvSpPr>
          <p:cNvPr id="211" name="Text 209"/>
          <p:cNvSpPr/>
          <p:nvPr/>
        </p:nvSpPr>
        <p:spPr>
          <a:xfrm>
            <a:off x="3730752" y="5605272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8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ERP</a:t>
            </a:r>
            <a:endParaRPr lang="en-US" sz="800" dirty="0"/>
          </a:p>
        </p:txBody>
      </p:sp>
      <p:sp>
        <p:nvSpPr>
          <p:cNvPr id="212" name="Shape 210"/>
          <p:cNvSpPr/>
          <p:nvPr/>
        </p:nvSpPr>
        <p:spPr>
          <a:xfrm>
            <a:off x="4416552" y="5605272"/>
            <a:ext cx="969264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1430">
            <a:solidFill>
              <a:srgbClr val="5B6577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4462272" y="5646420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5B6577"/>
          </a:solidFill>
          <a:ln/>
        </p:spPr>
      </p:sp>
      <p:sp>
        <p:nvSpPr>
          <p:cNvPr id="214" name="Text 212"/>
          <p:cNvSpPr/>
          <p:nvPr/>
        </p:nvSpPr>
        <p:spPr>
          <a:xfrm>
            <a:off x="4462272" y="5636362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R4</a:t>
            </a:r>
            <a:endParaRPr lang="en-US" sz="800" dirty="0"/>
          </a:p>
        </p:txBody>
      </p:sp>
      <p:sp>
        <p:nvSpPr>
          <p:cNvPr id="215" name="Text 213"/>
          <p:cNvSpPr/>
          <p:nvPr/>
        </p:nvSpPr>
        <p:spPr>
          <a:xfrm>
            <a:off x="4764024" y="5605272"/>
            <a:ext cx="603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66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センサー/IoT</a:t>
            </a:r>
            <a:endParaRPr lang="en-US" sz="660" dirty="0"/>
          </a:p>
        </p:txBody>
      </p:sp>
      <p:sp>
        <p:nvSpPr>
          <p:cNvPr id="216" name="Shape 214"/>
          <p:cNvSpPr/>
          <p:nvPr/>
        </p:nvSpPr>
        <p:spPr>
          <a:xfrm>
            <a:off x="5614416" y="5358384"/>
            <a:ext cx="4773168" cy="731520"/>
          </a:xfrm>
          <a:prstGeom prst="roundRect">
            <a:avLst>
              <a:gd name="adj" fmla="val 6250"/>
            </a:avLst>
          </a:prstGeom>
          <a:solidFill>
            <a:srgbClr val="F5EBF1"/>
          </a:solidFill>
          <a:ln w="15875">
            <a:solidFill>
              <a:srgbClr val="7A3E63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5724144" y="539496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7A3E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EP ― Evidence Plane（現場観測の正本・自社保有）｜ 暗黙知・技術継承の入口</a:t>
            </a:r>
            <a:endParaRPr lang="en-US" sz="720" dirty="0"/>
          </a:p>
        </p:txBody>
      </p:sp>
      <p:sp>
        <p:nvSpPr>
          <p:cNvPr id="218" name="Shape 216"/>
          <p:cNvSpPr/>
          <p:nvPr/>
        </p:nvSpPr>
        <p:spPr>
          <a:xfrm>
            <a:off x="5724144" y="5605272"/>
            <a:ext cx="1088136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1430">
            <a:solidFill>
              <a:srgbClr val="6D4FA1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5769864" y="5646420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6D4FA1"/>
          </a:solidFill>
          <a:ln/>
        </p:spPr>
      </p:sp>
      <p:sp>
        <p:nvSpPr>
          <p:cNvPr id="220" name="Text 218"/>
          <p:cNvSpPr/>
          <p:nvPr/>
        </p:nvSpPr>
        <p:spPr>
          <a:xfrm>
            <a:off x="5769864" y="5636362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E1</a:t>
            </a:r>
            <a:endParaRPr lang="en-US" sz="800" dirty="0"/>
          </a:p>
        </p:txBody>
      </p:sp>
      <p:sp>
        <p:nvSpPr>
          <p:cNvPr id="221" name="Text 219"/>
          <p:cNvSpPr/>
          <p:nvPr/>
        </p:nvSpPr>
        <p:spPr>
          <a:xfrm>
            <a:off x="6071616" y="5605272"/>
            <a:ext cx="722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同期収録</a:t>
            </a:r>
            <a:endParaRPr lang="en-US" sz="740" dirty="0"/>
          </a:p>
        </p:txBody>
      </p:sp>
      <p:sp>
        <p:nvSpPr>
          <p:cNvPr id="222" name="Shape 220"/>
          <p:cNvSpPr/>
          <p:nvPr/>
        </p:nvSpPr>
        <p:spPr>
          <a:xfrm>
            <a:off x="6871716" y="5605272"/>
            <a:ext cx="1088136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1430">
            <a:solidFill>
              <a:srgbClr val="6D4FA1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6917436" y="5646420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6D4FA1"/>
          </a:solidFill>
          <a:ln/>
        </p:spPr>
      </p:sp>
      <p:sp>
        <p:nvSpPr>
          <p:cNvPr id="224" name="Text 222"/>
          <p:cNvSpPr/>
          <p:nvPr/>
        </p:nvSpPr>
        <p:spPr>
          <a:xfrm>
            <a:off x="6917436" y="5636362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E2</a:t>
            </a:r>
            <a:endParaRPr lang="en-US" sz="800" dirty="0"/>
          </a:p>
        </p:txBody>
      </p:sp>
      <p:sp>
        <p:nvSpPr>
          <p:cNvPr id="225" name="Text 223"/>
          <p:cNvSpPr/>
          <p:nvPr/>
        </p:nvSpPr>
        <p:spPr>
          <a:xfrm>
            <a:off x="7219188" y="5605272"/>
            <a:ext cx="722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面接記録</a:t>
            </a:r>
            <a:endParaRPr lang="en-US" sz="740" dirty="0"/>
          </a:p>
        </p:txBody>
      </p:sp>
      <p:sp>
        <p:nvSpPr>
          <p:cNvPr id="226" name="Shape 224"/>
          <p:cNvSpPr/>
          <p:nvPr/>
        </p:nvSpPr>
        <p:spPr>
          <a:xfrm>
            <a:off x="8019288" y="5605272"/>
            <a:ext cx="1088136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1430">
            <a:solidFill>
              <a:srgbClr val="6D4FA1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8065008" y="5646420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6D4FA1"/>
          </a:solidFill>
          <a:ln/>
        </p:spPr>
      </p:sp>
      <p:sp>
        <p:nvSpPr>
          <p:cNvPr id="228" name="Text 226"/>
          <p:cNvSpPr/>
          <p:nvPr/>
        </p:nvSpPr>
        <p:spPr>
          <a:xfrm>
            <a:off x="8065008" y="5636362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E3</a:t>
            </a:r>
            <a:endParaRPr lang="en-US" sz="800" dirty="0"/>
          </a:p>
        </p:txBody>
      </p:sp>
      <p:sp>
        <p:nvSpPr>
          <p:cNvPr id="229" name="Text 227"/>
          <p:cNvSpPr/>
          <p:nvPr/>
        </p:nvSpPr>
        <p:spPr>
          <a:xfrm>
            <a:off x="8366760" y="5605272"/>
            <a:ext cx="722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証拠ストア</a:t>
            </a:r>
            <a:endParaRPr lang="en-US" sz="740" dirty="0"/>
          </a:p>
        </p:txBody>
      </p:sp>
      <p:sp>
        <p:nvSpPr>
          <p:cNvPr id="230" name="Shape 228"/>
          <p:cNvSpPr/>
          <p:nvPr/>
        </p:nvSpPr>
        <p:spPr>
          <a:xfrm>
            <a:off x="9166860" y="5605272"/>
            <a:ext cx="1088136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1430">
            <a:solidFill>
              <a:srgbClr val="5B6577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9212580" y="5646420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5B6577"/>
          </a:solidFill>
          <a:ln/>
        </p:spPr>
      </p:sp>
      <p:sp>
        <p:nvSpPr>
          <p:cNvPr id="232" name="Text 230"/>
          <p:cNvSpPr/>
          <p:nvPr/>
        </p:nvSpPr>
        <p:spPr>
          <a:xfrm>
            <a:off x="9212580" y="5636362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E4</a:t>
            </a:r>
            <a:endParaRPr lang="en-US" sz="800" dirty="0"/>
          </a:p>
        </p:txBody>
      </p:sp>
      <p:sp>
        <p:nvSpPr>
          <p:cNvPr id="233" name="Text 231"/>
          <p:cNvSpPr/>
          <p:nvPr/>
        </p:nvSpPr>
        <p:spPr>
          <a:xfrm>
            <a:off x="9514332" y="5605272"/>
            <a:ext cx="722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6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解釈部品(Buy/OSS)</a:t>
            </a:r>
            <a:endParaRPr lang="en-US" sz="600" dirty="0"/>
          </a:p>
        </p:txBody>
      </p:sp>
      <p:sp>
        <p:nvSpPr>
          <p:cNvPr id="234" name="Shape 232"/>
          <p:cNvSpPr/>
          <p:nvPr/>
        </p:nvSpPr>
        <p:spPr>
          <a:xfrm flipV="1">
            <a:off x="9052560" y="3456432"/>
            <a:ext cx="0" cy="1901952"/>
          </a:xfrm>
          <a:prstGeom prst="line">
            <a:avLst/>
          </a:prstGeom>
          <a:noFill/>
          <a:ln w="19050">
            <a:solidFill>
              <a:srgbClr val="7A3E63"/>
            </a:solidFill>
            <a:prstDash val="dash"/>
            <a:tailEnd type="triangle"/>
          </a:ln>
        </p:spPr>
      </p:sp>
      <p:sp>
        <p:nvSpPr>
          <p:cNvPr id="235" name="Text 233"/>
          <p:cNvSpPr/>
          <p:nvPr/>
        </p:nvSpPr>
        <p:spPr>
          <a:xfrm>
            <a:off x="9107424" y="44805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640" b="1" dirty="0">
                <a:solidFill>
                  <a:srgbClr val="7A3E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収録・面接 → X1/X2で知識化（F-I）</a:t>
            </a:r>
            <a:endParaRPr lang="en-US" sz="640" dirty="0"/>
          </a:p>
        </p:txBody>
      </p:sp>
      <p:sp>
        <p:nvSpPr>
          <p:cNvPr id="236" name="Text 234"/>
          <p:cNvSpPr/>
          <p:nvPr/>
        </p:nvSpPr>
        <p:spPr>
          <a:xfrm>
            <a:off x="10497312" y="1005840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データフロー</a:t>
            </a:r>
            <a:endParaRPr lang="en-US" sz="800" dirty="0"/>
          </a:p>
        </p:txBody>
      </p:sp>
      <p:sp>
        <p:nvSpPr>
          <p:cNvPr id="237" name="Shape 235"/>
          <p:cNvSpPr/>
          <p:nvPr/>
        </p:nvSpPr>
        <p:spPr>
          <a:xfrm flipV="1">
            <a:off x="10698480" y="1783080"/>
            <a:ext cx="0" cy="4114800"/>
          </a:xfrm>
          <a:prstGeom prst="line">
            <a:avLst/>
          </a:prstGeom>
          <a:noFill/>
          <a:ln w="28575">
            <a:solidFill>
              <a:srgbClr val="2F7D4F"/>
            </a:solidFill>
            <a:prstDash val="solid"/>
            <a:tailEnd type="triangle"/>
          </a:ln>
        </p:spPr>
      </p:sp>
      <p:sp>
        <p:nvSpPr>
          <p:cNvPr id="238" name="Shape 236"/>
          <p:cNvSpPr/>
          <p:nvPr/>
        </p:nvSpPr>
        <p:spPr>
          <a:xfrm>
            <a:off x="10506456" y="1261872"/>
            <a:ext cx="402336" cy="384048"/>
          </a:xfrm>
          <a:prstGeom prst="roundRect">
            <a:avLst>
              <a:gd name="adj" fmla="val 9524"/>
            </a:avLst>
          </a:prstGeom>
          <a:solidFill>
            <a:srgbClr val="2F7D4F"/>
          </a:solidFill>
          <a:ln/>
        </p:spPr>
      </p:sp>
      <p:sp>
        <p:nvSpPr>
          <p:cNvPr id="239" name="Text 237"/>
          <p:cNvSpPr/>
          <p:nvPr/>
        </p:nvSpPr>
        <p:spPr>
          <a:xfrm>
            <a:off x="10506456" y="126187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F-I</a:t>
            </a:r>
            <a:endParaRPr lang="en-US" sz="76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取込</a:t>
            </a:r>
            <a:endParaRPr lang="en-US" sz="760" dirty="0"/>
          </a:p>
        </p:txBody>
      </p:sp>
      <p:sp>
        <p:nvSpPr>
          <p:cNvPr id="240" name="Shape 238"/>
          <p:cNvSpPr/>
          <p:nvPr/>
        </p:nvSpPr>
        <p:spPr>
          <a:xfrm>
            <a:off x="11173968" y="1783080"/>
            <a:ext cx="0" cy="4114800"/>
          </a:xfrm>
          <a:prstGeom prst="line">
            <a:avLst/>
          </a:prstGeom>
          <a:noFill/>
          <a:ln w="28575">
            <a:solidFill>
              <a:srgbClr val="C96A1B"/>
            </a:solidFill>
            <a:prstDash val="solid"/>
            <a:tailEnd type="triangle"/>
          </a:ln>
        </p:spPr>
      </p:sp>
      <p:sp>
        <p:nvSpPr>
          <p:cNvPr id="241" name="Shape 239"/>
          <p:cNvSpPr/>
          <p:nvPr/>
        </p:nvSpPr>
        <p:spPr>
          <a:xfrm>
            <a:off x="10981944" y="1261872"/>
            <a:ext cx="402336" cy="384048"/>
          </a:xfrm>
          <a:prstGeom prst="roundRect">
            <a:avLst>
              <a:gd name="adj" fmla="val 9524"/>
            </a:avLst>
          </a:prstGeom>
          <a:solidFill>
            <a:srgbClr val="C96A1B"/>
          </a:solidFill>
          <a:ln/>
        </p:spPr>
      </p:sp>
      <p:sp>
        <p:nvSpPr>
          <p:cNvPr id="242" name="Text 240"/>
          <p:cNvSpPr/>
          <p:nvPr/>
        </p:nvSpPr>
        <p:spPr>
          <a:xfrm>
            <a:off x="10981944" y="126187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F-II</a:t>
            </a:r>
            <a:endParaRPr lang="en-US" sz="76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</a:t>
            </a:r>
            <a:endParaRPr lang="en-US" sz="760" dirty="0"/>
          </a:p>
        </p:txBody>
      </p:sp>
      <p:sp>
        <p:nvSpPr>
          <p:cNvPr id="243" name="Shape 241"/>
          <p:cNvSpPr/>
          <p:nvPr/>
        </p:nvSpPr>
        <p:spPr>
          <a:xfrm flipV="1">
            <a:off x="11649456" y="1783080"/>
            <a:ext cx="0" cy="4114800"/>
          </a:xfrm>
          <a:prstGeom prst="line">
            <a:avLst/>
          </a:prstGeom>
          <a:noFill/>
          <a:ln w="28575">
            <a:solidFill>
              <a:srgbClr val="0E7C86"/>
            </a:solidFill>
            <a:prstDash val="solid"/>
            <a:tailEnd type="triangle"/>
          </a:ln>
        </p:spPr>
      </p:sp>
      <p:sp>
        <p:nvSpPr>
          <p:cNvPr id="244" name="Shape 242"/>
          <p:cNvSpPr/>
          <p:nvPr/>
        </p:nvSpPr>
        <p:spPr>
          <a:xfrm>
            <a:off x="11457432" y="1261872"/>
            <a:ext cx="402336" cy="384048"/>
          </a:xfrm>
          <a:prstGeom prst="roundRect">
            <a:avLst>
              <a:gd name="adj" fmla="val 9524"/>
            </a:avLst>
          </a:prstGeom>
          <a:solidFill>
            <a:srgbClr val="0E7C86"/>
          </a:solidFill>
          <a:ln/>
        </p:spPr>
      </p:sp>
      <p:sp>
        <p:nvSpPr>
          <p:cNvPr id="245" name="Text 243"/>
          <p:cNvSpPr/>
          <p:nvPr/>
        </p:nvSpPr>
        <p:spPr>
          <a:xfrm>
            <a:off x="11457432" y="1261872"/>
            <a:ext cx="402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F-III</a:t>
            </a:r>
            <a:endParaRPr lang="en-US" sz="76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7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還流</a:t>
            </a:r>
            <a:endParaRPr lang="en-US" sz="760" dirty="0"/>
          </a:p>
        </p:txBody>
      </p:sp>
      <p:sp>
        <p:nvSpPr>
          <p:cNvPr id="246" name="Text 244"/>
          <p:cNvSpPr/>
          <p:nvPr/>
        </p:nvSpPr>
        <p:spPr>
          <a:xfrm>
            <a:off x="10479024" y="5943600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F-I 取込＝下から上へ／F-II 実行＝上から下を読み上へ返す／F-III 還流＝生成知が置き場へ戻る</a:t>
            </a:r>
            <a:endParaRPr lang="en-US" sz="540" dirty="0"/>
          </a:p>
        </p:txBody>
      </p:sp>
      <p:sp>
        <p:nvSpPr>
          <p:cNvPr id="247" name="Text 245"/>
          <p:cNvSpPr/>
          <p:nvPr/>
        </p:nvSpPr>
        <p:spPr>
          <a:xfrm>
            <a:off x="301752" y="6126480"/>
            <a:ext cx="115881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旧デッキのPKSHA共同開発（紫）は、あるべき姿として自社開発・継承部品（紫）に置換：ナレッジ抽出Agent→X1〜X3、標準I/F→M1〜M5（自社設計・MCP準拠）、業種×工程パターン→ハーネステンプレ＋語彙パック。Ontosphereは決定済のまま、正本自社保有・一括エクスポート可を採用条件に明記</a:t>
            </a:r>
            <a:endParaRPr lang="en-US" sz="700" dirty="0"/>
          </a:p>
        </p:txBody>
      </p:sp>
      <p:sp>
        <p:nvSpPr>
          <p:cNvPr id="248" name="Shape 246"/>
          <p:cNvSpPr/>
          <p:nvPr/>
        </p:nvSpPr>
        <p:spPr>
          <a:xfrm>
            <a:off x="256032" y="6391656"/>
            <a:ext cx="11679631" cy="365760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249" name="Text 247"/>
          <p:cNvSpPr/>
          <p:nvPr/>
        </p:nvSpPr>
        <p:spPr>
          <a:xfrm>
            <a:off x="438912" y="6391656"/>
            <a:ext cx="113138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色＝誰が作るか、ID＝どの部品か、F番号＝どのフローか ― 本頁の記法が全頁共通。以降の各頁は本図の「拡大」にすぎない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09728"/>
            <a:ext cx="11679631" cy="475488"/>
          </a:xfrm>
          <a:prstGeom prst="roundRect">
            <a:avLst>
              <a:gd name="adj" fmla="val 9615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20624" y="10972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SoA AIエージェント層 完全版 ｜ ② SoE層 ― コンポーネント構成とデータ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98003" y="205740"/>
            <a:ext cx="882396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798003" y="205740"/>
            <a:ext cx="8823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テクノプロ内製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753551" y="205740"/>
            <a:ext cx="1056132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753551" y="205740"/>
            <a:ext cx="10561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自社開発・継承部品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9882835" y="205740"/>
            <a:ext cx="969264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882835" y="205740"/>
            <a:ext cx="969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決定済プロダクト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0925251" y="205740"/>
            <a:ext cx="882396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925251" y="205740"/>
            <a:ext cx="8823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既製品・投資先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01752" y="640080"/>
            <a:ext cx="115881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SoEは6つの接点 ― 依頼を契約に翻訳し、承認と収録の入口になる。ただし正本データは一切持たない（ステートレス原則）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56032" y="102412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全体図の位置（P.2）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56032" y="1225296"/>
            <a:ext cx="1024128" cy="402336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225296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1696212"/>
            <a:ext cx="1024128" cy="713232"/>
          </a:xfrm>
          <a:prstGeom prst="roundRect">
            <a:avLst>
              <a:gd name="adj" fmla="val 5128"/>
            </a:avLst>
          </a:prstGeom>
          <a:solidFill>
            <a:srgbClr val="F1F3F6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1696212"/>
            <a:ext cx="1024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9A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478024"/>
            <a:ext cx="1024128" cy="274320"/>
          </a:xfrm>
          <a:prstGeom prst="roundRect">
            <a:avLst>
              <a:gd name="adj" fmla="val 13333"/>
            </a:avLst>
          </a:prstGeom>
          <a:solidFill>
            <a:srgbClr val="F1F3F6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47802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9A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標準I/F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2820924"/>
            <a:ext cx="1024128" cy="603504"/>
          </a:xfrm>
          <a:prstGeom prst="roundRect">
            <a:avLst>
              <a:gd name="adj" fmla="val 6061"/>
            </a:avLst>
          </a:prstGeom>
          <a:solidFill>
            <a:srgbClr val="F1F3F6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820924"/>
            <a:ext cx="1024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9A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中間層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6032" y="3493008"/>
            <a:ext cx="1024128" cy="566928"/>
          </a:xfrm>
          <a:prstGeom prst="roundRect">
            <a:avLst>
              <a:gd name="adj" fmla="val 6452"/>
            </a:avLst>
          </a:prstGeom>
          <a:solidFill>
            <a:srgbClr val="F1F3F6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493008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9A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SoR＋暗黙知</a:t>
            </a:r>
            <a:endParaRPr lang="en-US" sz="72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9A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技術継承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1481328" y="1115568"/>
            <a:ext cx="3346704" cy="1536192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45336" y="1175004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1545336" y="1164946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U1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901952" y="1133856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意思決定支援UI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563624" y="1389888"/>
            <a:ext cx="31912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経営・管理者の問いを受け、根拠付きの答えを返す接点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563624" y="1847088"/>
            <a:ext cx="3182112" cy="73152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36776" y="1892808"/>
            <a:ext cx="30540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IN：依頼（自然言語）</a:t>
            </a:r>
            <a:endParaRPr lang="en-US" sz="7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OUT：task契約化（F-II 1）／根拠付き回答の表示（F-II 5）</a:t>
            </a:r>
            <a:endParaRPr lang="en-US" sz="720" dirty="0"/>
          </a:p>
        </p:txBody>
      </p:sp>
      <p:sp>
        <p:nvSpPr>
          <p:cNvPr id="31" name="Shape 29"/>
          <p:cNvSpPr/>
          <p:nvPr/>
        </p:nvSpPr>
        <p:spPr>
          <a:xfrm>
            <a:off x="4956048" y="1115568"/>
            <a:ext cx="3346704" cy="1536192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0056" y="1175004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</p:spPr>
      </p:sp>
      <p:sp>
        <p:nvSpPr>
          <p:cNvPr id="33" name="Text 31"/>
          <p:cNvSpPr/>
          <p:nvPr/>
        </p:nvSpPr>
        <p:spPr>
          <a:xfrm>
            <a:off x="5020056" y="1164946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376672" y="1133856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業務特化UI（技能伝承ビュー）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38344" y="1389888"/>
            <a:ext cx="31912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現場の作業者・若手が使う接点。Standard知識のみ配信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038344" y="1847088"/>
            <a:ext cx="3182112" cy="73152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11496" y="1892808"/>
            <a:ext cx="30540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IN：作業指示・SK知識（Standard限定）</a:t>
            </a:r>
            <a:endParaRPr lang="en-US" sz="7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OUT：質問（F-II）／利用実績・拒否・例外（F-III 経路③）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1481328" y="2761488"/>
            <a:ext cx="3346704" cy="1536192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45336" y="2820924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</p:spPr>
      </p:sp>
      <p:sp>
        <p:nvSpPr>
          <p:cNvPr id="40" name="Text 38"/>
          <p:cNvSpPr/>
          <p:nvPr/>
        </p:nvSpPr>
        <p:spPr>
          <a:xfrm>
            <a:off x="1545336" y="2810866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901952" y="2779776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ノウハウ抽出UI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563624" y="3035808"/>
            <a:ext cx="31912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熟練者側の接点 ― 面接予約・草案確認・追補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563624" y="3493008"/>
            <a:ext cx="3182112" cy="73152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36776" y="3538728"/>
            <a:ext cx="30540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IN：X2の知識草案</a:t>
            </a:r>
            <a:endParaRPr lang="en-US" sz="7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OUT：本人による確認・修正（F-I 暗黙知経路）</a:t>
            </a:r>
            <a:endParaRPr lang="en-US" sz="720" dirty="0"/>
          </a:p>
        </p:txBody>
      </p:sp>
      <p:sp>
        <p:nvSpPr>
          <p:cNvPr id="45" name="Shape 43"/>
          <p:cNvSpPr/>
          <p:nvPr/>
        </p:nvSpPr>
        <p:spPr>
          <a:xfrm>
            <a:off x="4956048" y="2761488"/>
            <a:ext cx="3346704" cy="1536192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6D4FA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0056" y="2820924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6D4FA1"/>
          </a:solidFill>
          <a:ln/>
        </p:spPr>
      </p:sp>
      <p:sp>
        <p:nvSpPr>
          <p:cNvPr id="47" name="Text 45"/>
          <p:cNvSpPr/>
          <p:nvPr/>
        </p:nvSpPr>
        <p:spPr>
          <a:xfrm>
            <a:off x="5020056" y="2810866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U4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376672" y="2779776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面接・収録UI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38344" y="3035808"/>
            <a:ext cx="31912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CTA面接（X1）の対話画面と同期収録（E1）の操作盤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038344" y="3493008"/>
            <a:ext cx="3182112" cy="73152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111496" y="3538728"/>
            <a:ext cx="30540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OUT：映像・音声・視線・設備信号 → E1／面接記録 → E2</a:t>
            </a:r>
            <a:endParaRPr lang="en-US" sz="7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同意範囲の取得もここで（N2統制）</a:t>
            </a:r>
            <a:endParaRPr lang="en-US" sz="720" dirty="0"/>
          </a:p>
        </p:txBody>
      </p:sp>
      <p:sp>
        <p:nvSpPr>
          <p:cNvPr id="52" name="Shape 50"/>
          <p:cNvSpPr/>
          <p:nvPr/>
        </p:nvSpPr>
        <p:spPr>
          <a:xfrm>
            <a:off x="1481328" y="4407408"/>
            <a:ext cx="3346704" cy="1536192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6D4FA1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545336" y="4466844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6D4FA1"/>
          </a:solidFill>
          <a:ln/>
        </p:spPr>
      </p:sp>
      <p:sp>
        <p:nvSpPr>
          <p:cNvPr id="54" name="Text 52"/>
          <p:cNvSpPr/>
          <p:nvPr/>
        </p:nvSpPr>
        <p:spPr>
          <a:xfrm>
            <a:off x="1545336" y="4456786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U5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901952" y="4425696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承認・レビューUI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563624" y="4681728"/>
            <a:ext cx="31912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HITLの実行点 ― 知識の昇格とハーネス改訂を人が承認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563624" y="5138928"/>
            <a:ext cx="3182112" cy="73152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636776" y="5184648"/>
            <a:ext cx="30540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IN：Draft/Candidate知識・AI改善案</a:t>
            </a:r>
            <a:endParaRPr lang="en-US" sz="7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OUT：承認操作 → K13状態遷移（F-I）／H棚改訂（F-III 経路②）</a:t>
            </a:r>
            <a:endParaRPr lang="en-US" sz="720" dirty="0"/>
          </a:p>
        </p:txBody>
      </p:sp>
      <p:sp>
        <p:nvSpPr>
          <p:cNvPr id="59" name="Shape 57"/>
          <p:cNvSpPr/>
          <p:nvPr/>
        </p:nvSpPr>
        <p:spPr>
          <a:xfrm>
            <a:off x="4956048" y="4407408"/>
            <a:ext cx="3346704" cy="1536192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6D4FA1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020056" y="4466844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6D4FA1"/>
          </a:solidFill>
          <a:ln/>
        </p:spPr>
      </p:sp>
      <p:sp>
        <p:nvSpPr>
          <p:cNvPr id="61" name="Text 59"/>
          <p:cNvSpPr/>
          <p:nvPr/>
        </p:nvSpPr>
        <p:spPr>
          <a:xfrm>
            <a:off x="5020056" y="4456786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U6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376672" y="4425696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効果測定ダッシュボード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038344" y="4681728"/>
            <a:ext cx="319125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KPIで効果ゲートを判定 ― 独り立ち期間・一発合格率・MTTR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5038344" y="5138928"/>
            <a:ext cx="3182112" cy="73152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111496" y="5184648"/>
            <a:ext cx="30540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IN：H6 queueの実行記録＋K6イベント履歴</a:t>
            </a:r>
            <a:endParaRPr lang="en-US" sz="72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2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OUT：ゲート判定（未達なら拡大しない）</a:t>
            </a:r>
            <a:endParaRPr lang="en-US" sz="720" dirty="0"/>
          </a:p>
        </p:txBody>
      </p:sp>
      <p:sp>
        <p:nvSpPr>
          <p:cNvPr id="66" name="Shape 64"/>
          <p:cNvSpPr/>
          <p:nvPr/>
        </p:nvSpPr>
        <p:spPr>
          <a:xfrm>
            <a:off x="8613648" y="1115568"/>
            <a:ext cx="3319272" cy="2212848"/>
          </a:xfrm>
          <a:prstGeom prst="roundRect">
            <a:avLst>
              <a:gd name="adj" fmla="val 2066"/>
            </a:avLst>
          </a:prstGeom>
          <a:solidFill>
            <a:srgbClr val="E8EDF7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741664" y="120700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SoEのデータ原則 ― 「薄いUI」</a:t>
            </a:r>
            <a:endParaRPr lang="en-US" sz="1050" dirty="0"/>
          </a:p>
        </p:txBody>
      </p:sp>
      <p:sp>
        <p:nvSpPr>
          <p:cNvPr id="68" name="Text 66"/>
          <p:cNvSpPr/>
          <p:nvPr/>
        </p:nvSpPr>
        <p:spPr>
          <a:xfrm>
            <a:off x="8741664" y="1463040"/>
            <a:ext cx="306324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3000"/>
              </a:lnSpc>
              <a:buNone/>
            </a:pPr>
            <a:r>
              <a:rPr lang="en-US" sz="78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正本を持たない</a:t>
            </a:r>
            <a:endParaRPr lang="en-US" sz="78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78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知識の正本は中間層（SK・K棚）、実行記録はH6 queue、観測原本はE3。SoEは表示と入力の翻訳のみ。</a:t>
            </a:r>
            <a:endParaRPr lang="en-US" sz="78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78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だから入れ替えられる</a:t>
            </a:r>
            <a:endParaRPr lang="en-US" sz="78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78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配信UI（DWI・AR等）はBuyで良い。製品を替えても知識は残る ― ベンダーの内部に知識を置かない。</a:t>
            </a:r>
            <a:endParaRPr lang="en-US" sz="78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78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Standardのみ配信</a:t>
            </a:r>
            <a:endParaRPr lang="en-US" sz="780" dirty="0"/>
          </a:p>
          <a:p>
            <a:pPr indent="0" marL="0">
              <a:lnSpc>
                <a:spcPct val="113000"/>
              </a:lnSpc>
              <a:buNone/>
            </a:pPr>
            <a:r>
              <a:rPr lang="en-US" sz="78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Draft・Candidateは現場に出さない（K13）。誤伝承の量産をUIの手前で止める。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8613648" y="3438144"/>
            <a:ext cx="3319272" cy="2615184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741664" y="3529584"/>
            <a:ext cx="3063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フロー対応（どの接点が・どこで動くか）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8741664" y="3803904"/>
            <a:ext cx="713232" cy="274320"/>
          </a:xfrm>
          <a:prstGeom prst="roundRect">
            <a:avLst>
              <a:gd name="adj" fmla="val 13333"/>
            </a:avLst>
          </a:prstGeom>
          <a:solidFill>
            <a:srgbClr val="2F7D4F"/>
          </a:solidFill>
          <a:ln/>
        </p:spPr>
      </p:sp>
      <p:sp>
        <p:nvSpPr>
          <p:cNvPr id="72" name="Text 70"/>
          <p:cNvSpPr/>
          <p:nvPr/>
        </p:nvSpPr>
        <p:spPr>
          <a:xfrm>
            <a:off x="8741664" y="379476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F-I 取込</a:t>
            </a:r>
            <a:endParaRPr lang="en-US" sz="760" dirty="0"/>
          </a:p>
        </p:txBody>
      </p:sp>
      <p:sp>
        <p:nvSpPr>
          <p:cNvPr id="73" name="Text 71"/>
          <p:cNvSpPr/>
          <p:nvPr/>
        </p:nvSpPr>
        <p:spPr>
          <a:xfrm>
            <a:off x="9546336" y="3712464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6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U4 収録・面接 ／ U3 本人確認 ／ U5 昇格承認</a:t>
            </a:r>
            <a:endParaRPr lang="en-US" sz="760" dirty="0"/>
          </a:p>
        </p:txBody>
      </p:sp>
      <p:sp>
        <p:nvSpPr>
          <p:cNvPr id="74" name="Shape 72"/>
          <p:cNvSpPr/>
          <p:nvPr/>
        </p:nvSpPr>
        <p:spPr>
          <a:xfrm>
            <a:off x="8741664" y="4535424"/>
            <a:ext cx="713232" cy="274320"/>
          </a:xfrm>
          <a:prstGeom prst="roundRect">
            <a:avLst>
              <a:gd name="adj" fmla="val 13333"/>
            </a:avLst>
          </a:prstGeom>
          <a:solidFill>
            <a:srgbClr val="C96A1B"/>
          </a:solidFill>
          <a:ln/>
        </p:spPr>
      </p:sp>
      <p:sp>
        <p:nvSpPr>
          <p:cNvPr id="75" name="Text 73"/>
          <p:cNvSpPr/>
          <p:nvPr/>
        </p:nvSpPr>
        <p:spPr>
          <a:xfrm>
            <a:off x="8741664" y="452628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F-II 実行</a:t>
            </a:r>
            <a:endParaRPr lang="en-US" sz="760" dirty="0"/>
          </a:p>
        </p:txBody>
      </p:sp>
      <p:sp>
        <p:nvSpPr>
          <p:cNvPr id="76" name="Text 74"/>
          <p:cNvSpPr/>
          <p:nvPr/>
        </p:nvSpPr>
        <p:spPr>
          <a:xfrm>
            <a:off x="9546336" y="4443984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6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U1・U2 依頼の入口と根拠付き回答の出口</a:t>
            </a:r>
            <a:endParaRPr lang="en-US" sz="760" dirty="0"/>
          </a:p>
        </p:txBody>
      </p:sp>
      <p:sp>
        <p:nvSpPr>
          <p:cNvPr id="77" name="Shape 75"/>
          <p:cNvSpPr/>
          <p:nvPr/>
        </p:nvSpPr>
        <p:spPr>
          <a:xfrm>
            <a:off x="8741664" y="5266944"/>
            <a:ext cx="713232" cy="27432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/>
        </p:spPr>
      </p:sp>
      <p:sp>
        <p:nvSpPr>
          <p:cNvPr id="78" name="Text 76"/>
          <p:cNvSpPr/>
          <p:nvPr/>
        </p:nvSpPr>
        <p:spPr>
          <a:xfrm>
            <a:off x="8741664" y="525780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F-III 還流</a:t>
            </a:r>
            <a:endParaRPr lang="en-US" sz="760" dirty="0"/>
          </a:p>
        </p:txBody>
      </p:sp>
      <p:sp>
        <p:nvSpPr>
          <p:cNvPr id="79" name="Text 77"/>
          <p:cNvSpPr/>
          <p:nvPr/>
        </p:nvSpPr>
        <p:spPr>
          <a:xfrm>
            <a:off x="9546336" y="5175504"/>
            <a:ext cx="2258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6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U5 改善案の承認 ／ U2 利用実績・例外の返送 ／ U6 効果ゲート</a:t>
            </a:r>
            <a:endParaRPr lang="en-US" sz="760" dirty="0"/>
          </a:p>
        </p:txBody>
      </p:sp>
      <p:sp>
        <p:nvSpPr>
          <p:cNvPr id="80" name="Text 78"/>
          <p:cNvSpPr/>
          <p:nvPr/>
        </p:nvSpPr>
        <p:spPr>
          <a:xfrm>
            <a:off x="301752" y="6126480"/>
            <a:ext cx="115881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U1〜U3＝内製（Claude Code等で高速開発）。U4〜U6＝暗黙知・技術継承のために新設する自社開発接点。個人監視・人事評価への不使用（N2）は制度＋U4の同意取得で二重に担保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256032" y="6391656"/>
            <a:ext cx="11679631" cy="365760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82" name="Text 80"/>
          <p:cNvSpPr/>
          <p:nvPr/>
        </p:nvSpPr>
        <p:spPr>
          <a:xfrm>
            <a:off x="438912" y="6391656"/>
            <a:ext cx="113138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UIは薄く、正本は下層に ― だから配信製品はいつでも入れ替えられ、知識は自社に残り続ける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09728"/>
            <a:ext cx="11679631" cy="475488"/>
          </a:xfrm>
          <a:prstGeom prst="roundRect">
            <a:avLst>
              <a:gd name="adj" fmla="val 9615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20624" y="10972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SoA AIエージェント層 完全版 ｜ ③ SoA層 ― コンポーネント構成とデータ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98003" y="205740"/>
            <a:ext cx="882396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798003" y="205740"/>
            <a:ext cx="8823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テクノプロ内製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753551" y="205740"/>
            <a:ext cx="1056132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753551" y="205740"/>
            <a:ext cx="10561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自社開発・継承部品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9882835" y="205740"/>
            <a:ext cx="969264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882835" y="205740"/>
            <a:ext cx="969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決定済プロダクト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0925251" y="205740"/>
            <a:ext cx="882396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925251" y="205740"/>
            <a:ext cx="8823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既製品・投資先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01752" y="640080"/>
            <a:ext cx="115881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SoAは共通の三役＋1業務1ハーネス ― 差分は6つの棚が吸収し、queue（file正本）が実行のすべてを記録する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56032" y="102412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全体図の位置（P.2）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56032" y="1225296"/>
            <a:ext cx="1024128" cy="402336"/>
          </a:xfrm>
          <a:prstGeom prst="roundRect">
            <a:avLst>
              <a:gd name="adj" fmla="val 9091"/>
            </a:avLst>
          </a:prstGeom>
          <a:solidFill>
            <a:srgbClr val="F1F3F6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225296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9A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1696212"/>
            <a:ext cx="1024128" cy="713232"/>
          </a:xfrm>
          <a:prstGeom prst="roundRect">
            <a:avLst>
              <a:gd name="adj" fmla="val 5128"/>
            </a:avLst>
          </a:prstGeom>
          <a:solidFill>
            <a:srgbClr val="C96A1B"/>
          </a:solidFill>
          <a:ln w="19050">
            <a:solidFill>
              <a:srgbClr val="C96A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1696212"/>
            <a:ext cx="1024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478024"/>
            <a:ext cx="1024128" cy="274320"/>
          </a:xfrm>
          <a:prstGeom prst="roundRect">
            <a:avLst>
              <a:gd name="adj" fmla="val 13333"/>
            </a:avLst>
          </a:prstGeom>
          <a:solidFill>
            <a:srgbClr val="F1F3F6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47802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9A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標準I/F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2820924"/>
            <a:ext cx="1024128" cy="603504"/>
          </a:xfrm>
          <a:prstGeom prst="roundRect">
            <a:avLst>
              <a:gd name="adj" fmla="val 6061"/>
            </a:avLst>
          </a:prstGeom>
          <a:solidFill>
            <a:srgbClr val="F1F3F6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820924"/>
            <a:ext cx="1024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9A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中間層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6032" y="3493008"/>
            <a:ext cx="1024128" cy="566928"/>
          </a:xfrm>
          <a:prstGeom prst="roundRect">
            <a:avLst>
              <a:gd name="adj" fmla="val 6452"/>
            </a:avLst>
          </a:prstGeom>
          <a:solidFill>
            <a:srgbClr val="F1F3F6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493008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9A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SoR＋暗黙知</a:t>
            </a:r>
            <a:endParaRPr lang="en-US" sz="72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9A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技術継承</a:t>
            </a:r>
            <a:endParaRPr lang="en-US" sz="720" dirty="0"/>
          </a:p>
        </p:txBody>
      </p:sp>
      <p:sp>
        <p:nvSpPr>
          <p:cNvPr id="24" name="Text 22"/>
          <p:cNvSpPr/>
          <p:nvPr/>
        </p:nvSpPr>
        <p:spPr>
          <a:xfrm>
            <a:off x="1481328" y="1078992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6A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taskライフサイクル ― 三役と門番（共通・無個性）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481328" y="1316736"/>
            <a:ext cx="3127248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45336" y="137617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C96A1B"/>
          </a:solidFill>
          <a:ln/>
        </p:spPr>
      </p:sp>
      <p:sp>
        <p:nvSpPr>
          <p:cNvPr id="27" name="Text 25"/>
          <p:cNvSpPr/>
          <p:nvPr/>
        </p:nvSpPr>
        <p:spPr>
          <a:xfrm>
            <a:off x="1545336" y="136611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A1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901952" y="1335024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lead ― task契約の作成</a:t>
            </a:r>
            <a:endParaRPr lang="en-US" sz="880" dirty="0"/>
          </a:p>
        </p:txBody>
      </p:sp>
      <p:sp>
        <p:nvSpPr>
          <p:cNvPr id="29" name="Text 27"/>
          <p:cNvSpPr/>
          <p:nvPr/>
        </p:nvSpPr>
        <p:spPr>
          <a:xfrm>
            <a:off x="1563624" y="1591056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2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依頼を契約に翻訳：変更範囲・受け入れ条件・検証方法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3438144" y="1371600"/>
            <a:ext cx="1097280" cy="192024"/>
          </a:xfrm>
          <a:prstGeom prst="roundRect">
            <a:avLst>
              <a:gd name="adj" fmla="val 14286"/>
            </a:avLst>
          </a:prstGeom>
          <a:solidFill>
            <a:srgbClr val="EAF4EE"/>
          </a:solidFill>
          <a:ln w="7620">
            <a:solidFill>
              <a:srgbClr val="2F7D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38144" y="136245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F7D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task契約 → H6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1773936" y="2139696"/>
            <a:ext cx="0" cy="105156"/>
          </a:xfrm>
          <a:prstGeom prst="line">
            <a:avLst/>
          </a:prstGeom>
          <a:noFill/>
          <a:ln w="15875">
            <a:solidFill>
              <a:srgbClr val="C96A1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481328" y="2244852"/>
            <a:ext cx="3127248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45336" y="2304288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C96A1B"/>
          </a:solidFill>
          <a:ln/>
        </p:spPr>
      </p:sp>
      <p:sp>
        <p:nvSpPr>
          <p:cNvPr id="35" name="Text 33"/>
          <p:cNvSpPr/>
          <p:nvPr/>
        </p:nvSpPr>
        <p:spPr>
          <a:xfrm>
            <a:off x="1545336" y="2294230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A2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901952" y="2263140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worker × N ― 実装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1563624" y="2519172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2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契約をclaimし隔離環境で並列実装。増減は設定のみ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3438144" y="2299716"/>
            <a:ext cx="1097280" cy="192024"/>
          </a:xfrm>
          <a:prstGeom prst="roundRect">
            <a:avLst>
              <a:gd name="adj" fmla="val 14286"/>
            </a:avLst>
          </a:prstGeom>
          <a:solidFill>
            <a:srgbClr val="EAF4EE"/>
          </a:solidFill>
          <a:ln w="7620">
            <a:solidFill>
              <a:srgbClr val="2F7D4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38144" y="22905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F7D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探索ログ → H6</a:t>
            </a:r>
            <a:endParaRPr lang="en-US" sz="620" dirty="0"/>
          </a:p>
        </p:txBody>
      </p:sp>
      <p:sp>
        <p:nvSpPr>
          <p:cNvPr id="40" name="Shape 38"/>
          <p:cNvSpPr/>
          <p:nvPr/>
        </p:nvSpPr>
        <p:spPr>
          <a:xfrm>
            <a:off x="1773936" y="3067812"/>
            <a:ext cx="0" cy="105156"/>
          </a:xfrm>
          <a:prstGeom prst="line">
            <a:avLst/>
          </a:prstGeom>
          <a:noFill/>
          <a:ln w="15875">
            <a:solidFill>
              <a:srgbClr val="C96A1B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481328" y="3172968"/>
            <a:ext cx="3127248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545336" y="3232404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C96A1B"/>
          </a:solidFill>
          <a:ln/>
        </p:spPr>
      </p:sp>
      <p:sp>
        <p:nvSpPr>
          <p:cNvPr id="43" name="Text 41"/>
          <p:cNvSpPr/>
          <p:nvPr/>
        </p:nvSpPr>
        <p:spPr>
          <a:xfrm>
            <a:off x="1545336" y="3222346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G1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901952" y="3191256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検証ゲート ― 機械の門番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1563624" y="3447288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2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format・lint・type・test・smoke ＋ 業務ゲート（K3照合）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3438144" y="3227832"/>
            <a:ext cx="1097280" cy="192024"/>
          </a:xfrm>
          <a:prstGeom prst="roundRect">
            <a:avLst>
              <a:gd name="adj" fmla="val 14286"/>
            </a:avLst>
          </a:prstGeom>
          <a:solidFill>
            <a:srgbClr val="EAF4EE"/>
          </a:solidFill>
          <a:ln w="7620">
            <a:solidFill>
              <a:srgbClr val="2F7D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38144" y="321868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F7D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検証ログ → H6</a:t>
            </a:r>
            <a:endParaRPr lang="en-US" sz="620" dirty="0"/>
          </a:p>
        </p:txBody>
      </p:sp>
      <p:sp>
        <p:nvSpPr>
          <p:cNvPr id="48" name="Shape 46"/>
          <p:cNvSpPr/>
          <p:nvPr/>
        </p:nvSpPr>
        <p:spPr>
          <a:xfrm>
            <a:off x="1773936" y="3995928"/>
            <a:ext cx="0" cy="105156"/>
          </a:xfrm>
          <a:prstGeom prst="line">
            <a:avLst/>
          </a:prstGeom>
          <a:noFill/>
          <a:ln w="15875">
            <a:solidFill>
              <a:srgbClr val="C96A1B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1481328" y="4101084"/>
            <a:ext cx="3127248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545336" y="4160520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C96A1B"/>
          </a:solidFill>
          <a:ln/>
        </p:spPr>
      </p:sp>
      <p:sp>
        <p:nvSpPr>
          <p:cNvPr id="51" name="Text 49"/>
          <p:cNvSpPr/>
          <p:nvPr/>
        </p:nvSpPr>
        <p:spPr>
          <a:xfrm>
            <a:off x="1545336" y="4150462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A3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901952" y="4119372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verifier ― 独立照合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1563624" y="4375404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2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編集権なし。根拠を原本まで遡り OK / FIX / ASK_LEAD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3438144" y="4155948"/>
            <a:ext cx="1097280" cy="192024"/>
          </a:xfrm>
          <a:prstGeom prst="roundRect">
            <a:avLst>
              <a:gd name="adj" fmla="val 14286"/>
            </a:avLst>
          </a:prstGeom>
          <a:solidFill>
            <a:srgbClr val="EAF4EE"/>
          </a:solidFill>
          <a:ln w="7620">
            <a:solidFill>
              <a:srgbClr val="2F7D4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38144" y="41468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F7D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審査記録 → H6</a:t>
            </a:r>
            <a:endParaRPr lang="en-US" sz="620" dirty="0"/>
          </a:p>
        </p:txBody>
      </p:sp>
      <p:sp>
        <p:nvSpPr>
          <p:cNvPr id="56" name="Shape 54"/>
          <p:cNvSpPr/>
          <p:nvPr/>
        </p:nvSpPr>
        <p:spPr>
          <a:xfrm>
            <a:off x="1773936" y="4924044"/>
            <a:ext cx="0" cy="105156"/>
          </a:xfrm>
          <a:prstGeom prst="line">
            <a:avLst/>
          </a:prstGeom>
          <a:noFill/>
          <a:ln w="15875">
            <a:solidFill>
              <a:srgbClr val="C96A1B"/>
            </a:solidFill>
            <a:prstDash val="solid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1481328" y="5029200"/>
            <a:ext cx="3127248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545336" y="5088636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C96A1B"/>
          </a:solidFill>
          <a:ln/>
        </p:spPr>
      </p:sp>
      <p:sp>
        <p:nvSpPr>
          <p:cNvPr id="59" name="Text 57"/>
          <p:cNvSpPr/>
          <p:nvPr/>
        </p:nvSpPr>
        <p:spPr>
          <a:xfrm>
            <a:off x="1545336" y="5078578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A1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1901952" y="5047488"/>
            <a:ext cx="2670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lead ― 統合・出力</a:t>
            </a:r>
            <a:endParaRPr lang="en-US" sz="880" dirty="0"/>
          </a:p>
        </p:txBody>
      </p:sp>
      <p:sp>
        <p:nvSpPr>
          <p:cNvPr id="61" name="Text 59"/>
          <p:cNvSpPr/>
          <p:nvPr/>
        </p:nvSpPr>
        <p:spPr>
          <a:xfrm>
            <a:off x="1563624" y="5303520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2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review通過成果のみ統合しSoEへ返す唯一の編集者</a:t>
            </a:r>
            <a:endParaRPr lang="en-US" sz="720" dirty="0"/>
          </a:p>
        </p:txBody>
      </p:sp>
      <p:sp>
        <p:nvSpPr>
          <p:cNvPr id="62" name="Shape 60"/>
          <p:cNvSpPr/>
          <p:nvPr/>
        </p:nvSpPr>
        <p:spPr>
          <a:xfrm>
            <a:off x="3438144" y="5084064"/>
            <a:ext cx="1097280" cy="192024"/>
          </a:xfrm>
          <a:prstGeom prst="roundRect">
            <a:avLst>
              <a:gd name="adj" fmla="val 14286"/>
            </a:avLst>
          </a:prstGeom>
          <a:solidFill>
            <a:srgbClr val="EAF4EE"/>
          </a:solidFill>
          <a:ln w="7620">
            <a:solidFill>
              <a:srgbClr val="2F7D4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38144" y="50749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2F7D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運用ログ → H6</a:t>
            </a:r>
            <a:endParaRPr lang="en-US" sz="620" dirty="0"/>
          </a:p>
        </p:txBody>
      </p:sp>
      <p:sp>
        <p:nvSpPr>
          <p:cNvPr id="64" name="Text 62"/>
          <p:cNvSpPr/>
          <p:nvPr/>
        </p:nvSpPr>
        <p:spPr>
          <a:xfrm>
            <a:off x="4791456" y="1078992"/>
            <a:ext cx="3675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6A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ハーネス6棚 ― 「やり方の差分」の置き場と保持データ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4791456" y="1316736"/>
            <a:ext cx="1792224" cy="950976"/>
          </a:xfrm>
          <a:prstGeom prst="roundRect">
            <a:avLst>
              <a:gd name="adj" fmla="val 4327"/>
            </a:avLst>
          </a:prstGeom>
          <a:solidFill>
            <a:srgbClr val="FBF0E1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855464" y="137617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C96A1B"/>
          </a:solidFill>
          <a:ln/>
        </p:spPr>
      </p:sp>
      <p:sp>
        <p:nvSpPr>
          <p:cNvPr id="67" name="Text 65"/>
          <p:cNvSpPr/>
          <p:nvPr/>
        </p:nvSpPr>
        <p:spPr>
          <a:xfrm>
            <a:off x="4855464" y="136611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H1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5212080" y="1335024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rules</a:t>
            </a:r>
            <a:endParaRPr lang="en-US" sz="860" dirty="0"/>
          </a:p>
        </p:txBody>
      </p:sp>
      <p:sp>
        <p:nvSpPr>
          <p:cNvPr id="69" name="Text 67"/>
          <p:cNvSpPr/>
          <p:nvPr/>
        </p:nvSpPr>
        <p:spPr>
          <a:xfrm>
            <a:off x="4873752" y="1591056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8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行動規範・統制・禁止事項 ― 規程と不文律の明文</a:t>
            </a:r>
            <a:endParaRPr lang="en-US" sz="680" dirty="0"/>
          </a:p>
        </p:txBody>
      </p:sp>
      <p:sp>
        <p:nvSpPr>
          <p:cNvPr id="70" name="Shape 68"/>
          <p:cNvSpPr/>
          <p:nvPr/>
        </p:nvSpPr>
        <p:spPr>
          <a:xfrm>
            <a:off x="6675120" y="1316736"/>
            <a:ext cx="1792224" cy="950976"/>
          </a:xfrm>
          <a:prstGeom prst="roundRect">
            <a:avLst>
              <a:gd name="adj" fmla="val 4327"/>
            </a:avLst>
          </a:prstGeom>
          <a:solidFill>
            <a:srgbClr val="FBF0E1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739128" y="137617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C96A1B"/>
          </a:solidFill>
          <a:ln/>
        </p:spPr>
      </p:sp>
      <p:sp>
        <p:nvSpPr>
          <p:cNvPr id="72" name="Text 70"/>
          <p:cNvSpPr/>
          <p:nvPr/>
        </p:nvSpPr>
        <p:spPr>
          <a:xfrm>
            <a:off x="6739128" y="136611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H2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7095744" y="1335024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SKILLS</a:t>
            </a:r>
            <a:endParaRPr lang="en-US" sz="860" dirty="0"/>
          </a:p>
        </p:txBody>
      </p:sp>
      <p:sp>
        <p:nvSpPr>
          <p:cNvPr id="74" name="Text 72"/>
          <p:cNvSpPr/>
          <p:nvPr/>
        </p:nvSpPr>
        <p:spPr>
          <a:xfrm>
            <a:off x="6757416" y="1591056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8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工程ノウハウの型 ― 承認済みの標準対処・判断手順（暗黙知の「やり方」側の受け皿）</a:t>
            </a:r>
            <a:endParaRPr lang="en-US" sz="680" dirty="0"/>
          </a:p>
        </p:txBody>
      </p:sp>
      <p:sp>
        <p:nvSpPr>
          <p:cNvPr id="75" name="Shape 73"/>
          <p:cNvSpPr/>
          <p:nvPr/>
        </p:nvSpPr>
        <p:spPr>
          <a:xfrm>
            <a:off x="4791456" y="2368296"/>
            <a:ext cx="1792224" cy="950976"/>
          </a:xfrm>
          <a:prstGeom prst="roundRect">
            <a:avLst>
              <a:gd name="adj" fmla="val 4327"/>
            </a:avLst>
          </a:prstGeom>
          <a:solidFill>
            <a:srgbClr val="FBF0E1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855464" y="242773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C96A1B"/>
          </a:solidFill>
          <a:ln/>
        </p:spPr>
      </p:sp>
      <p:sp>
        <p:nvSpPr>
          <p:cNvPr id="77" name="Text 75"/>
          <p:cNvSpPr/>
          <p:nvPr/>
        </p:nvSpPr>
        <p:spPr>
          <a:xfrm>
            <a:off x="4855464" y="241767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H3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212080" y="2386584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Hooks</a:t>
            </a:r>
            <a:endParaRPr lang="en-US" sz="860" dirty="0"/>
          </a:p>
        </p:txBody>
      </p:sp>
      <p:sp>
        <p:nvSpPr>
          <p:cNvPr id="79" name="Text 77"/>
          <p:cNvSpPr/>
          <p:nvPr/>
        </p:nvSpPr>
        <p:spPr>
          <a:xfrm>
            <a:off x="4873752" y="2642616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8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自動チェック介入 ― 人の承認・介入点（HITL）の定義</a:t>
            </a:r>
            <a:endParaRPr lang="en-US" sz="680" dirty="0"/>
          </a:p>
        </p:txBody>
      </p:sp>
      <p:sp>
        <p:nvSpPr>
          <p:cNvPr id="80" name="Shape 78"/>
          <p:cNvSpPr/>
          <p:nvPr/>
        </p:nvSpPr>
        <p:spPr>
          <a:xfrm>
            <a:off x="6675120" y="2368296"/>
            <a:ext cx="1792224" cy="950976"/>
          </a:xfrm>
          <a:prstGeom prst="roundRect">
            <a:avLst>
              <a:gd name="adj" fmla="val 4327"/>
            </a:avLst>
          </a:prstGeom>
          <a:solidFill>
            <a:srgbClr val="FBF0E1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739128" y="242773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C96A1B"/>
          </a:solidFill>
          <a:ln/>
        </p:spPr>
      </p:sp>
      <p:sp>
        <p:nvSpPr>
          <p:cNvPr id="82" name="Text 80"/>
          <p:cNvSpPr/>
          <p:nvPr/>
        </p:nvSpPr>
        <p:spPr>
          <a:xfrm>
            <a:off x="6739128" y="241767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H4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7095744" y="2386584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Wiki</a:t>
            </a:r>
            <a:endParaRPr lang="en-US" sz="860" dirty="0"/>
          </a:p>
        </p:txBody>
      </p:sp>
      <p:sp>
        <p:nvSpPr>
          <p:cNvPr id="84" name="Text 82"/>
          <p:cNvSpPr/>
          <p:nvPr/>
        </p:nvSpPr>
        <p:spPr>
          <a:xfrm>
            <a:off x="6757416" y="2642616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8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ドメイン知識・失敗様式 ― 背景解説と原文の置き場</a:t>
            </a:r>
            <a:endParaRPr lang="en-US" sz="680" dirty="0"/>
          </a:p>
        </p:txBody>
      </p:sp>
      <p:sp>
        <p:nvSpPr>
          <p:cNvPr id="85" name="Shape 83"/>
          <p:cNvSpPr/>
          <p:nvPr/>
        </p:nvSpPr>
        <p:spPr>
          <a:xfrm>
            <a:off x="4791456" y="3419856"/>
            <a:ext cx="1792224" cy="950976"/>
          </a:xfrm>
          <a:prstGeom prst="roundRect">
            <a:avLst>
              <a:gd name="adj" fmla="val 4327"/>
            </a:avLst>
          </a:prstGeom>
          <a:solidFill>
            <a:srgbClr val="FBF0E1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855464" y="347929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C96A1B"/>
          </a:solidFill>
          <a:ln/>
        </p:spPr>
      </p:sp>
      <p:sp>
        <p:nvSpPr>
          <p:cNvPr id="87" name="Text 85"/>
          <p:cNvSpPr/>
          <p:nvPr/>
        </p:nvSpPr>
        <p:spPr>
          <a:xfrm>
            <a:off x="4855464" y="346923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H5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5212080" y="3438144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CI</a:t>
            </a:r>
            <a:endParaRPr lang="en-US" sz="860" dirty="0"/>
          </a:p>
        </p:txBody>
      </p:sp>
      <p:sp>
        <p:nvSpPr>
          <p:cNvPr id="89" name="Text 87"/>
          <p:cNvSpPr/>
          <p:nvPr/>
        </p:nvSpPr>
        <p:spPr>
          <a:xfrm>
            <a:off x="4873752" y="3694176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8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合格条件の機械化 ― 閾値を検証ゲートの条件に翻訳</a:t>
            </a:r>
            <a:endParaRPr lang="en-US" sz="680" dirty="0"/>
          </a:p>
        </p:txBody>
      </p:sp>
      <p:sp>
        <p:nvSpPr>
          <p:cNvPr id="90" name="Shape 88"/>
          <p:cNvSpPr/>
          <p:nvPr/>
        </p:nvSpPr>
        <p:spPr>
          <a:xfrm>
            <a:off x="6675120" y="3419856"/>
            <a:ext cx="1792224" cy="950976"/>
          </a:xfrm>
          <a:prstGeom prst="roundRect">
            <a:avLst>
              <a:gd name="adj" fmla="val 4327"/>
            </a:avLst>
          </a:prstGeom>
          <a:solidFill>
            <a:srgbClr val="FBF0E1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739128" y="347929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C96A1B"/>
          </a:solidFill>
          <a:ln/>
        </p:spPr>
      </p:sp>
      <p:sp>
        <p:nvSpPr>
          <p:cNvPr id="92" name="Text 90"/>
          <p:cNvSpPr/>
          <p:nvPr/>
        </p:nvSpPr>
        <p:spPr>
          <a:xfrm>
            <a:off x="6739128" y="346923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H6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7095744" y="3438144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queue（file正本）</a:t>
            </a:r>
            <a:endParaRPr lang="en-US" sz="860" dirty="0"/>
          </a:p>
        </p:txBody>
      </p:sp>
      <p:sp>
        <p:nvSpPr>
          <p:cNvPr id="94" name="Text 92"/>
          <p:cNvSpPr/>
          <p:nvPr/>
        </p:nvSpPr>
        <p:spPr>
          <a:xfrm>
            <a:off x="6757416" y="3694176"/>
            <a:ext cx="16367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8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task台帳 ― 契約・探索/検証ログ・審査記録・運用ログ＝AI生成知の一次置き場（監査可能）</a:t>
            </a:r>
            <a:endParaRPr lang="en-US" sz="680" dirty="0"/>
          </a:p>
        </p:txBody>
      </p:sp>
      <p:sp>
        <p:nvSpPr>
          <p:cNvPr id="95" name="Shape 93"/>
          <p:cNvSpPr/>
          <p:nvPr/>
        </p:nvSpPr>
        <p:spPr>
          <a:xfrm>
            <a:off x="4791456" y="4553712"/>
            <a:ext cx="3675888" cy="1481328"/>
          </a:xfrm>
          <a:prstGeom prst="roundRect">
            <a:avLst>
              <a:gd name="adj" fmla="val 3086"/>
            </a:avLst>
          </a:prstGeom>
          <a:solidFill>
            <a:srgbClr val="EFEAF7"/>
          </a:solidFill>
          <a:ln w="15875">
            <a:solidFill>
              <a:srgbClr val="6D4FA1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901184" y="4626864"/>
            <a:ext cx="3456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知識抽出・継承Agent群（自社開発 ― あるべき姿への置換）</a:t>
            </a:r>
            <a:endParaRPr lang="en-US" sz="860" dirty="0"/>
          </a:p>
        </p:txBody>
      </p:sp>
      <p:sp>
        <p:nvSpPr>
          <p:cNvPr id="97" name="Shape 95"/>
          <p:cNvSpPr/>
          <p:nvPr/>
        </p:nvSpPr>
        <p:spPr>
          <a:xfrm>
            <a:off x="4901184" y="4864608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6D4FA1"/>
          </a:solidFill>
          <a:ln/>
        </p:spPr>
      </p:sp>
      <p:sp>
        <p:nvSpPr>
          <p:cNvPr id="98" name="Text 96"/>
          <p:cNvSpPr/>
          <p:nvPr/>
        </p:nvSpPr>
        <p:spPr>
          <a:xfrm>
            <a:off x="4901184" y="4854550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X1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5248656" y="480517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69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CTA面接Agent ― 認知タスク分析で「なぜ・何を見て」を対話取得。書かせない・話す/撮るまで</a:t>
            </a:r>
            <a:endParaRPr lang="en-US" sz="690" dirty="0"/>
          </a:p>
        </p:txBody>
      </p:sp>
      <p:sp>
        <p:nvSpPr>
          <p:cNvPr id="100" name="Shape 98"/>
          <p:cNvSpPr/>
          <p:nvPr/>
        </p:nvSpPr>
        <p:spPr>
          <a:xfrm>
            <a:off x="4901184" y="5257800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6D4FA1"/>
          </a:solidFill>
          <a:ln/>
        </p:spPr>
      </p:sp>
      <p:sp>
        <p:nvSpPr>
          <p:cNvPr id="101" name="Text 99"/>
          <p:cNvSpPr/>
          <p:nvPr/>
        </p:nvSpPr>
        <p:spPr>
          <a:xfrm>
            <a:off x="4901184" y="5247742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X2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5248656" y="519836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69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構造化Agent ― E1/E2/E4からSK草案（行為・手掛かり・判断・例外）を生成。確定は常に人</a:t>
            </a:r>
            <a:endParaRPr lang="en-US" sz="690" dirty="0"/>
          </a:p>
        </p:txBody>
      </p:sp>
      <p:sp>
        <p:nvSpPr>
          <p:cNvPr id="103" name="Shape 101"/>
          <p:cNvSpPr/>
          <p:nvPr/>
        </p:nvSpPr>
        <p:spPr>
          <a:xfrm>
            <a:off x="4901184" y="565099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6D4FA1"/>
          </a:solidFill>
          <a:ln/>
        </p:spPr>
      </p:sp>
      <p:sp>
        <p:nvSpPr>
          <p:cNvPr id="104" name="Text 102"/>
          <p:cNvSpPr/>
          <p:nvPr/>
        </p:nvSpPr>
        <p:spPr>
          <a:xfrm>
            <a:off x="4901184" y="564093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X3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5248656" y="559155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69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承認WF Agent ― K13の状態遷移を運転。失効イベント（設備更新等）で自動Suspended</a:t>
            </a:r>
            <a:endParaRPr lang="en-US" sz="690" dirty="0"/>
          </a:p>
        </p:txBody>
      </p:sp>
      <p:sp>
        <p:nvSpPr>
          <p:cNvPr id="106" name="Shape 104"/>
          <p:cNvSpPr/>
          <p:nvPr/>
        </p:nvSpPr>
        <p:spPr>
          <a:xfrm>
            <a:off x="8613648" y="1115568"/>
            <a:ext cx="3319272" cy="2103120"/>
          </a:xfrm>
          <a:prstGeom prst="roundRect">
            <a:avLst>
              <a:gd name="adj" fmla="val 2174"/>
            </a:avLst>
          </a:prstGeom>
          <a:solidFill>
            <a:srgbClr val="EAF4EE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732520" y="1188720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F7D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SoAのデータ構成 ― H6 queueが持つ5種</a:t>
            </a:r>
            <a:endParaRPr lang="en-US" sz="960" dirty="0"/>
          </a:p>
        </p:txBody>
      </p:sp>
      <p:sp>
        <p:nvSpPr>
          <p:cNvPr id="108" name="Text 106"/>
          <p:cNvSpPr/>
          <p:nvPr/>
        </p:nvSpPr>
        <p:spPr>
          <a:xfrm>
            <a:off x="8732520" y="1426464"/>
            <a:ext cx="308152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76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task契約：</a:t>
            </a:r>
            <a:pPr indent="0" marL="0">
              <a:lnSpc>
                <a:spcPct val="116000"/>
              </a:lnSpc>
              <a:buNone/>
            </a:pPr>
            <a:r>
              <a:rPr lang="en-US" sz="76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変更範囲・受入条件・検証方法</a:t>
            </a:r>
            <a:endParaRPr lang="en-US" sz="76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76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探索ログ：</a:t>
            </a:r>
            <a:pPr indent="0" marL="0">
              <a:lnSpc>
                <a:spcPct val="116000"/>
              </a:lnSpc>
              <a:buNone/>
            </a:pPr>
            <a:r>
              <a:rPr lang="en-US" sz="76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仮説・出典・採点の全過程</a:t>
            </a:r>
            <a:endParaRPr lang="en-US" sz="76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76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検証ログ：</a:t>
            </a:r>
            <a:pPr indent="0" marL="0">
              <a:lnSpc>
                <a:spcPct val="116000"/>
              </a:lnSpc>
              <a:buNone/>
            </a:pPr>
            <a:r>
              <a:rPr lang="en-US" sz="76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ゲート通過/不合格の機械記録</a:t>
            </a:r>
            <a:endParaRPr lang="en-US" sz="76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76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審査記録：</a:t>
            </a:r>
            <a:pPr indent="0" marL="0">
              <a:lnSpc>
                <a:spcPct val="116000"/>
              </a:lnSpc>
              <a:buNone/>
            </a:pPr>
            <a:r>
              <a:rPr lang="en-US" sz="76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OK / FIX / ASK_LEAD と根拠</a:t>
            </a:r>
            <a:endParaRPr lang="en-US" sz="76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76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運用ログ：</a:t>
            </a:r>
            <a:pPr indent="0" marL="0">
              <a:lnSpc>
                <a:spcPct val="116000"/>
              </a:lnSpc>
              <a:buNone/>
            </a:pPr>
            <a:r>
              <a:rPr lang="en-US" sz="76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実行結果・失敗報告 ― F-IIIの入力</a:t>
            </a:r>
            <a:endParaRPr lang="en-US" sz="76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760" b="1" dirty="0">
                <a:solidFill>
                  <a:srgbClr val="2F7D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すべて ● AI生成知（緑）。集める手間ゼロで毎日たまり、file正本として監査に耐える。</a:t>
            </a:r>
            <a:endParaRPr lang="en-US" sz="760" dirty="0"/>
          </a:p>
        </p:txBody>
      </p:sp>
      <p:sp>
        <p:nvSpPr>
          <p:cNvPr id="109" name="Shape 107"/>
          <p:cNvSpPr/>
          <p:nvPr/>
        </p:nvSpPr>
        <p:spPr>
          <a:xfrm>
            <a:off x="8613648" y="3328416"/>
            <a:ext cx="3319272" cy="2724912"/>
          </a:xfrm>
          <a:prstGeom prst="roundRect">
            <a:avLst>
              <a:gd name="adj" fmla="val 1678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732520" y="3401568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フロー対応（どの部品が・どこで動くか）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8732520" y="3675888"/>
            <a:ext cx="713232" cy="274320"/>
          </a:xfrm>
          <a:prstGeom prst="roundRect">
            <a:avLst>
              <a:gd name="adj" fmla="val 13333"/>
            </a:avLst>
          </a:prstGeom>
          <a:solidFill>
            <a:srgbClr val="2F7D4F"/>
          </a:solidFill>
          <a:ln/>
        </p:spPr>
      </p:sp>
      <p:sp>
        <p:nvSpPr>
          <p:cNvPr id="112" name="Text 110"/>
          <p:cNvSpPr/>
          <p:nvPr/>
        </p:nvSpPr>
        <p:spPr>
          <a:xfrm>
            <a:off x="8732520" y="366674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F-I 取込</a:t>
            </a:r>
            <a:endParaRPr lang="en-US" sz="760" dirty="0"/>
          </a:p>
        </p:txBody>
      </p:sp>
      <p:sp>
        <p:nvSpPr>
          <p:cNvPr id="113" name="Text 111"/>
          <p:cNvSpPr/>
          <p:nvPr/>
        </p:nvSpPr>
        <p:spPr>
          <a:xfrm>
            <a:off x="9537192" y="3557016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4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X1 面接 → X2 構造化 → X3/U5 承認。やり方はH2 SKILLSへ、事実はSK/K7へ格納</a:t>
            </a:r>
            <a:endParaRPr lang="en-US" sz="740" dirty="0"/>
          </a:p>
        </p:txBody>
      </p:sp>
      <p:sp>
        <p:nvSpPr>
          <p:cNvPr id="114" name="Shape 112"/>
          <p:cNvSpPr/>
          <p:nvPr/>
        </p:nvSpPr>
        <p:spPr>
          <a:xfrm>
            <a:off x="8732520" y="4462272"/>
            <a:ext cx="713232" cy="274320"/>
          </a:xfrm>
          <a:prstGeom prst="roundRect">
            <a:avLst>
              <a:gd name="adj" fmla="val 13333"/>
            </a:avLst>
          </a:prstGeom>
          <a:solidFill>
            <a:srgbClr val="C96A1B"/>
          </a:solidFill>
          <a:ln/>
        </p:spPr>
      </p:sp>
      <p:sp>
        <p:nvSpPr>
          <p:cNvPr id="115" name="Text 113"/>
          <p:cNvSpPr/>
          <p:nvPr/>
        </p:nvSpPr>
        <p:spPr>
          <a:xfrm>
            <a:off x="8732520" y="4453128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F-II 実行</a:t>
            </a:r>
            <a:endParaRPr lang="en-US" sz="760" dirty="0"/>
          </a:p>
        </p:txBody>
      </p:sp>
      <p:sp>
        <p:nvSpPr>
          <p:cNvPr id="116" name="Text 114"/>
          <p:cNvSpPr/>
          <p:nvPr/>
        </p:nvSpPr>
        <p:spPr>
          <a:xfrm>
            <a:off x="9537192" y="434340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4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A1→A2→G1→A3→A1 の5工程。読む先は中間層＋H棚、書く先はH6のみ</a:t>
            </a:r>
            <a:endParaRPr lang="en-US" sz="740" dirty="0"/>
          </a:p>
        </p:txBody>
      </p:sp>
      <p:sp>
        <p:nvSpPr>
          <p:cNvPr id="117" name="Shape 115"/>
          <p:cNvSpPr/>
          <p:nvPr/>
        </p:nvSpPr>
        <p:spPr>
          <a:xfrm>
            <a:off x="8732520" y="5248656"/>
            <a:ext cx="713232" cy="27432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/>
        </p:spPr>
      </p:sp>
      <p:sp>
        <p:nvSpPr>
          <p:cNvPr id="118" name="Text 116"/>
          <p:cNvSpPr/>
          <p:nvPr/>
        </p:nvSpPr>
        <p:spPr>
          <a:xfrm>
            <a:off x="8732520" y="5239512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F-III 還流</a:t>
            </a:r>
            <a:endParaRPr lang="en-US" sz="760" dirty="0"/>
          </a:p>
        </p:txBody>
      </p:sp>
      <p:sp>
        <p:nvSpPr>
          <p:cNvPr id="119" name="Text 117"/>
          <p:cNvSpPr/>
          <p:nvPr/>
        </p:nvSpPr>
        <p:spPr>
          <a:xfrm>
            <a:off x="9537192" y="5129784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74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H6運用ログ→AIが改善案→harnessテスト→U5承認→H1/H2/G1改訂（Gated RSI）</a:t>
            </a:r>
            <a:endParaRPr lang="en-US" sz="740" dirty="0"/>
          </a:p>
        </p:txBody>
      </p:sp>
      <p:sp>
        <p:nvSpPr>
          <p:cNvPr id="120" name="Text 118"/>
          <p:cNvSpPr/>
          <p:nvPr/>
        </p:nvSpPr>
        <p:spPr>
          <a:xfrm>
            <a:off x="301752" y="6126480"/>
            <a:ext cx="115881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X1〜X3は旧・協業前提部品（ヒアリングAI・先輩AI）の置換。CTA（認知タスク分析）＋人の確定権限という標準手法で自社開発し、基盤の標準部品として全顧客に再利用する</a:t>
            </a:r>
            <a:endParaRPr lang="en-US" sz="700" dirty="0"/>
          </a:p>
        </p:txBody>
      </p:sp>
      <p:sp>
        <p:nvSpPr>
          <p:cNvPr id="121" name="Shape 119"/>
          <p:cNvSpPr/>
          <p:nvPr/>
        </p:nvSpPr>
        <p:spPr>
          <a:xfrm>
            <a:off x="256032" y="6391656"/>
            <a:ext cx="11679631" cy="365760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122" name="Text 120"/>
          <p:cNvSpPr/>
          <p:nvPr/>
        </p:nvSpPr>
        <p:spPr>
          <a:xfrm>
            <a:off x="438912" y="6391656"/>
            <a:ext cx="113138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エージェントは無個性のまま ― 個別の賢さはH棚と中間層にあり、queueが実行の正本として全工程を監査可能にする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09728"/>
            <a:ext cx="11679631" cy="475488"/>
          </a:xfrm>
          <a:prstGeom prst="roundRect">
            <a:avLst>
              <a:gd name="adj" fmla="val 9615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20624" y="10972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SoA AIエージェント層 完全版 ｜ ④ 中間層 ― コンポーネント構成とデータ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98003" y="205740"/>
            <a:ext cx="882396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798003" y="205740"/>
            <a:ext cx="8823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テクノプロ内製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753551" y="205740"/>
            <a:ext cx="1056132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753551" y="205740"/>
            <a:ext cx="10561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自社開発・継承部品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9882835" y="205740"/>
            <a:ext cx="969264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882835" y="205740"/>
            <a:ext cx="969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決定済プロダクト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0925251" y="205740"/>
            <a:ext cx="882396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925251" y="205740"/>
            <a:ext cx="8823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既製品・投資先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01752" y="640080"/>
            <a:ext cx="115881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中間層は『定義×解釈』の12棚に、知識オブジェクト（SK）と承認状態遷移（K13）を加えた継承の正本 ― Standardになって初めて配信される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56032" y="102412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全体図の位置（P.2）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56032" y="1225296"/>
            <a:ext cx="1024128" cy="402336"/>
          </a:xfrm>
          <a:prstGeom prst="roundRect">
            <a:avLst>
              <a:gd name="adj" fmla="val 9091"/>
            </a:avLst>
          </a:prstGeom>
          <a:solidFill>
            <a:srgbClr val="F1F3F6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225296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9A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1696212"/>
            <a:ext cx="1024128" cy="713232"/>
          </a:xfrm>
          <a:prstGeom prst="roundRect">
            <a:avLst>
              <a:gd name="adj" fmla="val 5128"/>
            </a:avLst>
          </a:prstGeom>
          <a:solidFill>
            <a:srgbClr val="F1F3F6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1696212"/>
            <a:ext cx="1024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9A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478024"/>
            <a:ext cx="1024128" cy="274320"/>
          </a:xfrm>
          <a:prstGeom prst="roundRect">
            <a:avLst>
              <a:gd name="adj" fmla="val 13333"/>
            </a:avLst>
          </a:prstGeom>
          <a:solidFill>
            <a:srgbClr val="F1F3F6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47802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9A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標準I/F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2820924"/>
            <a:ext cx="1024128" cy="603504"/>
          </a:xfrm>
          <a:prstGeom prst="roundRect">
            <a:avLst>
              <a:gd name="adj" fmla="val 6061"/>
            </a:avLst>
          </a:prstGeom>
          <a:solidFill>
            <a:srgbClr val="0E7C86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820924"/>
            <a:ext cx="1024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中間層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6032" y="3493008"/>
            <a:ext cx="1024128" cy="566928"/>
          </a:xfrm>
          <a:prstGeom prst="roundRect">
            <a:avLst>
              <a:gd name="adj" fmla="val 6452"/>
            </a:avLst>
          </a:prstGeom>
          <a:solidFill>
            <a:srgbClr val="F1F3F6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493008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9A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SoR＋暗黙知</a:t>
            </a:r>
            <a:endParaRPr lang="en-US" sz="72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9A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技術継承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1481328" y="1097280"/>
            <a:ext cx="2304288" cy="237744"/>
          </a:xfrm>
          <a:prstGeom prst="roundRect">
            <a:avLst>
              <a:gd name="adj" fmla="val 19231"/>
            </a:avLst>
          </a:prstGeom>
          <a:solidFill>
            <a:srgbClr val="E9F5F6"/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81328" y="108813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オントロジー『定義』｜ 凍結（◆）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1481328" y="1408176"/>
            <a:ext cx="2304288" cy="57607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545336" y="146761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28" name="Text 26"/>
          <p:cNvSpPr/>
          <p:nvPr/>
        </p:nvSpPr>
        <p:spPr>
          <a:xfrm>
            <a:off x="1545336" y="145755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901952" y="14264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クラス階層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1563624" y="1682496"/>
            <a:ext cx="2148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6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設備・工程・部品・故障モード・技能の分類体系</a:t>
            </a:r>
            <a:endParaRPr lang="en-US" sz="660" dirty="0"/>
          </a:p>
        </p:txBody>
      </p:sp>
      <p:sp>
        <p:nvSpPr>
          <p:cNvPr id="31" name="Shape 29"/>
          <p:cNvSpPr/>
          <p:nvPr/>
        </p:nvSpPr>
        <p:spPr>
          <a:xfrm>
            <a:off x="1481328" y="2048256"/>
            <a:ext cx="2304288" cy="57607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45336" y="210769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33" name="Text 31"/>
          <p:cNvSpPr/>
          <p:nvPr/>
        </p:nvSpPr>
        <p:spPr>
          <a:xfrm>
            <a:off x="1545336" y="209763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901952" y="206654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関係定義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1563624" y="2322576"/>
            <a:ext cx="2148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6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「一部である」「引き起こす」等 ― つながり方の型</a:t>
            </a:r>
            <a:endParaRPr lang="en-US" sz="660" dirty="0"/>
          </a:p>
        </p:txBody>
      </p:sp>
      <p:sp>
        <p:nvSpPr>
          <p:cNvPr id="36" name="Shape 34"/>
          <p:cNvSpPr/>
          <p:nvPr/>
        </p:nvSpPr>
        <p:spPr>
          <a:xfrm>
            <a:off x="1481328" y="2688336"/>
            <a:ext cx="2304288" cy="57607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545336" y="274777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38" name="Text 36"/>
          <p:cNvSpPr/>
          <p:nvPr/>
        </p:nvSpPr>
        <p:spPr>
          <a:xfrm>
            <a:off x="1545336" y="273771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K3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901952" y="270662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制約・ルール</a:t>
            </a:r>
            <a:endParaRPr lang="en-US" sz="840" dirty="0"/>
          </a:p>
        </p:txBody>
      </p:sp>
      <p:sp>
        <p:nvSpPr>
          <p:cNvPr id="40" name="Text 38"/>
          <p:cNvSpPr/>
          <p:nvPr/>
        </p:nvSpPr>
        <p:spPr>
          <a:xfrm>
            <a:off x="1563624" y="2962656"/>
            <a:ext cx="2148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6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順序・時間・状態・停止の制約 ― G1/M5の照合先</a:t>
            </a:r>
            <a:endParaRPr lang="en-US" sz="660" dirty="0"/>
          </a:p>
        </p:txBody>
      </p:sp>
      <p:sp>
        <p:nvSpPr>
          <p:cNvPr id="41" name="Shape 39"/>
          <p:cNvSpPr/>
          <p:nvPr/>
        </p:nvSpPr>
        <p:spPr>
          <a:xfrm>
            <a:off x="1481328" y="3328416"/>
            <a:ext cx="2304288" cy="57607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545336" y="338785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43" name="Text 41"/>
          <p:cNvSpPr/>
          <p:nvPr/>
        </p:nvSpPr>
        <p:spPr>
          <a:xfrm>
            <a:off x="1545336" y="337779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1901952" y="334670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用語辞書</a:t>
            </a:r>
            <a:endParaRPr lang="en-US" sz="840" dirty="0"/>
          </a:p>
        </p:txBody>
      </p:sp>
      <p:sp>
        <p:nvSpPr>
          <p:cNvPr id="45" name="Text 43"/>
          <p:cNvSpPr/>
          <p:nvPr/>
        </p:nvSpPr>
        <p:spPr>
          <a:xfrm>
            <a:off x="1563624" y="3602736"/>
            <a:ext cx="2148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6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現場語・略語・表記ゆれを正式名に統一</a:t>
            </a:r>
            <a:endParaRPr lang="en-US" sz="660" dirty="0"/>
          </a:p>
        </p:txBody>
      </p:sp>
      <p:sp>
        <p:nvSpPr>
          <p:cNvPr id="46" name="Shape 44"/>
          <p:cNvSpPr/>
          <p:nvPr/>
        </p:nvSpPr>
        <p:spPr>
          <a:xfrm>
            <a:off x="3877056" y="1097280"/>
            <a:ext cx="2304288" cy="237744"/>
          </a:xfrm>
          <a:prstGeom prst="roundRect">
            <a:avLst>
              <a:gd name="adj" fmla="val 19231"/>
            </a:avLst>
          </a:prstGeom>
          <a:solidFill>
            <a:srgbClr val="E9F5F6"/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77056" y="108813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ナレッジグラフ『解釈』｜ 継続更新（●）</a:t>
            </a:r>
            <a:endParaRPr lang="en-US" sz="740" dirty="0"/>
          </a:p>
        </p:txBody>
      </p:sp>
      <p:sp>
        <p:nvSpPr>
          <p:cNvPr id="48" name="Shape 46"/>
          <p:cNvSpPr/>
          <p:nvPr/>
        </p:nvSpPr>
        <p:spPr>
          <a:xfrm>
            <a:off x="3877056" y="1408176"/>
            <a:ext cx="2304288" cy="57607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941064" y="146761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50" name="Text 48"/>
          <p:cNvSpPr/>
          <p:nvPr/>
        </p:nvSpPr>
        <p:spPr>
          <a:xfrm>
            <a:off x="3941064" y="145755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K5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297680" y="14264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インスタンス</a:t>
            </a:r>
            <a:endParaRPr lang="en-US" sz="840" dirty="0"/>
          </a:p>
        </p:txBody>
      </p:sp>
      <p:sp>
        <p:nvSpPr>
          <p:cNvPr id="52" name="Text 50"/>
          <p:cNvSpPr/>
          <p:nvPr/>
        </p:nvSpPr>
        <p:spPr>
          <a:xfrm>
            <a:off x="3959352" y="1682496"/>
            <a:ext cx="2148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6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実在の設備・案件・文書・人をノード化</a:t>
            </a:r>
            <a:endParaRPr lang="en-US" sz="660" dirty="0"/>
          </a:p>
        </p:txBody>
      </p:sp>
      <p:sp>
        <p:nvSpPr>
          <p:cNvPr id="53" name="Shape 51"/>
          <p:cNvSpPr/>
          <p:nvPr/>
        </p:nvSpPr>
        <p:spPr>
          <a:xfrm>
            <a:off x="3877056" y="2048256"/>
            <a:ext cx="2304288" cy="57607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941064" y="210769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55" name="Text 53"/>
          <p:cNvSpPr/>
          <p:nvPr/>
        </p:nvSpPr>
        <p:spPr>
          <a:xfrm>
            <a:off x="3941064" y="209763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K6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297680" y="206654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イベント履歴</a:t>
            </a:r>
            <a:endParaRPr lang="en-US" sz="840" dirty="0"/>
          </a:p>
        </p:txBody>
      </p:sp>
      <p:sp>
        <p:nvSpPr>
          <p:cNvPr id="57" name="Text 55"/>
          <p:cNvSpPr/>
          <p:nvPr/>
        </p:nvSpPr>
        <p:spPr>
          <a:xfrm>
            <a:off x="3959352" y="2322576"/>
            <a:ext cx="2148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6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稼働・保全・不具合の時系列を関係で記録</a:t>
            </a:r>
            <a:endParaRPr lang="en-US" sz="660" dirty="0"/>
          </a:p>
        </p:txBody>
      </p:sp>
      <p:sp>
        <p:nvSpPr>
          <p:cNvPr id="58" name="Shape 56"/>
          <p:cNvSpPr/>
          <p:nvPr/>
        </p:nvSpPr>
        <p:spPr>
          <a:xfrm>
            <a:off x="3877056" y="2688336"/>
            <a:ext cx="2304288" cy="57607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941064" y="274777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60" name="Text 58"/>
          <p:cNvSpPr/>
          <p:nvPr/>
        </p:nvSpPr>
        <p:spPr>
          <a:xfrm>
            <a:off x="3941064" y="273771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K7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4297680" y="270662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過去トラ・知見</a:t>
            </a:r>
            <a:endParaRPr lang="en-US" sz="840" dirty="0"/>
          </a:p>
        </p:txBody>
      </p:sp>
      <p:sp>
        <p:nvSpPr>
          <p:cNvPr id="62" name="Text 60"/>
          <p:cNvSpPr/>
          <p:nvPr/>
        </p:nvSpPr>
        <p:spPr>
          <a:xfrm>
            <a:off x="3959352" y="2962656"/>
            <a:ext cx="2148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6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失敗事例と対策をリンク ― H2 SKILLSの源泉</a:t>
            </a:r>
            <a:endParaRPr lang="en-US" sz="660" dirty="0"/>
          </a:p>
        </p:txBody>
      </p:sp>
      <p:sp>
        <p:nvSpPr>
          <p:cNvPr id="63" name="Shape 61"/>
          <p:cNvSpPr/>
          <p:nvPr/>
        </p:nvSpPr>
        <p:spPr>
          <a:xfrm>
            <a:off x="3877056" y="3328416"/>
            <a:ext cx="2304288" cy="57607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941064" y="338785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65" name="Text 63"/>
          <p:cNvSpPr/>
          <p:nvPr/>
        </p:nvSpPr>
        <p:spPr>
          <a:xfrm>
            <a:off x="3941064" y="337779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K8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297680" y="334670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根拠リンク</a:t>
            </a:r>
            <a:endParaRPr lang="en-US" sz="840" dirty="0"/>
          </a:p>
        </p:txBody>
      </p:sp>
      <p:sp>
        <p:nvSpPr>
          <p:cNvPr id="67" name="Text 65"/>
          <p:cNvSpPr/>
          <p:nvPr/>
        </p:nvSpPr>
        <p:spPr>
          <a:xfrm>
            <a:off x="3959352" y="3602736"/>
            <a:ext cx="2148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6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全知識に出典を必須紐づけ ― 終点はE3・SoR</a:t>
            </a:r>
            <a:endParaRPr lang="en-US" sz="660" dirty="0"/>
          </a:p>
        </p:txBody>
      </p:sp>
      <p:sp>
        <p:nvSpPr>
          <p:cNvPr id="68" name="Shape 66"/>
          <p:cNvSpPr/>
          <p:nvPr/>
        </p:nvSpPr>
        <p:spPr>
          <a:xfrm>
            <a:off x="6272784" y="1097280"/>
            <a:ext cx="2304288" cy="237744"/>
          </a:xfrm>
          <a:prstGeom prst="roundRect">
            <a:avLst>
              <a:gd name="adj" fmla="val 19231"/>
            </a:avLst>
          </a:prstGeom>
          <a:solidFill>
            <a:srgbClr val="E9F5F6"/>
          </a:solidFill>
          <a:ln w="9525">
            <a:solidFill>
              <a:srgbClr val="0E7C8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272784" y="108813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共通機能群 ｜ 維持装置（⚙）</a:t>
            </a:r>
            <a:endParaRPr lang="en-US" sz="740" dirty="0"/>
          </a:p>
        </p:txBody>
      </p:sp>
      <p:sp>
        <p:nvSpPr>
          <p:cNvPr id="70" name="Shape 68"/>
          <p:cNvSpPr/>
          <p:nvPr/>
        </p:nvSpPr>
        <p:spPr>
          <a:xfrm>
            <a:off x="6272784" y="1408176"/>
            <a:ext cx="2304288" cy="57607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336792" y="146761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72" name="Text 70"/>
          <p:cNvSpPr/>
          <p:nvPr/>
        </p:nvSpPr>
        <p:spPr>
          <a:xfrm>
            <a:off x="6336792" y="145755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K9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6693408" y="142646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セマンティック統合</a:t>
            </a:r>
            <a:endParaRPr lang="en-US" sz="840" dirty="0"/>
          </a:p>
        </p:txBody>
      </p:sp>
      <p:sp>
        <p:nvSpPr>
          <p:cNvPr id="74" name="Text 72"/>
          <p:cNvSpPr/>
          <p:nvPr/>
        </p:nvSpPr>
        <p:spPr>
          <a:xfrm>
            <a:off x="6355080" y="1682496"/>
            <a:ext cx="2148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6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SoR・EPデータを名寄せ・ID解決してグラフ化</a:t>
            </a:r>
            <a:endParaRPr lang="en-US" sz="660" dirty="0"/>
          </a:p>
        </p:txBody>
      </p:sp>
      <p:sp>
        <p:nvSpPr>
          <p:cNvPr id="75" name="Shape 73"/>
          <p:cNvSpPr/>
          <p:nvPr/>
        </p:nvSpPr>
        <p:spPr>
          <a:xfrm>
            <a:off x="6272784" y="2048256"/>
            <a:ext cx="2304288" cy="57607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336792" y="2107692"/>
            <a:ext cx="379476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77" name="Text 75"/>
          <p:cNvSpPr/>
          <p:nvPr/>
        </p:nvSpPr>
        <p:spPr>
          <a:xfrm>
            <a:off x="6336792" y="2097634"/>
            <a:ext cx="3794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K10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771132" y="2066544"/>
            <a:ext cx="17693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推論エンジン</a:t>
            </a:r>
            <a:endParaRPr lang="en-US" sz="840" dirty="0"/>
          </a:p>
        </p:txBody>
      </p:sp>
      <p:sp>
        <p:nvSpPr>
          <p:cNvPr id="79" name="Text 77"/>
          <p:cNvSpPr/>
          <p:nvPr/>
        </p:nvSpPr>
        <p:spPr>
          <a:xfrm>
            <a:off x="6355080" y="2322576"/>
            <a:ext cx="2148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6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関係を辿り、暗黙のつながり・矛盾を検出</a:t>
            </a:r>
            <a:endParaRPr lang="en-US" sz="660" dirty="0"/>
          </a:p>
        </p:txBody>
      </p:sp>
      <p:sp>
        <p:nvSpPr>
          <p:cNvPr id="80" name="Shape 78"/>
          <p:cNvSpPr/>
          <p:nvPr/>
        </p:nvSpPr>
        <p:spPr>
          <a:xfrm>
            <a:off x="6272784" y="2688336"/>
            <a:ext cx="2304288" cy="57607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336792" y="2747772"/>
            <a:ext cx="379476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82" name="Text 80"/>
          <p:cNvSpPr/>
          <p:nvPr/>
        </p:nvSpPr>
        <p:spPr>
          <a:xfrm>
            <a:off x="6336792" y="2737714"/>
            <a:ext cx="3794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K11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771132" y="2706624"/>
            <a:ext cx="17693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ハイブリッド検索</a:t>
            </a:r>
            <a:endParaRPr lang="en-US" sz="840" dirty="0"/>
          </a:p>
        </p:txBody>
      </p:sp>
      <p:sp>
        <p:nvSpPr>
          <p:cNvPr id="84" name="Text 82"/>
          <p:cNvSpPr/>
          <p:nvPr/>
        </p:nvSpPr>
        <p:spPr>
          <a:xfrm>
            <a:off x="6355080" y="2962656"/>
            <a:ext cx="2148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6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ベクトル（意味）×グラフ（構造）の複合索引</a:t>
            </a:r>
            <a:endParaRPr lang="en-US" sz="660" dirty="0"/>
          </a:p>
        </p:txBody>
      </p:sp>
      <p:sp>
        <p:nvSpPr>
          <p:cNvPr id="85" name="Shape 83"/>
          <p:cNvSpPr/>
          <p:nvPr/>
        </p:nvSpPr>
        <p:spPr>
          <a:xfrm>
            <a:off x="6272784" y="3328416"/>
            <a:ext cx="2304288" cy="576072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336792" y="3387852"/>
            <a:ext cx="379476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87" name="Text 85"/>
          <p:cNvSpPr/>
          <p:nvPr/>
        </p:nvSpPr>
        <p:spPr>
          <a:xfrm>
            <a:off x="6336792" y="3377794"/>
            <a:ext cx="3794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K12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6771132" y="3346704"/>
            <a:ext cx="17693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ガバナンス</a:t>
            </a:r>
            <a:endParaRPr lang="en-US" sz="840" dirty="0"/>
          </a:p>
        </p:txBody>
      </p:sp>
      <p:sp>
        <p:nvSpPr>
          <p:cNvPr id="89" name="Text 87"/>
          <p:cNvSpPr/>
          <p:nvPr/>
        </p:nvSpPr>
        <p:spPr>
          <a:xfrm>
            <a:off x="6355080" y="3602736"/>
            <a:ext cx="21488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6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版管理・凍結承認・アクセス制御・監査ログ</a:t>
            </a:r>
            <a:endParaRPr lang="en-US" sz="660" dirty="0"/>
          </a:p>
        </p:txBody>
      </p:sp>
      <p:sp>
        <p:nvSpPr>
          <p:cNvPr id="90" name="Shape 88"/>
          <p:cNvSpPr/>
          <p:nvPr/>
        </p:nvSpPr>
        <p:spPr>
          <a:xfrm>
            <a:off x="8796528" y="1097280"/>
            <a:ext cx="3136392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dash"/>
          </a:ln>
        </p:spPr>
      </p:sp>
      <p:sp>
        <p:nvSpPr>
          <p:cNvPr id="91" name="Text 89"/>
          <p:cNvSpPr/>
          <p:nvPr/>
        </p:nvSpPr>
        <p:spPr>
          <a:xfrm>
            <a:off x="8906256" y="1161288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標準I/F（MCP・自社設計）― 唯一の窓口</a:t>
            </a:r>
            <a:endParaRPr lang="en-US" sz="880" dirty="0"/>
          </a:p>
        </p:txBody>
      </p:sp>
      <p:sp>
        <p:nvSpPr>
          <p:cNvPr id="92" name="Shape 90"/>
          <p:cNvSpPr/>
          <p:nvPr/>
        </p:nvSpPr>
        <p:spPr>
          <a:xfrm>
            <a:off x="8906256" y="139903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93" name="Text 91"/>
          <p:cNvSpPr/>
          <p:nvPr/>
        </p:nvSpPr>
        <p:spPr>
          <a:xfrm>
            <a:off x="8906256" y="138897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M1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9253728" y="1371600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意味検索 ― 表記ゆれを越えて意味で探す</a:t>
            </a:r>
            <a:endParaRPr lang="en-US" sz="720" dirty="0"/>
          </a:p>
        </p:txBody>
      </p:sp>
      <p:sp>
        <p:nvSpPr>
          <p:cNvPr id="95" name="Shape 93"/>
          <p:cNvSpPr/>
          <p:nvPr/>
        </p:nvSpPr>
        <p:spPr>
          <a:xfrm>
            <a:off x="8906256" y="162763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96" name="Text 94"/>
          <p:cNvSpPr/>
          <p:nvPr/>
        </p:nvSpPr>
        <p:spPr>
          <a:xfrm>
            <a:off x="8906256" y="161757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M2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9253728" y="1600200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グラフ探索 ― 知識のつながりを辿る</a:t>
            </a:r>
            <a:endParaRPr lang="en-US" sz="720" dirty="0"/>
          </a:p>
        </p:txBody>
      </p:sp>
      <p:sp>
        <p:nvSpPr>
          <p:cNvPr id="98" name="Shape 96"/>
          <p:cNvSpPr/>
          <p:nvPr/>
        </p:nvSpPr>
        <p:spPr>
          <a:xfrm>
            <a:off x="8906256" y="185623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99" name="Text 97"/>
          <p:cNvSpPr/>
          <p:nvPr/>
        </p:nvSpPr>
        <p:spPr>
          <a:xfrm>
            <a:off x="8906256" y="184617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M3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9253728" y="1828800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文脈取得 ― いまの状況・履歴を得る</a:t>
            </a:r>
            <a:endParaRPr lang="en-US" sz="720" dirty="0"/>
          </a:p>
        </p:txBody>
      </p:sp>
      <p:sp>
        <p:nvSpPr>
          <p:cNvPr id="101" name="Shape 99"/>
          <p:cNvSpPr/>
          <p:nvPr/>
        </p:nvSpPr>
        <p:spPr>
          <a:xfrm>
            <a:off x="8906256" y="208483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102" name="Text 100"/>
          <p:cNvSpPr/>
          <p:nvPr/>
        </p:nvSpPr>
        <p:spPr>
          <a:xfrm>
            <a:off x="8906256" y="207477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M4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9253728" y="2057400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書き戻し ― 学びを検証付きで蓄積</a:t>
            </a:r>
            <a:endParaRPr lang="en-US" sz="720" dirty="0"/>
          </a:p>
        </p:txBody>
      </p:sp>
      <p:sp>
        <p:nvSpPr>
          <p:cNvPr id="104" name="Shape 102"/>
          <p:cNvSpPr/>
          <p:nvPr/>
        </p:nvSpPr>
        <p:spPr>
          <a:xfrm>
            <a:off x="8906256" y="231343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105" name="Text 103"/>
          <p:cNvSpPr/>
          <p:nvPr/>
        </p:nvSpPr>
        <p:spPr>
          <a:xfrm>
            <a:off x="8906256" y="230337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M5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9253728" y="2286000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制約照会 ― K3をAIと独立に機械検証</a:t>
            </a:r>
            <a:endParaRPr lang="en-US" sz="720" dirty="0"/>
          </a:p>
        </p:txBody>
      </p:sp>
      <p:sp>
        <p:nvSpPr>
          <p:cNvPr id="107" name="Shape 105"/>
          <p:cNvSpPr/>
          <p:nvPr/>
        </p:nvSpPr>
        <p:spPr>
          <a:xfrm>
            <a:off x="8796528" y="2688336"/>
            <a:ext cx="3136392" cy="1316736"/>
          </a:xfrm>
          <a:prstGeom prst="roundRect">
            <a:avLst>
              <a:gd name="adj" fmla="val 3472"/>
            </a:avLst>
          </a:prstGeom>
          <a:solidFill>
            <a:srgbClr val="F7F9FC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906256" y="2752344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データ経路の記号（P.7〜P.9で使用）</a:t>
            </a:r>
            <a:endParaRPr lang="en-US" sz="860" dirty="0"/>
          </a:p>
        </p:txBody>
      </p:sp>
      <p:sp>
        <p:nvSpPr>
          <p:cNvPr id="109" name="Text 107"/>
          <p:cNvSpPr/>
          <p:nvPr/>
        </p:nvSpPr>
        <p:spPr>
          <a:xfrm>
            <a:off x="8906256" y="2980944"/>
            <a:ext cx="29169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72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随時 ― </a:t>
            </a:r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事実・解釈は運用で継続書込（K5〜K8）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◆ 凍結 ― </a:t>
            </a:r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定義・制約は版管理＋承認経路のみ（K1〜K4）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b="1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⚙ 装置 ― </a:t>
            </a:r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変換・検索・統制の機構（K9〜K13）</a:t>
            </a:r>
            <a:endParaRPr lang="en-US" sz="7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72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SoRは読むだけで書き換えない ― 中間層は「事実の正本」ではなく「意味の正本」</a:t>
            </a:r>
            <a:endParaRPr lang="en-US" sz="720" dirty="0"/>
          </a:p>
        </p:txBody>
      </p:sp>
      <p:sp>
        <p:nvSpPr>
          <p:cNvPr id="110" name="Shape 108"/>
          <p:cNvSpPr/>
          <p:nvPr/>
        </p:nvSpPr>
        <p:spPr>
          <a:xfrm>
            <a:off x="1481328" y="4096512"/>
            <a:ext cx="7004304" cy="1956816"/>
          </a:xfrm>
          <a:prstGeom prst="roundRect">
            <a:avLst>
              <a:gd name="adj" fmla="val 2336"/>
            </a:avLst>
          </a:prstGeom>
          <a:solidFill>
            <a:srgbClr val="EFEAF7"/>
          </a:solidFill>
          <a:ln w="15875">
            <a:solidFill>
              <a:srgbClr val="6D4FA1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591056" y="418795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6D4FA1"/>
          </a:solidFill>
          <a:ln/>
        </p:spPr>
      </p:sp>
      <p:sp>
        <p:nvSpPr>
          <p:cNvPr id="112" name="Text 110"/>
          <p:cNvSpPr/>
          <p:nvPr/>
        </p:nvSpPr>
        <p:spPr>
          <a:xfrm>
            <a:off x="1591056" y="417789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1938528" y="4142232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知識オブジェクト ― 暗黙知の正本形式（1技能＝1オブジェクト・工程が止まる単位で分割）</a:t>
            </a:r>
            <a:endParaRPr lang="en-US" sz="920" dirty="0"/>
          </a:p>
        </p:txBody>
      </p:sp>
      <p:sp>
        <p:nvSpPr>
          <p:cNvPr id="114" name="Shape 112"/>
          <p:cNvSpPr/>
          <p:nvPr/>
        </p:nvSpPr>
        <p:spPr>
          <a:xfrm>
            <a:off x="1591056" y="4480560"/>
            <a:ext cx="1636776" cy="51206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6D4FA1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645920" y="4494276"/>
            <a:ext cx="1536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SkillObject</a:t>
            </a:r>
            <a:endParaRPr lang="en-US" sz="740" dirty="0"/>
          </a:p>
        </p:txBody>
      </p:sp>
      <p:sp>
        <p:nvSpPr>
          <p:cNvPr id="116" name="Text 114"/>
          <p:cNvSpPr/>
          <p:nvPr/>
        </p:nvSpPr>
        <p:spPr>
          <a:xfrm>
            <a:off x="1645920" y="464972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9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技能ID・工程・目的・前提・版・承認者・確信度</a:t>
            </a:r>
            <a:endParaRPr lang="en-US" sz="590" dirty="0"/>
          </a:p>
        </p:txBody>
      </p:sp>
      <p:sp>
        <p:nvSpPr>
          <p:cNvPr id="117" name="Shape 115"/>
          <p:cNvSpPr/>
          <p:nvPr/>
        </p:nvSpPr>
        <p:spPr>
          <a:xfrm>
            <a:off x="3300984" y="4480560"/>
            <a:ext cx="1636776" cy="51206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6D4FA1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355848" y="4494276"/>
            <a:ext cx="1536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Evidence</a:t>
            </a:r>
            <a:endParaRPr lang="en-US" sz="740" dirty="0"/>
          </a:p>
        </p:txBody>
      </p:sp>
      <p:sp>
        <p:nvSpPr>
          <p:cNvPr id="119" name="Text 117"/>
          <p:cNvSpPr/>
          <p:nvPr/>
        </p:nvSpPr>
        <p:spPr>
          <a:xfrm>
            <a:off x="3355848" y="464972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9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原本URI・時刻区間・ハッシュ・同意範囲（→E3）</a:t>
            </a:r>
            <a:endParaRPr lang="en-US" sz="590" dirty="0"/>
          </a:p>
        </p:txBody>
      </p:sp>
      <p:sp>
        <p:nvSpPr>
          <p:cNvPr id="120" name="Shape 118"/>
          <p:cNvSpPr/>
          <p:nvPr/>
        </p:nvSpPr>
        <p:spPr>
          <a:xfrm>
            <a:off x="5010912" y="4480560"/>
            <a:ext cx="1636776" cy="51206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6D4FA1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065776" y="4494276"/>
            <a:ext cx="1536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Action</a:t>
            </a:r>
            <a:endParaRPr lang="en-US" sz="740" dirty="0"/>
          </a:p>
        </p:txBody>
      </p:sp>
      <p:sp>
        <p:nvSpPr>
          <p:cNvPr id="122" name="Text 120"/>
          <p:cNvSpPr/>
          <p:nvPr/>
        </p:nvSpPr>
        <p:spPr>
          <a:xfrm>
            <a:off x="5065776" y="464972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9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主体・工具・対象・動作・力/設定・所要時間</a:t>
            </a:r>
            <a:endParaRPr lang="en-US" sz="590" dirty="0"/>
          </a:p>
        </p:txBody>
      </p:sp>
      <p:sp>
        <p:nvSpPr>
          <p:cNvPr id="123" name="Shape 121"/>
          <p:cNvSpPr/>
          <p:nvPr/>
        </p:nvSpPr>
        <p:spPr>
          <a:xfrm>
            <a:off x="6720840" y="4480560"/>
            <a:ext cx="1636776" cy="51206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6D4FA1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775704" y="4494276"/>
            <a:ext cx="1536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Cue</a:t>
            </a:r>
            <a:endParaRPr lang="en-US" sz="740" dirty="0"/>
          </a:p>
        </p:txBody>
      </p:sp>
      <p:sp>
        <p:nvSpPr>
          <p:cNvPr id="125" name="Text 123"/>
          <p:cNvSpPr/>
          <p:nvPr/>
        </p:nvSpPr>
        <p:spPr>
          <a:xfrm>
            <a:off x="6775704" y="4649724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9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視覚・音・触覚・設備信号・正常域/閾値</a:t>
            </a:r>
            <a:endParaRPr lang="en-US" sz="590" dirty="0"/>
          </a:p>
        </p:txBody>
      </p:sp>
      <p:sp>
        <p:nvSpPr>
          <p:cNvPr id="126" name="Shape 124"/>
          <p:cNvSpPr/>
          <p:nvPr/>
        </p:nvSpPr>
        <p:spPr>
          <a:xfrm>
            <a:off x="1591056" y="5047488"/>
            <a:ext cx="1636776" cy="51206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6D4FA1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645920" y="5061204"/>
            <a:ext cx="1536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Decision</a:t>
            </a:r>
            <a:endParaRPr lang="en-US" sz="740" dirty="0"/>
          </a:p>
        </p:txBody>
      </p:sp>
      <p:sp>
        <p:nvSpPr>
          <p:cNvPr id="128" name="Text 126"/>
          <p:cNvSpPr/>
          <p:nvPr/>
        </p:nvSpPr>
        <p:spPr>
          <a:xfrm>
            <a:off x="1645920" y="5216652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9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代替案・選択・理由・トレードオフ・不確実性</a:t>
            </a:r>
            <a:endParaRPr lang="en-US" sz="590" dirty="0"/>
          </a:p>
        </p:txBody>
      </p:sp>
      <p:sp>
        <p:nvSpPr>
          <p:cNvPr id="129" name="Shape 127"/>
          <p:cNvSpPr/>
          <p:nvPr/>
        </p:nvSpPr>
        <p:spPr>
          <a:xfrm>
            <a:off x="3300984" y="5047488"/>
            <a:ext cx="1636776" cy="51206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6D4FA1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3355848" y="5061204"/>
            <a:ext cx="1536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Exception</a:t>
            </a:r>
            <a:endParaRPr lang="en-US" sz="740" dirty="0"/>
          </a:p>
        </p:txBody>
      </p:sp>
      <p:sp>
        <p:nvSpPr>
          <p:cNvPr id="131" name="Text 129"/>
          <p:cNvSpPr/>
          <p:nvPr/>
        </p:nvSpPr>
        <p:spPr>
          <a:xfrm>
            <a:off x="3355848" y="5216652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9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引き金・リスク・復旧手順・停止条件</a:t>
            </a:r>
            <a:endParaRPr lang="en-US" sz="590" dirty="0"/>
          </a:p>
        </p:txBody>
      </p:sp>
      <p:sp>
        <p:nvSpPr>
          <p:cNvPr id="132" name="Shape 130"/>
          <p:cNvSpPr/>
          <p:nvPr/>
        </p:nvSpPr>
        <p:spPr>
          <a:xfrm>
            <a:off x="5010912" y="5047488"/>
            <a:ext cx="1636776" cy="512064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0160">
            <a:solidFill>
              <a:srgbClr val="6D4FA1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065776" y="5061204"/>
            <a:ext cx="1536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Outcome</a:t>
            </a:r>
            <a:endParaRPr lang="en-US" sz="740" dirty="0"/>
          </a:p>
        </p:txBody>
      </p:sp>
      <p:sp>
        <p:nvSpPr>
          <p:cNvPr id="134" name="Text 132"/>
          <p:cNvSpPr/>
          <p:nvPr/>
        </p:nvSpPr>
        <p:spPr>
          <a:xfrm>
            <a:off x="5065776" y="5216652"/>
            <a:ext cx="1536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9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品質・時間・安全・手直し・観測遅れ</a:t>
            </a:r>
            <a:endParaRPr lang="en-US" sz="590" dirty="0"/>
          </a:p>
        </p:txBody>
      </p:sp>
      <p:sp>
        <p:nvSpPr>
          <p:cNvPr id="135" name="Text 133"/>
          <p:cNvSpPr/>
          <p:nvPr/>
        </p:nvSpPr>
        <p:spPr>
          <a:xfrm>
            <a:off x="3310128" y="561441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66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必須：証拠・適用条件・責任者・版・失効条件 ― 付かない知識は登録できない。熟練者間の不一致は「条件付き知識」として潰さず保持</a:t>
            </a:r>
            <a:endParaRPr lang="en-US" sz="660" dirty="0"/>
          </a:p>
        </p:txBody>
      </p:sp>
      <p:sp>
        <p:nvSpPr>
          <p:cNvPr id="136" name="Shape 134"/>
          <p:cNvSpPr/>
          <p:nvPr/>
        </p:nvSpPr>
        <p:spPr>
          <a:xfrm>
            <a:off x="8613648" y="4096512"/>
            <a:ext cx="3319272" cy="1956816"/>
          </a:xfrm>
          <a:prstGeom prst="roundRect">
            <a:avLst>
              <a:gd name="adj" fmla="val 2336"/>
            </a:avLst>
          </a:prstGeom>
          <a:solidFill>
            <a:srgbClr val="FFFFFF"/>
          </a:solidFill>
          <a:ln w="15875">
            <a:solidFill>
              <a:srgbClr val="6D4FA1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8723376" y="4187952"/>
            <a:ext cx="379476" cy="182880"/>
          </a:xfrm>
          <a:prstGeom prst="roundRect">
            <a:avLst>
              <a:gd name="adj" fmla="val 20000"/>
            </a:avLst>
          </a:prstGeom>
          <a:solidFill>
            <a:srgbClr val="6D4FA1"/>
          </a:solidFill>
          <a:ln/>
        </p:spPr>
      </p:sp>
      <p:sp>
        <p:nvSpPr>
          <p:cNvPr id="138" name="Text 136"/>
          <p:cNvSpPr/>
          <p:nvPr/>
        </p:nvSpPr>
        <p:spPr>
          <a:xfrm>
            <a:off x="8723376" y="4177894"/>
            <a:ext cx="3794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K13</a:t>
            </a:r>
            <a:endParaRPr lang="en-US" sz="800" dirty="0"/>
          </a:p>
        </p:txBody>
      </p:sp>
      <p:sp>
        <p:nvSpPr>
          <p:cNvPr id="139" name="Text 137"/>
          <p:cNvSpPr/>
          <p:nvPr/>
        </p:nvSpPr>
        <p:spPr>
          <a:xfrm>
            <a:off x="9162288" y="414223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承認状態遷移 ― 版・失効の管理</a:t>
            </a:r>
            <a:endParaRPr lang="en-US" sz="920" dirty="0"/>
          </a:p>
        </p:txBody>
      </p:sp>
      <p:sp>
        <p:nvSpPr>
          <p:cNvPr id="140" name="Shape 138"/>
          <p:cNvSpPr/>
          <p:nvPr/>
        </p:nvSpPr>
        <p:spPr>
          <a:xfrm>
            <a:off x="8741664" y="4517136"/>
            <a:ext cx="749808" cy="237744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6D4FA1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8741664" y="45079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</a:t>
            </a:r>
            <a:endParaRPr lang="en-US" sz="660" dirty="0"/>
          </a:p>
        </p:txBody>
      </p:sp>
      <p:sp>
        <p:nvSpPr>
          <p:cNvPr id="142" name="Shape 140"/>
          <p:cNvSpPr/>
          <p:nvPr/>
        </p:nvSpPr>
        <p:spPr>
          <a:xfrm>
            <a:off x="9491472" y="4636008"/>
            <a:ext cx="73152" cy="0"/>
          </a:xfrm>
          <a:prstGeom prst="line">
            <a:avLst/>
          </a:prstGeom>
          <a:noFill/>
          <a:ln w="12700">
            <a:solidFill>
              <a:srgbClr val="6D4FA1"/>
            </a:solidFill>
            <a:prstDash val="solid"/>
            <a:tailEnd type="triangle"/>
          </a:ln>
        </p:spPr>
      </p:sp>
      <p:sp>
        <p:nvSpPr>
          <p:cNvPr id="143" name="Shape 141"/>
          <p:cNvSpPr/>
          <p:nvPr/>
        </p:nvSpPr>
        <p:spPr>
          <a:xfrm>
            <a:off x="9564624" y="4517136"/>
            <a:ext cx="749808" cy="237744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6D4FA1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9564624" y="45079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Candidate</a:t>
            </a:r>
            <a:endParaRPr lang="en-US" sz="660" dirty="0"/>
          </a:p>
        </p:txBody>
      </p:sp>
      <p:sp>
        <p:nvSpPr>
          <p:cNvPr id="145" name="Shape 143"/>
          <p:cNvSpPr/>
          <p:nvPr/>
        </p:nvSpPr>
        <p:spPr>
          <a:xfrm>
            <a:off x="10314432" y="4636008"/>
            <a:ext cx="73152" cy="0"/>
          </a:xfrm>
          <a:prstGeom prst="line">
            <a:avLst/>
          </a:prstGeom>
          <a:noFill/>
          <a:ln w="12700">
            <a:solidFill>
              <a:srgbClr val="6D4FA1"/>
            </a:solidFill>
            <a:prstDash val="solid"/>
            <a:tailEnd type="triangle"/>
          </a:ln>
        </p:spPr>
      </p:sp>
      <p:sp>
        <p:nvSpPr>
          <p:cNvPr id="146" name="Shape 144"/>
          <p:cNvSpPr/>
          <p:nvPr/>
        </p:nvSpPr>
        <p:spPr>
          <a:xfrm>
            <a:off x="10387584" y="4517136"/>
            <a:ext cx="749808" cy="237744"/>
          </a:xfrm>
          <a:prstGeom prst="roundRect">
            <a:avLst>
              <a:gd name="adj" fmla="val 13462"/>
            </a:avLst>
          </a:prstGeom>
          <a:solidFill>
            <a:srgbClr val="FFFFFF"/>
          </a:solidFill>
          <a:ln w="11430">
            <a:solidFill>
              <a:srgbClr val="6D4FA1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10387584" y="45079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Validated</a:t>
            </a:r>
            <a:endParaRPr lang="en-US" sz="660" dirty="0"/>
          </a:p>
        </p:txBody>
      </p:sp>
      <p:sp>
        <p:nvSpPr>
          <p:cNvPr id="148" name="Shape 146"/>
          <p:cNvSpPr/>
          <p:nvPr/>
        </p:nvSpPr>
        <p:spPr>
          <a:xfrm>
            <a:off x="11137392" y="4636008"/>
            <a:ext cx="73152" cy="0"/>
          </a:xfrm>
          <a:prstGeom prst="line">
            <a:avLst/>
          </a:prstGeom>
          <a:noFill/>
          <a:ln w="12700">
            <a:solidFill>
              <a:srgbClr val="6D4FA1"/>
            </a:solidFill>
            <a:prstDash val="solid"/>
            <a:tailEnd type="triangle"/>
          </a:ln>
        </p:spPr>
      </p:sp>
      <p:sp>
        <p:nvSpPr>
          <p:cNvPr id="149" name="Shape 147"/>
          <p:cNvSpPr/>
          <p:nvPr/>
        </p:nvSpPr>
        <p:spPr>
          <a:xfrm>
            <a:off x="11210544" y="4517136"/>
            <a:ext cx="749808" cy="237744"/>
          </a:xfrm>
          <a:prstGeom prst="roundRect">
            <a:avLst>
              <a:gd name="adj" fmla="val 13462"/>
            </a:avLst>
          </a:prstGeom>
          <a:solidFill>
            <a:srgbClr val="6D4FA1"/>
          </a:solidFill>
          <a:ln w="11430">
            <a:solidFill>
              <a:srgbClr val="6D4FA1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1210544" y="4507992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Standard</a:t>
            </a:r>
            <a:endParaRPr lang="en-US" sz="660" dirty="0"/>
          </a:p>
        </p:txBody>
      </p:sp>
      <p:sp>
        <p:nvSpPr>
          <p:cNvPr id="151" name="Text 149"/>
          <p:cNvSpPr/>
          <p:nvPr/>
        </p:nvSpPr>
        <p:spPr>
          <a:xfrm>
            <a:off x="8741664" y="4846320"/>
            <a:ext cx="307238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68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配信されるのはStandardのみ。</a:t>
            </a:r>
            <a:endParaRPr lang="en-US" sz="6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8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Suspended（事故・根拠失効で停止）／Superseded（新版へ差替）／Retired（廃止）を含む7状態。</a:t>
            </a:r>
            <a:endParaRPr lang="en-US" sz="6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8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検証は登録時と配信時の2回。不合格は棄却でなく差し戻し ― 何を足せば通るかを機械が返す。</a:t>
            </a:r>
            <a:endParaRPr lang="en-US" sz="68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8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失効条件を必須属性化 ― 設備更新イベントで該当知識を自動Suspended（X3が運転）。</a:t>
            </a:r>
            <a:endParaRPr lang="en-US" sz="680" dirty="0"/>
          </a:p>
        </p:txBody>
      </p:sp>
      <p:sp>
        <p:nvSpPr>
          <p:cNvPr id="152" name="Text 150"/>
          <p:cNvSpPr/>
          <p:nvPr/>
        </p:nvSpPr>
        <p:spPr>
          <a:xfrm>
            <a:off x="301752" y="6126480"/>
            <a:ext cx="115881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Ontosphere（決定済）を継続採用。ただし正本自社保有・可搬形式・一括エクスポート可を契約条件とし、製品はいつでも再構築可能な「索引」に留める。SK・K13は暗黙知・技術継承のための自社開発拡張</a:t>
            </a:r>
            <a:endParaRPr lang="en-US" sz="700" dirty="0"/>
          </a:p>
        </p:txBody>
      </p:sp>
      <p:sp>
        <p:nvSpPr>
          <p:cNvPr id="153" name="Shape 151"/>
          <p:cNvSpPr/>
          <p:nvPr/>
        </p:nvSpPr>
        <p:spPr>
          <a:xfrm>
            <a:off x="256032" y="6391656"/>
            <a:ext cx="11679631" cy="365760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154" name="Text 152"/>
          <p:cNvSpPr/>
          <p:nvPr/>
        </p:nvSpPr>
        <p:spPr>
          <a:xfrm>
            <a:off x="438912" y="6391656"/>
            <a:ext cx="113138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証拠・条件・責任者・版が付かない知識は存在しないのと同じ ― 1件ごとの必須属性と状態遷移が、誤伝承をAIの手前で止める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09728"/>
            <a:ext cx="11679631" cy="475488"/>
          </a:xfrm>
          <a:prstGeom prst="roundRect">
            <a:avLst>
              <a:gd name="adj" fmla="val 9615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20624" y="10972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SoA AIエージェント層 完全版 ｜ ⑤ SoR＋暗黙知・技術継承（Evidence Plane）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98003" y="205740"/>
            <a:ext cx="882396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798003" y="205740"/>
            <a:ext cx="8823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テクノプロ内製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753551" y="205740"/>
            <a:ext cx="1056132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753551" y="205740"/>
            <a:ext cx="10561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自社開発・継承部品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9882835" y="205740"/>
            <a:ext cx="969264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882835" y="205740"/>
            <a:ext cx="969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決定済プロダクト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0925251" y="205740"/>
            <a:ext cx="882396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925251" y="205740"/>
            <a:ext cx="8823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既製品・投資先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01752" y="640080"/>
            <a:ext cx="115881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SoRに「現場観測の正本」を加えた第5の置き場＝Evidence Plane ― 起きた事実と『なぜそう判断したか』の原本を、製品の外・自社側で保持する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56032" y="102412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全体図の位置（P.2）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56032" y="1225296"/>
            <a:ext cx="1024128" cy="402336"/>
          </a:xfrm>
          <a:prstGeom prst="roundRect">
            <a:avLst>
              <a:gd name="adj" fmla="val 9091"/>
            </a:avLst>
          </a:prstGeom>
          <a:solidFill>
            <a:srgbClr val="F1F3F6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1225296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9A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56032" y="1696212"/>
            <a:ext cx="1024128" cy="713232"/>
          </a:xfrm>
          <a:prstGeom prst="roundRect">
            <a:avLst>
              <a:gd name="adj" fmla="val 5128"/>
            </a:avLst>
          </a:prstGeom>
          <a:solidFill>
            <a:srgbClr val="F1F3F6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1696212"/>
            <a:ext cx="10241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9A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478024"/>
            <a:ext cx="1024128" cy="274320"/>
          </a:xfrm>
          <a:prstGeom prst="roundRect">
            <a:avLst>
              <a:gd name="adj" fmla="val 13333"/>
            </a:avLst>
          </a:prstGeom>
          <a:solidFill>
            <a:srgbClr val="F1F3F6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247802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9A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標準I/F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2820924"/>
            <a:ext cx="1024128" cy="603504"/>
          </a:xfrm>
          <a:prstGeom prst="roundRect">
            <a:avLst>
              <a:gd name="adj" fmla="val 6061"/>
            </a:avLst>
          </a:prstGeom>
          <a:solidFill>
            <a:srgbClr val="F1F3F6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" y="2820924"/>
            <a:ext cx="10241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9AA3B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中間層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56032" y="3493008"/>
            <a:ext cx="1024128" cy="566928"/>
          </a:xfrm>
          <a:prstGeom prst="roundRect">
            <a:avLst>
              <a:gd name="adj" fmla="val 6452"/>
            </a:avLst>
          </a:prstGeom>
          <a:solidFill>
            <a:srgbClr val="5B6577"/>
          </a:solidFill>
          <a:ln w="19050">
            <a:solidFill>
              <a:srgbClr val="5B65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6032" y="3493008"/>
            <a:ext cx="10241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SoR＋暗黙知</a:t>
            </a:r>
            <a:endParaRPr lang="en-US" sz="72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技術継承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1481328" y="1097280"/>
            <a:ext cx="7004304" cy="1700784"/>
          </a:xfrm>
          <a:prstGeom prst="roundRect">
            <a:avLst>
              <a:gd name="adj" fmla="val 2688"/>
            </a:avLst>
          </a:prstGeom>
          <a:solidFill>
            <a:srgbClr val="F1F3F6"/>
          </a:solidFill>
          <a:ln w="12700">
            <a:solidFill>
              <a:srgbClr val="5B65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91056" y="1161288"/>
            <a:ext cx="6784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SoR ― 基幹・現場システム（既製品・投資先で充当｜買って速く確実に）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1591056" y="1426464"/>
            <a:ext cx="1636776" cy="969264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5B657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55064" y="1485900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5B6577"/>
          </a:solidFill>
          <a:ln/>
        </p:spPr>
      </p:sp>
      <p:sp>
        <p:nvSpPr>
          <p:cNvPr id="28" name="Text 26"/>
          <p:cNvSpPr/>
          <p:nvPr/>
        </p:nvSpPr>
        <p:spPr>
          <a:xfrm>
            <a:off x="1655064" y="1475842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R1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011680" y="1444752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PLM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673352" y="1700784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8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図面・BOM・設計変更 ― 設変の波及追跡の起点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3300984" y="1426464"/>
            <a:ext cx="1636776" cy="969264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5B657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64992" y="1485900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5B6577"/>
          </a:solidFill>
          <a:ln/>
        </p:spPr>
      </p:sp>
      <p:sp>
        <p:nvSpPr>
          <p:cNvPr id="33" name="Text 31"/>
          <p:cNvSpPr/>
          <p:nvPr/>
        </p:nvSpPr>
        <p:spPr>
          <a:xfrm>
            <a:off x="3364992" y="1475842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721608" y="1444752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383280" y="1700784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8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稼働ログ・製造実績・品質記録 ― 工程の事実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5010912" y="1426464"/>
            <a:ext cx="1636776" cy="969264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5B657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74920" y="1485900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5B6577"/>
          </a:solidFill>
          <a:ln/>
        </p:spPr>
      </p:sp>
      <p:sp>
        <p:nvSpPr>
          <p:cNvPr id="38" name="Text 36"/>
          <p:cNvSpPr/>
          <p:nvPr/>
        </p:nvSpPr>
        <p:spPr>
          <a:xfrm>
            <a:off x="5074920" y="1475842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R3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31536" y="1444752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ERP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093208" y="1700784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8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台帳・発注・原価 ― 経営数値との接続点</a:t>
            </a:r>
            <a:endParaRPr lang="en-US" sz="680" dirty="0"/>
          </a:p>
        </p:txBody>
      </p:sp>
      <p:sp>
        <p:nvSpPr>
          <p:cNvPr id="41" name="Shape 39"/>
          <p:cNvSpPr/>
          <p:nvPr/>
        </p:nvSpPr>
        <p:spPr>
          <a:xfrm>
            <a:off x="6720840" y="1426464"/>
            <a:ext cx="1636776" cy="969264"/>
          </a:xfrm>
          <a:prstGeom prst="roundRect">
            <a:avLst>
              <a:gd name="adj" fmla="val 4245"/>
            </a:avLst>
          </a:prstGeom>
          <a:solidFill>
            <a:srgbClr val="FFFFFF"/>
          </a:solidFill>
          <a:ln w="12700">
            <a:solidFill>
              <a:srgbClr val="5B65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784848" y="1485900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5B6577"/>
          </a:solidFill>
          <a:ln/>
        </p:spPr>
      </p:sp>
      <p:sp>
        <p:nvSpPr>
          <p:cNvPr id="43" name="Text 41"/>
          <p:cNvSpPr/>
          <p:nvPr/>
        </p:nvSpPr>
        <p:spPr>
          <a:xfrm>
            <a:off x="6784848" y="1475842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R4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141464" y="1444752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センサー/IoT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803136" y="1700784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8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波形・時系列 ― 予兆・異常の一次観測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1591056" y="2468880"/>
            <a:ext cx="6784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原則：SoRは「起きた事実の正本」― 中間層・SoAは読むだけで書き換えない（OTコネクタ経由・K9で意味づけ）</a:t>
            </a:r>
            <a:endParaRPr lang="en-US" sz="740" dirty="0"/>
          </a:p>
        </p:txBody>
      </p:sp>
      <p:sp>
        <p:nvSpPr>
          <p:cNvPr id="47" name="Shape 45"/>
          <p:cNvSpPr/>
          <p:nvPr/>
        </p:nvSpPr>
        <p:spPr>
          <a:xfrm>
            <a:off x="1481328" y="2926080"/>
            <a:ext cx="7004304" cy="3127248"/>
          </a:xfrm>
          <a:prstGeom prst="roundRect">
            <a:avLst>
              <a:gd name="adj" fmla="val 1462"/>
            </a:avLst>
          </a:prstGeom>
          <a:solidFill>
            <a:srgbClr val="F5EBF1"/>
          </a:solidFill>
          <a:ln w="19050">
            <a:solidFill>
              <a:srgbClr val="7A3E6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591056" y="2990088"/>
            <a:ext cx="6784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7A3E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EP ― Evidence Plane（現場観測の正本・自社保有｜暗黙知・技術継承の入口）</a:t>
            </a:r>
            <a:endParaRPr lang="en-US" sz="960" dirty="0"/>
          </a:p>
        </p:txBody>
      </p:sp>
      <p:sp>
        <p:nvSpPr>
          <p:cNvPr id="49" name="Shape 47"/>
          <p:cNvSpPr/>
          <p:nvPr/>
        </p:nvSpPr>
        <p:spPr>
          <a:xfrm>
            <a:off x="1591056" y="3255264"/>
            <a:ext cx="3346704" cy="100584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6D4FA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655064" y="3314700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6D4FA1"/>
          </a:solidFill>
          <a:ln/>
        </p:spPr>
      </p:sp>
      <p:sp>
        <p:nvSpPr>
          <p:cNvPr id="51" name="Text 49"/>
          <p:cNvSpPr/>
          <p:nvPr/>
        </p:nvSpPr>
        <p:spPr>
          <a:xfrm>
            <a:off x="1655064" y="3304642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E1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2011680" y="327355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同期収録</a:t>
            </a:r>
            <a:endParaRPr lang="en-US" sz="920" dirty="0"/>
          </a:p>
        </p:txBody>
      </p:sp>
      <p:sp>
        <p:nvSpPr>
          <p:cNvPr id="53" name="Text 51"/>
          <p:cNvSpPr/>
          <p:nvPr/>
        </p:nvSpPr>
        <p:spPr>
          <a:xfrm>
            <a:off x="1673352" y="3529584"/>
            <a:ext cx="31912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映像・音声・視線・手指・設備信号を時刻整合で収録。「話す・撮る」まで ― 現場に書かせない（F1）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3694176" y="3319272"/>
            <a:ext cx="1170432" cy="182880"/>
          </a:xfrm>
          <a:prstGeom prst="roundRect">
            <a:avLst>
              <a:gd name="adj" fmla="val 15000"/>
            </a:avLst>
          </a:prstGeom>
          <a:solidFill>
            <a:srgbClr val="EFEAF7"/>
          </a:solidFill>
          <a:ln w="7620">
            <a:solidFill>
              <a:srgbClr val="6D4FA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94176" y="3310128"/>
            <a:ext cx="11704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自社開発（機器はBuy）</a:t>
            </a:r>
            <a:endParaRPr lang="en-US" sz="580" dirty="0"/>
          </a:p>
        </p:txBody>
      </p:sp>
      <p:sp>
        <p:nvSpPr>
          <p:cNvPr id="56" name="Shape 54"/>
          <p:cNvSpPr/>
          <p:nvPr/>
        </p:nvSpPr>
        <p:spPr>
          <a:xfrm>
            <a:off x="5047488" y="3255264"/>
            <a:ext cx="3346704" cy="100584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6D4FA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111496" y="3314700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6D4FA1"/>
          </a:solidFill>
          <a:ln/>
        </p:spPr>
      </p:sp>
      <p:sp>
        <p:nvSpPr>
          <p:cNvPr id="58" name="Text 56"/>
          <p:cNvSpPr/>
          <p:nvPr/>
        </p:nvSpPr>
        <p:spPr>
          <a:xfrm>
            <a:off x="5111496" y="3304642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E2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468112" y="327355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面接記録（CTA）</a:t>
            </a:r>
            <a:endParaRPr lang="en-US" sz="920" dirty="0"/>
          </a:p>
        </p:txBody>
      </p:sp>
      <p:sp>
        <p:nvSpPr>
          <p:cNvPr id="60" name="Text 58"/>
          <p:cNvSpPr/>
          <p:nvPr/>
        </p:nvSpPr>
        <p:spPr>
          <a:xfrm>
            <a:off x="5129784" y="3529584"/>
            <a:ext cx="31912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X1面接Agentの対話ログ ― 「なぜ・何を見て・何を捨てたか」。映像に写らない判断根拠の唯一の取得経路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7150608" y="3319272"/>
            <a:ext cx="1170432" cy="182880"/>
          </a:xfrm>
          <a:prstGeom prst="roundRect">
            <a:avLst>
              <a:gd name="adj" fmla="val 15000"/>
            </a:avLst>
          </a:prstGeom>
          <a:solidFill>
            <a:srgbClr val="EFEAF7"/>
          </a:solidFill>
          <a:ln w="7620">
            <a:solidFill>
              <a:srgbClr val="6D4FA1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50608" y="3310128"/>
            <a:ext cx="11704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自社開発</a:t>
            </a:r>
            <a:endParaRPr lang="en-US" sz="580" dirty="0"/>
          </a:p>
        </p:txBody>
      </p:sp>
      <p:sp>
        <p:nvSpPr>
          <p:cNvPr id="63" name="Shape 61"/>
          <p:cNvSpPr/>
          <p:nvPr/>
        </p:nvSpPr>
        <p:spPr>
          <a:xfrm>
            <a:off x="1591056" y="4352544"/>
            <a:ext cx="3346704" cy="100584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6D4FA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655064" y="4411980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6D4FA1"/>
          </a:solidFill>
          <a:ln/>
        </p:spPr>
      </p:sp>
      <p:sp>
        <p:nvSpPr>
          <p:cNvPr id="65" name="Text 63"/>
          <p:cNvSpPr/>
          <p:nvPr/>
        </p:nvSpPr>
        <p:spPr>
          <a:xfrm>
            <a:off x="1655064" y="4401922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E3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2011680" y="437083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証拠ストア</a:t>
            </a:r>
            <a:endParaRPr lang="en-US" sz="920" dirty="0"/>
          </a:p>
        </p:txBody>
      </p:sp>
      <p:sp>
        <p:nvSpPr>
          <p:cNvPr id="67" name="Text 65"/>
          <p:cNvSpPr/>
          <p:nvPr/>
        </p:nvSpPr>
        <p:spPr>
          <a:xfrm>
            <a:off x="1673352" y="4626864"/>
            <a:ext cx="31912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原本URI・ハッシュ・時刻区間・同意範囲を保持。原本7年・派生物は版ごと。全SK Evidenceの参照終点</a:t>
            </a:r>
            <a:endParaRPr lang="en-US" sz="700" dirty="0"/>
          </a:p>
        </p:txBody>
      </p:sp>
      <p:sp>
        <p:nvSpPr>
          <p:cNvPr id="68" name="Shape 66"/>
          <p:cNvSpPr/>
          <p:nvPr/>
        </p:nvSpPr>
        <p:spPr>
          <a:xfrm>
            <a:off x="3694176" y="4416552"/>
            <a:ext cx="1170432" cy="182880"/>
          </a:xfrm>
          <a:prstGeom prst="roundRect">
            <a:avLst>
              <a:gd name="adj" fmla="val 15000"/>
            </a:avLst>
          </a:prstGeom>
          <a:solidFill>
            <a:srgbClr val="EFEAF7"/>
          </a:solidFill>
          <a:ln w="7620">
            <a:solidFill>
              <a:srgbClr val="6D4FA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94176" y="4407408"/>
            <a:ext cx="11704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自社開発・Build中核</a:t>
            </a:r>
            <a:endParaRPr lang="en-US" sz="580" dirty="0"/>
          </a:p>
        </p:txBody>
      </p:sp>
      <p:sp>
        <p:nvSpPr>
          <p:cNvPr id="70" name="Shape 68"/>
          <p:cNvSpPr/>
          <p:nvPr/>
        </p:nvSpPr>
        <p:spPr>
          <a:xfrm>
            <a:off x="5047488" y="4352544"/>
            <a:ext cx="3346704" cy="100584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5B657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111496" y="4411980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5B6577"/>
          </a:solidFill>
          <a:ln/>
        </p:spPr>
      </p:sp>
      <p:sp>
        <p:nvSpPr>
          <p:cNvPr id="72" name="Text 70"/>
          <p:cNvSpPr/>
          <p:nvPr/>
        </p:nvSpPr>
        <p:spPr>
          <a:xfrm>
            <a:off x="5111496" y="4401922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E4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468112" y="4370832"/>
            <a:ext cx="2889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解釈部品</a:t>
            </a:r>
            <a:endParaRPr lang="en-US" sz="920" dirty="0"/>
          </a:p>
        </p:txBody>
      </p:sp>
      <p:sp>
        <p:nvSpPr>
          <p:cNvPr id="74" name="Text 72"/>
          <p:cNvSpPr/>
          <p:nvPr/>
        </p:nvSpPr>
        <p:spPr>
          <a:xfrm>
            <a:off x="5129784" y="4626864"/>
            <a:ext cx="319125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ASR・工程分節・異常検知・特徴量抽出 ― モデルは急速にコモディティ化。草案のみ生成し確定しない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7150608" y="4416552"/>
            <a:ext cx="1170432" cy="182880"/>
          </a:xfrm>
          <a:prstGeom prst="roundRect">
            <a:avLst>
              <a:gd name="adj" fmla="val 15000"/>
            </a:avLst>
          </a:prstGeom>
          <a:solidFill>
            <a:srgbClr val="F1F3F6"/>
          </a:solidFill>
          <a:ln w="7620">
            <a:solidFill>
              <a:srgbClr val="5B657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150608" y="4407408"/>
            <a:ext cx="11704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Buy / OSS</a:t>
            </a:r>
            <a:endParaRPr lang="en-US" sz="580" dirty="0"/>
          </a:p>
        </p:txBody>
      </p:sp>
      <p:sp>
        <p:nvSpPr>
          <p:cNvPr id="77" name="Text 75"/>
          <p:cNvSpPr/>
          <p:nvPr/>
        </p:nvSpPr>
        <p:spPr>
          <a:xfrm>
            <a:off x="1591056" y="5486400"/>
            <a:ext cx="67848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720" b="1" dirty="0">
                <a:solidFill>
                  <a:srgbClr val="7A3E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統制（N2）：用途は工程改善に限定・人事評価/個人監視への不使用を労使合意で文書化・本人アクセス権・監査証跡 ― 制度と技術の二重担保。守れなければ収録そのものが始まらない</a:t>
            </a:r>
            <a:endParaRPr lang="en-US" sz="720" dirty="0"/>
          </a:p>
        </p:txBody>
      </p:sp>
      <p:sp>
        <p:nvSpPr>
          <p:cNvPr id="78" name="Shape 76"/>
          <p:cNvSpPr/>
          <p:nvPr/>
        </p:nvSpPr>
        <p:spPr>
          <a:xfrm>
            <a:off x="8613648" y="1097280"/>
            <a:ext cx="3319272" cy="2487168"/>
          </a:xfrm>
          <a:prstGeom prst="roundRect">
            <a:avLst>
              <a:gd name="adj" fmla="val 1838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732520" y="1170432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この層のデータ原則</a:t>
            </a:r>
            <a:endParaRPr lang="en-US" sz="960" dirty="0"/>
          </a:p>
        </p:txBody>
      </p:sp>
      <p:sp>
        <p:nvSpPr>
          <p:cNvPr id="80" name="Text 78"/>
          <p:cNvSpPr/>
          <p:nvPr/>
        </p:nvSpPr>
        <p:spPr>
          <a:xfrm>
            <a:off x="8732520" y="1408176"/>
            <a:ext cx="3081528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76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全知識の遡及終点</a:t>
            </a:r>
            <a:endParaRPr lang="en-US" sz="7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K8根拠リンク・SK Evidenceはすべてここ（E3・SoR記録）で終わる。遡れない知識は標準化しない（F2）。</a:t>
            </a:r>
            <a:endParaRPr lang="en-US" sz="7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読み取り専用の正本</a:t>
            </a:r>
            <a:endParaRPr lang="en-US" sz="7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上位層は意味づけして持ち出すだけ。原本は改変しない ― だから監査と再検証が成立する。</a:t>
            </a:r>
            <a:endParaRPr lang="en-US" sz="7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期限は退職日が決める</a:t>
            </a:r>
            <a:endParaRPr lang="en-US" sz="76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76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設備は後から買えるが、退職した頭の中は買い戻せない。着手順は「失われるのが早い順」。</a:t>
            </a:r>
            <a:endParaRPr lang="en-US" sz="760" dirty="0"/>
          </a:p>
        </p:txBody>
      </p:sp>
      <p:sp>
        <p:nvSpPr>
          <p:cNvPr id="81" name="Shape 79"/>
          <p:cNvSpPr/>
          <p:nvPr/>
        </p:nvSpPr>
        <p:spPr>
          <a:xfrm>
            <a:off x="8613648" y="3694176"/>
            <a:ext cx="3319272" cy="2359152"/>
          </a:xfrm>
          <a:prstGeom prst="roundRect">
            <a:avLst>
              <a:gd name="adj" fmla="val 1938"/>
            </a:avLst>
          </a:prstGeom>
          <a:solidFill>
            <a:srgbClr val="F7F9FC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732520" y="3767328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フロー対応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8732520" y="4041648"/>
            <a:ext cx="713232" cy="274320"/>
          </a:xfrm>
          <a:prstGeom prst="roundRect">
            <a:avLst>
              <a:gd name="adj" fmla="val 13333"/>
            </a:avLst>
          </a:prstGeom>
          <a:solidFill>
            <a:srgbClr val="2F7D4F"/>
          </a:solidFill>
          <a:ln/>
        </p:spPr>
      </p:sp>
      <p:sp>
        <p:nvSpPr>
          <p:cNvPr id="84" name="Text 82"/>
          <p:cNvSpPr/>
          <p:nvPr/>
        </p:nvSpPr>
        <p:spPr>
          <a:xfrm>
            <a:off x="8732520" y="4032504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F-I 取込</a:t>
            </a:r>
            <a:endParaRPr lang="en-US" sz="760" dirty="0"/>
          </a:p>
        </p:txBody>
      </p:sp>
      <p:sp>
        <p:nvSpPr>
          <p:cNvPr id="85" name="Text 83"/>
          <p:cNvSpPr/>
          <p:nvPr/>
        </p:nvSpPr>
        <p:spPr>
          <a:xfrm>
            <a:off x="9537192" y="3959352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2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R1〜R4→K9で意味づけ／E1・E2→E4→X1/X2で知識化。EPが暗黙知経路の始点</a:t>
            </a:r>
            <a:endParaRPr lang="en-US" sz="720" dirty="0"/>
          </a:p>
        </p:txBody>
      </p:sp>
      <p:sp>
        <p:nvSpPr>
          <p:cNvPr id="86" name="Shape 84"/>
          <p:cNvSpPr/>
          <p:nvPr/>
        </p:nvSpPr>
        <p:spPr>
          <a:xfrm>
            <a:off x="8732520" y="4700016"/>
            <a:ext cx="713232" cy="274320"/>
          </a:xfrm>
          <a:prstGeom prst="roundRect">
            <a:avLst>
              <a:gd name="adj" fmla="val 13333"/>
            </a:avLst>
          </a:prstGeom>
          <a:solidFill>
            <a:srgbClr val="C96A1B"/>
          </a:solidFill>
          <a:ln/>
        </p:spPr>
      </p:sp>
      <p:sp>
        <p:nvSpPr>
          <p:cNvPr id="87" name="Text 85"/>
          <p:cNvSpPr/>
          <p:nvPr/>
        </p:nvSpPr>
        <p:spPr>
          <a:xfrm>
            <a:off x="8732520" y="4690872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F-II 実行</a:t>
            </a:r>
            <a:endParaRPr lang="en-US" sz="760" dirty="0"/>
          </a:p>
        </p:txBody>
      </p:sp>
      <p:sp>
        <p:nvSpPr>
          <p:cNvPr id="88" name="Text 86"/>
          <p:cNvSpPr/>
          <p:nvPr/>
        </p:nvSpPr>
        <p:spPr>
          <a:xfrm>
            <a:off x="9537192" y="4617720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2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verifierがK8→E3へ遡って原本突合。UIの根拠リンクは映像区間まで再生</a:t>
            </a:r>
            <a:endParaRPr lang="en-US" sz="720" dirty="0"/>
          </a:p>
        </p:txBody>
      </p:sp>
      <p:sp>
        <p:nvSpPr>
          <p:cNvPr id="89" name="Shape 87"/>
          <p:cNvSpPr/>
          <p:nvPr/>
        </p:nvSpPr>
        <p:spPr>
          <a:xfrm>
            <a:off x="8732520" y="5358384"/>
            <a:ext cx="713232" cy="274320"/>
          </a:xfrm>
          <a:prstGeom prst="roundRect">
            <a:avLst>
              <a:gd name="adj" fmla="val 13333"/>
            </a:avLst>
          </a:prstGeom>
          <a:solidFill>
            <a:srgbClr val="0E7C86"/>
          </a:solidFill>
          <a:ln/>
        </p:spPr>
      </p:sp>
      <p:sp>
        <p:nvSpPr>
          <p:cNvPr id="90" name="Text 88"/>
          <p:cNvSpPr/>
          <p:nvPr/>
        </p:nvSpPr>
        <p:spPr>
          <a:xfrm>
            <a:off x="8732520" y="534924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F-III 還流</a:t>
            </a:r>
            <a:endParaRPr lang="en-US" sz="760" dirty="0"/>
          </a:p>
        </p:txBody>
      </p:sp>
      <p:sp>
        <p:nvSpPr>
          <p:cNvPr id="91" name="Text 89"/>
          <p:cNvSpPr/>
          <p:nvPr/>
        </p:nvSpPr>
        <p:spPr>
          <a:xfrm>
            <a:off x="9537192" y="5276088"/>
            <a:ext cx="22677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72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利用実績・追加質問・例外をEPへ戻す（一方通行にしない）。失効イベントの発火源</a:t>
            </a:r>
            <a:endParaRPr lang="en-US" sz="720" dirty="0"/>
          </a:p>
        </p:txBody>
      </p:sp>
      <p:sp>
        <p:nvSpPr>
          <p:cNvPr id="92" name="Text 90"/>
          <p:cNvSpPr/>
          <p:nvPr/>
        </p:nvSpPr>
        <p:spPr>
          <a:xfrm>
            <a:off x="301752" y="6126480"/>
            <a:ext cx="115881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EPは旧デッキに無かった第5の置き場（あるべき姿として新設）。収録機器・ASR・動画解析はBuy/OSS、証拠ストアと同意・保持・監査の統制のみBuild ― Build範囲は意図的に狭く保つ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256032" y="6391656"/>
            <a:ext cx="11679631" cy="365760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94" name="Text 92"/>
          <p:cNvSpPr/>
          <p:nvPr/>
        </p:nvSpPr>
        <p:spPr>
          <a:xfrm>
            <a:off x="438912" y="6391656"/>
            <a:ext cx="113138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設備は後から買えるが、退職した熟練者の頭の中は買い戻せない ― だから観測の正本だけは、製品の外・自社側に置く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09728"/>
            <a:ext cx="11679631" cy="475488"/>
          </a:xfrm>
          <a:prstGeom prst="roundRect">
            <a:avLst>
              <a:gd name="adj" fmla="val 9615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20624" y="10972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SoA AIエージェント層 完全版 ｜ ⑥ データフロー F-I ― 取込・データ化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319211" y="205740"/>
            <a:ext cx="795528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319211" y="205740"/>
            <a:ext cx="7955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構造化データ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9187891" y="205740"/>
            <a:ext cx="882396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187891" y="205740"/>
            <a:ext cx="8823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非構造化データ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0143439" y="205740"/>
            <a:ext cx="882396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143439" y="205740"/>
            <a:ext cx="8823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A3E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暗黙知（脳内）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1098987" y="205740"/>
            <a:ext cx="708660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1098987" y="205740"/>
            <a:ext cx="7086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F7D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AI生成知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01752" y="640080"/>
            <a:ext cx="115881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取込は3原則（名寄せ・正規化・出典必須）― 暗黙知は 収録→面接→構造化→承認 の4段を経て、原本リンク付きの知識になる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74320" y="10058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入力（4種の知識）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651760" y="100584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変換・整理（どの部品が・何をする）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75320" y="10058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格納先の棚（ID＝P.3〜P.6と同一）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261872"/>
            <a:ext cx="2231136" cy="859536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289304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indent="0" marL="0">
              <a:buNone/>
            </a:pPr>
            <a:r>
              <a:rPr lang="en-US" sz="94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構造化データ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365760" y="1536192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MES・ERP・センサー・PLM（R1〜R4）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量は膨大だが「意味」が無い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2505456" y="1691640"/>
            <a:ext cx="146304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651760" y="1316736"/>
            <a:ext cx="5394960" cy="749808"/>
          </a:xfrm>
          <a:prstGeom prst="roundRect">
            <a:avLst>
              <a:gd name="adj" fmla="val 6098"/>
            </a:avLst>
          </a:prstGeom>
          <a:solidFill>
            <a:srgbClr val="F7F9FC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61488" y="1408176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22" name="Text 20"/>
          <p:cNvSpPr/>
          <p:nvPr/>
        </p:nvSpPr>
        <p:spPr>
          <a:xfrm>
            <a:off x="2761488" y="1398118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K9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761488" y="1627632"/>
            <a:ext cx="5175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74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セマンティック統合 ― OTコネクタで読取り、名寄せ・ID解決（「M-003」＝「3号機」）。事実と基準に分けて出力</a:t>
            </a:r>
            <a:endParaRPr lang="en-US" sz="740" dirty="0"/>
          </a:p>
        </p:txBody>
      </p:sp>
      <p:sp>
        <p:nvSpPr>
          <p:cNvPr id="24" name="Shape 22"/>
          <p:cNvSpPr/>
          <p:nvPr/>
        </p:nvSpPr>
        <p:spPr>
          <a:xfrm>
            <a:off x="8065008" y="1691640"/>
            <a:ext cx="146304" cy="0"/>
          </a:xfrm>
          <a:prstGeom prst="line">
            <a:avLst/>
          </a:prstGeom>
          <a:noFill/>
          <a:ln w="19050">
            <a:solidFill>
              <a:srgbClr val="1B2A4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275320" y="1316736"/>
            <a:ext cx="1773936" cy="749808"/>
          </a:xfrm>
          <a:prstGeom prst="roundRect">
            <a:avLst>
              <a:gd name="adj" fmla="val 4878"/>
            </a:avLst>
          </a:prstGeom>
          <a:solidFill>
            <a:srgbClr val="E9F5F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30184" y="1367028"/>
            <a:ext cx="498348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27" name="Text 25"/>
          <p:cNvSpPr/>
          <p:nvPr/>
        </p:nvSpPr>
        <p:spPr>
          <a:xfrm>
            <a:off x="8330184" y="1356970"/>
            <a:ext cx="4983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K5 K6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330184" y="1563624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設備・履歴を実体化</a:t>
            </a:r>
            <a:endParaRPr lang="en-US" sz="630" dirty="0"/>
          </a:p>
        </p:txBody>
      </p:sp>
      <p:sp>
        <p:nvSpPr>
          <p:cNvPr id="29" name="Shape 27"/>
          <p:cNvSpPr/>
          <p:nvPr/>
        </p:nvSpPr>
        <p:spPr>
          <a:xfrm>
            <a:off x="10122408" y="1316736"/>
            <a:ext cx="1773936" cy="749808"/>
          </a:xfrm>
          <a:prstGeom prst="roundRect">
            <a:avLst>
              <a:gd name="adj" fmla="val 4878"/>
            </a:avLst>
          </a:prstGeom>
          <a:solidFill>
            <a:srgbClr val="E9F5F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77272" y="1367028"/>
            <a:ext cx="287122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31" name="Text 29"/>
          <p:cNvSpPr/>
          <p:nvPr/>
        </p:nvSpPr>
        <p:spPr>
          <a:xfrm>
            <a:off x="10177272" y="1356970"/>
            <a:ext cx="2871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177272" y="1563624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閾値→制約へ（◆承認）</a:t>
            </a:r>
            <a:endParaRPr lang="en-US" sz="630" dirty="0"/>
          </a:p>
        </p:txBody>
      </p:sp>
      <p:sp>
        <p:nvSpPr>
          <p:cNvPr id="33" name="Shape 31"/>
          <p:cNvSpPr/>
          <p:nvPr/>
        </p:nvSpPr>
        <p:spPr>
          <a:xfrm>
            <a:off x="274320" y="2212848"/>
            <a:ext cx="2231136" cy="859536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5875">
            <a:solidFill>
              <a:srgbClr val="5B65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240280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indent="0" marL="0">
              <a:buNone/>
            </a:pPr>
            <a:r>
              <a:rPr lang="en-US" sz="94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非構造化データ</a:t>
            </a:r>
            <a:endParaRPr lang="en-US" sz="940" dirty="0"/>
          </a:p>
        </p:txBody>
      </p:sp>
      <p:sp>
        <p:nvSpPr>
          <p:cNvPr id="35" name="Text 33"/>
          <p:cNvSpPr/>
          <p:nvPr/>
        </p:nvSpPr>
        <p:spPr>
          <a:xfrm>
            <a:off x="365760" y="2487168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日報・点検表・図面・写真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紙とフォルダに死蔵・検索不能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2505456" y="2642616"/>
            <a:ext cx="146304" cy="0"/>
          </a:xfrm>
          <a:prstGeom prst="line">
            <a:avLst/>
          </a:prstGeom>
          <a:noFill/>
          <a:ln w="19050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651760" y="2267712"/>
            <a:ext cx="5394960" cy="749808"/>
          </a:xfrm>
          <a:prstGeom prst="roundRect">
            <a:avLst>
              <a:gd name="adj" fmla="val 6098"/>
            </a:avLst>
          </a:prstGeom>
          <a:solidFill>
            <a:srgbClr val="F7F9FC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61488" y="2359152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39" name="Text 37"/>
          <p:cNvSpPr/>
          <p:nvPr/>
        </p:nvSpPr>
        <p:spPr>
          <a:xfrm>
            <a:off x="2761488" y="2349094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K4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761488" y="2578608"/>
            <a:ext cx="5175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74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文書解析Agent＋用語辞書 ― 4属性（一行質問・要約・対処・参照先）に蒸留し、表記ゆれを正規化。原本はE3へ、出典リンク必須</a:t>
            </a:r>
            <a:endParaRPr lang="en-US" sz="740" dirty="0"/>
          </a:p>
        </p:txBody>
      </p:sp>
      <p:sp>
        <p:nvSpPr>
          <p:cNvPr id="41" name="Shape 39"/>
          <p:cNvSpPr/>
          <p:nvPr/>
        </p:nvSpPr>
        <p:spPr>
          <a:xfrm>
            <a:off x="8065008" y="2642616"/>
            <a:ext cx="146304" cy="0"/>
          </a:xfrm>
          <a:prstGeom prst="line">
            <a:avLst/>
          </a:prstGeom>
          <a:noFill/>
          <a:ln w="19050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275320" y="2267712"/>
            <a:ext cx="1773936" cy="749808"/>
          </a:xfrm>
          <a:prstGeom prst="roundRect">
            <a:avLst>
              <a:gd name="adj" fmla="val 4878"/>
            </a:avLst>
          </a:prstGeom>
          <a:solidFill>
            <a:srgbClr val="E9F5F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30184" y="2318004"/>
            <a:ext cx="498348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44" name="Text 42"/>
          <p:cNvSpPr/>
          <p:nvPr/>
        </p:nvSpPr>
        <p:spPr>
          <a:xfrm>
            <a:off x="8330184" y="2307946"/>
            <a:ext cx="4983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K7 K8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330184" y="2514600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知見＋根拠リンク（●）</a:t>
            </a:r>
            <a:endParaRPr lang="en-US" sz="630" dirty="0"/>
          </a:p>
        </p:txBody>
      </p:sp>
      <p:sp>
        <p:nvSpPr>
          <p:cNvPr id="46" name="Shape 44"/>
          <p:cNvSpPr/>
          <p:nvPr/>
        </p:nvSpPr>
        <p:spPr>
          <a:xfrm>
            <a:off x="10122408" y="2267712"/>
            <a:ext cx="1773936" cy="749808"/>
          </a:xfrm>
          <a:prstGeom prst="roundRect">
            <a:avLst>
              <a:gd name="adj" fmla="val 4878"/>
            </a:avLst>
          </a:prstGeom>
          <a:solidFill>
            <a:srgbClr val="EFEAF7"/>
          </a:solidFill>
          <a:ln w="12700">
            <a:solidFill>
              <a:srgbClr val="6D4FA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177272" y="2318004"/>
            <a:ext cx="287122" cy="182880"/>
          </a:xfrm>
          <a:prstGeom prst="roundRect">
            <a:avLst>
              <a:gd name="adj" fmla="val 20000"/>
            </a:avLst>
          </a:prstGeom>
          <a:solidFill>
            <a:srgbClr val="6D4FA1"/>
          </a:solidFill>
          <a:ln/>
        </p:spPr>
      </p:sp>
      <p:sp>
        <p:nvSpPr>
          <p:cNvPr id="48" name="Text 46"/>
          <p:cNvSpPr/>
          <p:nvPr/>
        </p:nvSpPr>
        <p:spPr>
          <a:xfrm>
            <a:off x="10177272" y="2307946"/>
            <a:ext cx="2871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E3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0177272" y="2514600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原本・ハッシュ保存</a:t>
            </a:r>
            <a:endParaRPr lang="en-US" sz="630" dirty="0"/>
          </a:p>
        </p:txBody>
      </p:sp>
      <p:sp>
        <p:nvSpPr>
          <p:cNvPr id="50" name="Shape 48"/>
          <p:cNvSpPr/>
          <p:nvPr/>
        </p:nvSpPr>
        <p:spPr>
          <a:xfrm>
            <a:off x="274320" y="3163824"/>
            <a:ext cx="2231136" cy="1481328"/>
          </a:xfrm>
          <a:prstGeom prst="roundRect">
            <a:avLst>
              <a:gd name="adj" fmla="val 3086"/>
            </a:avLst>
          </a:prstGeom>
          <a:solidFill>
            <a:srgbClr val="FFFFFF"/>
          </a:solidFill>
          <a:ln w="15875">
            <a:solidFill>
              <a:srgbClr val="7A3E6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3191256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7A3E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indent="0" marL="0">
              <a:buNone/>
            </a:pPr>
            <a:r>
              <a:rPr lang="en-US" sz="94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暗黙知（脳内）</a:t>
            </a:r>
            <a:endParaRPr lang="en-US" sz="940" dirty="0"/>
          </a:p>
        </p:txBody>
      </p:sp>
      <p:sp>
        <p:nvSpPr>
          <p:cNvPr id="52" name="Text 50"/>
          <p:cNvSpPr/>
          <p:nvPr/>
        </p:nvSpPr>
        <p:spPr>
          <a:xfrm>
            <a:off x="365760" y="3438144"/>
            <a:ext cx="206654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熟練者の判断基準・勘所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まだデータですらない ― 最重要</a:t>
            </a:r>
            <a:endParaRPr lang="en-US" sz="680" dirty="0"/>
          </a:p>
        </p:txBody>
      </p:sp>
      <p:sp>
        <p:nvSpPr>
          <p:cNvPr id="53" name="Shape 51"/>
          <p:cNvSpPr/>
          <p:nvPr/>
        </p:nvSpPr>
        <p:spPr>
          <a:xfrm>
            <a:off x="2505456" y="3904488"/>
            <a:ext cx="146304" cy="0"/>
          </a:xfrm>
          <a:prstGeom prst="line">
            <a:avLst/>
          </a:prstGeom>
          <a:noFill/>
          <a:ln w="19050">
            <a:solidFill>
              <a:srgbClr val="7A3E63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2651760" y="3255264"/>
            <a:ext cx="100584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6D4FA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51760" y="32826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U4→E1/E2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2679192" y="3502152"/>
            <a:ext cx="950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9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収録・面接</a:t>
            </a:r>
            <a:endParaRPr lang="en-US" sz="59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59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原本をE3保存</a:t>
            </a:r>
            <a:endParaRPr lang="en-US" sz="590" dirty="0"/>
          </a:p>
        </p:txBody>
      </p:sp>
      <p:sp>
        <p:nvSpPr>
          <p:cNvPr id="57" name="Shape 55"/>
          <p:cNvSpPr/>
          <p:nvPr/>
        </p:nvSpPr>
        <p:spPr>
          <a:xfrm>
            <a:off x="3657600" y="3648456"/>
            <a:ext cx="91440" cy="0"/>
          </a:xfrm>
          <a:prstGeom prst="line">
            <a:avLst/>
          </a:prstGeom>
          <a:noFill/>
          <a:ln w="15875">
            <a:solidFill>
              <a:srgbClr val="7A3E63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3749040" y="3255264"/>
            <a:ext cx="100584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5B65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749040" y="32826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E4</a:t>
            </a:r>
            <a:endParaRPr lang="en-US" sz="680" dirty="0"/>
          </a:p>
        </p:txBody>
      </p:sp>
      <p:sp>
        <p:nvSpPr>
          <p:cNvPr id="60" name="Text 58"/>
          <p:cNvSpPr/>
          <p:nvPr/>
        </p:nvSpPr>
        <p:spPr>
          <a:xfrm>
            <a:off x="3776472" y="3502152"/>
            <a:ext cx="950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9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解釈草案</a:t>
            </a:r>
            <a:endParaRPr lang="en-US" sz="59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59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ASR・分節</a:t>
            </a:r>
            <a:endParaRPr lang="en-US" sz="590" dirty="0"/>
          </a:p>
        </p:txBody>
      </p:sp>
      <p:sp>
        <p:nvSpPr>
          <p:cNvPr id="61" name="Shape 59"/>
          <p:cNvSpPr/>
          <p:nvPr/>
        </p:nvSpPr>
        <p:spPr>
          <a:xfrm>
            <a:off x="4754880" y="3648456"/>
            <a:ext cx="91440" cy="0"/>
          </a:xfrm>
          <a:prstGeom prst="line">
            <a:avLst/>
          </a:prstGeom>
          <a:noFill/>
          <a:ln w="15875">
            <a:solidFill>
              <a:srgbClr val="7A3E63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4846320" y="3255264"/>
            <a:ext cx="100584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6D4FA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46320" y="32826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X1</a:t>
            </a:r>
            <a:endParaRPr lang="en-US" sz="680" dirty="0"/>
          </a:p>
        </p:txBody>
      </p:sp>
      <p:sp>
        <p:nvSpPr>
          <p:cNvPr id="64" name="Text 62"/>
          <p:cNvSpPr/>
          <p:nvPr/>
        </p:nvSpPr>
        <p:spPr>
          <a:xfrm>
            <a:off x="4873752" y="3502152"/>
            <a:ext cx="950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9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CTA面接で</a:t>
            </a:r>
            <a:endParaRPr lang="en-US" sz="59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59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判断根拠を深掘</a:t>
            </a:r>
            <a:endParaRPr lang="en-US" sz="590" dirty="0"/>
          </a:p>
        </p:txBody>
      </p:sp>
      <p:sp>
        <p:nvSpPr>
          <p:cNvPr id="65" name="Shape 63"/>
          <p:cNvSpPr/>
          <p:nvPr/>
        </p:nvSpPr>
        <p:spPr>
          <a:xfrm>
            <a:off x="5852160" y="3648456"/>
            <a:ext cx="91440" cy="0"/>
          </a:xfrm>
          <a:prstGeom prst="line">
            <a:avLst/>
          </a:prstGeom>
          <a:noFill/>
          <a:ln w="15875">
            <a:solidFill>
              <a:srgbClr val="7A3E63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5943600" y="3255264"/>
            <a:ext cx="100584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6D4FA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943600" y="32826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X2</a:t>
            </a:r>
            <a:endParaRPr lang="en-US" sz="680" dirty="0"/>
          </a:p>
        </p:txBody>
      </p:sp>
      <p:sp>
        <p:nvSpPr>
          <p:cNvPr id="68" name="Text 66"/>
          <p:cNvSpPr/>
          <p:nvPr/>
        </p:nvSpPr>
        <p:spPr>
          <a:xfrm>
            <a:off x="5971032" y="3502152"/>
            <a:ext cx="950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9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SK草案生成</a:t>
            </a:r>
            <a:endParaRPr lang="en-US" sz="59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59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行為・手掛・判断</a:t>
            </a:r>
            <a:endParaRPr lang="en-US" sz="590" dirty="0"/>
          </a:p>
        </p:txBody>
      </p:sp>
      <p:sp>
        <p:nvSpPr>
          <p:cNvPr id="69" name="Shape 67"/>
          <p:cNvSpPr/>
          <p:nvPr/>
        </p:nvSpPr>
        <p:spPr>
          <a:xfrm>
            <a:off x="6949440" y="3648456"/>
            <a:ext cx="91440" cy="0"/>
          </a:xfrm>
          <a:prstGeom prst="line">
            <a:avLst/>
          </a:prstGeom>
          <a:noFill/>
          <a:ln w="15875">
            <a:solidFill>
              <a:srgbClr val="7A3E63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7040880" y="3255264"/>
            <a:ext cx="1005840" cy="786384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6D4FA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040880" y="328269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U5→K13</a:t>
            </a:r>
            <a:endParaRPr lang="en-US" sz="680" dirty="0"/>
          </a:p>
        </p:txBody>
      </p:sp>
      <p:sp>
        <p:nvSpPr>
          <p:cNvPr id="72" name="Text 70"/>
          <p:cNvSpPr/>
          <p:nvPr/>
        </p:nvSpPr>
        <p:spPr>
          <a:xfrm>
            <a:off x="7068312" y="3502152"/>
            <a:ext cx="9509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9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本人検証HITL</a:t>
            </a:r>
            <a:endParaRPr lang="en-US" sz="59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59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Draft→Standard</a:t>
            </a:r>
            <a:endParaRPr lang="en-US" sz="590" dirty="0"/>
          </a:p>
        </p:txBody>
      </p:sp>
      <p:sp>
        <p:nvSpPr>
          <p:cNvPr id="73" name="Text 71"/>
          <p:cNvSpPr/>
          <p:nvPr/>
        </p:nvSpPr>
        <p:spPr>
          <a:xfrm>
            <a:off x="2651760" y="4078224"/>
            <a:ext cx="5394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660" b="1" dirty="0">
                <a:solidFill>
                  <a:srgbClr val="7A3E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佐藤氏（32年）の暗黙知は ①因果の知識（→SK・K7＝全業務で共有）と ②判断の手順（→H2 SKILLS＝承認済みの型）に分解される。書かせる設計は続かない ― 現場負担は「話す・撮る」まで（F1）</a:t>
            </a:r>
            <a:endParaRPr lang="en-US" sz="660" dirty="0"/>
          </a:p>
        </p:txBody>
      </p:sp>
      <p:sp>
        <p:nvSpPr>
          <p:cNvPr id="74" name="Shape 72"/>
          <p:cNvSpPr/>
          <p:nvPr/>
        </p:nvSpPr>
        <p:spPr>
          <a:xfrm>
            <a:off x="8065008" y="3904488"/>
            <a:ext cx="146304" cy="0"/>
          </a:xfrm>
          <a:prstGeom prst="line">
            <a:avLst/>
          </a:prstGeom>
          <a:noFill/>
          <a:ln w="19050">
            <a:solidFill>
              <a:srgbClr val="7A3E63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8275320" y="3218688"/>
            <a:ext cx="1773936" cy="658368"/>
          </a:xfrm>
          <a:prstGeom prst="roundRect">
            <a:avLst>
              <a:gd name="adj" fmla="val 5556"/>
            </a:avLst>
          </a:prstGeom>
          <a:solidFill>
            <a:srgbClr val="EFEAF7"/>
          </a:solidFill>
          <a:ln w="12700">
            <a:solidFill>
              <a:srgbClr val="6D4FA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330184" y="3268980"/>
            <a:ext cx="498348" cy="182880"/>
          </a:xfrm>
          <a:prstGeom prst="roundRect">
            <a:avLst>
              <a:gd name="adj" fmla="val 20000"/>
            </a:avLst>
          </a:prstGeom>
          <a:solidFill>
            <a:srgbClr val="6D4FA1"/>
          </a:solidFill>
          <a:ln/>
        </p:spPr>
      </p:sp>
      <p:sp>
        <p:nvSpPr>
          <p:cNvPr id="77" name="Text 75"/>
          <p:cNvSpPr/>
          <p:nvPr/>
        </p:nvSpPr>
        <p:spPr>
          <a:xfrm>
            <a:off x="8330184" y="3258922"/>
            <a:ext cx="4983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 K7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8330184" y="3465576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事実・因果 → 中間層</a:t>
            </a:r>
            <a:endParaRPr lang="en-US" sz="630" dirty="0"/>
          </a:p>
        </p:txBody>
      </p:sp>
      <p:sp>
        <p:nvSpPr>
          <p:cNvPr id="79" name="Shape 77"/>
          <p:cNvSpPr/>
          <p:nvPr/>
        </p:nvSpPr>
        <p:spPr>
          <a:xfrm>
            <a:off x="10122408" y="3218688"/>
            <a:ext cx="1773936" cy="658368"/>
          </a:xfrm>
          <a:prstGeom prst="roundRect">
            <a:avLst>
              <a:gd name="adj" fmla="val 5556"/>
            </a:avLst>
          </a:prstGeom>
          <a:solidFill>
            <a:srgbClr val="FBF0E1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177272" y="3268980"/>
            <a:ext cx="287122" cy="182880"/>
          </a:xfrm>
          <a:prstGeom prst="roundRect">
            <a:avLst>
              <a:gd name="adj" fmla="val 20000"/>
            </a:avLst>
          </a:prstGeom>
          <a:solidFill>
            <a:srgbClr val="C96A1B"/>
          </a:solidFill>
          <a:ln/>
        </p:spPr>
      </p:sp>
      <p:sp>
        <p:nvSpPr>
          <p:cNvPr id="81" name="Text 79"/>
          <p:cNvSpPr/>
          <p:nvPr/>
        </p:nvSpPr>
        <p:spPr>
          <a:xfrm>
            <a:off x="10177272" y="3258922"/>
            <a:ext cx="2871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H2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10177272" y="3465576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やり方 → SKILLS（◆）</a:t>
            </a:r>
            <a:endParaRPr lang="en-US" sz="630" dirty="0"/>
          </a:p>
        </p:txBody>
      </p:sp>
      <p:sp>
        <p:nvSpPr>
          <p:cNvPr id="83" name="Shape 81"/>
          <p:cNvSpPr/>
          <p:nvPr/>
        </p:nvSpPr>
        <p:spPr>
          <a:xfrm>
            <a:off x="8275320" y="3904488"/>
            <a:ext cx="1773936" cy="658368"/>
          </a:xfrm>
          <a:prstGeom prst="roundRect">
            <a:avLst>
              <a:gd name="adj" fmla="val 5556"/>
            </a:avLst>
          </a:prstGeom>
          <a:solidFill>
            <a:srgbClr val="EFEAF7"/>
          </a:solidFill>
          <a:ln w="12700">
            <a:solidFill>
              <a:srgbClr val="6D4FA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330184" y="3954780"/>
            <a:ext cx="287122" cy="182880"/>
          </a:xfrm>
          <a:prstGeom prst="roundRect">
            <a:avLst>
              <a:gd name="adj" fmla="val 20000"/>
            </a:avLst>
          </a:prstGeom>
          <a:solidFill>
            <a:srgbClr val="6D4FA1"/>
          </a:solidFill>
          <a:ln/>
        </p:spPr>
      </p:sp>
      <p:sp>
        <p:nvSpPr>
          <p:cNvPr id="85" name="Text 83"/>
          <p:cNvSpPr/>
          <p:nvPr/>
        </p:nvSpPr>
        <p:spPr>
          <a:xfrm>
            <a:off x="8330184" y="3944722"/>
            <a:ext cx="28712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E3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8330184" y="4151376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原本＝映像区間・面接</a:t>
            </a:r>
            <a:endParaRPr lang="en-US" sz="630" dirty="0"/>
          </a:p>
        </p:txBody>
      </p:sp>
      <p:sp>
        <p:nvSpPr>
          <p:cNvPr id="87" name="Shape 85"/>
          <p:cNvSpPr/>
          <p:nvPr/>
        </p:nvSpPr>
        <p:spPr>
          <a:xfrm>
            <a:off x="274320" y="4736592"/>
            <a:ext cx="2231136" cy="859536"/>
          </a:xfrm>
          <a:prstGeom prst="roundRect">
            <a:avLst>
              <a:gd name="adj" fmla="val 5319"/>
            </a:avLst>
          </a:prstGeom>
          <a:solidFill>
            <a:srgbClr val="FFFFFF"/>
          </a:solidFill>
          <a:ln w="15875">
            <a:solidFill>
              <a:srgbClr val="2F7D4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65760" y="4764024"/>
            <a:ext cx="2066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2F7D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indent="0" marL="0">
              <a:buNone/>
            </a:pPr>
            <a:r>
              <a:rPr lang="en-US" sz="94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AI生成知</a:t>
            </a:r>
            <a:endParaRPr lang="en-US" sz="940" dirty="0"/>
          </a:p>
        </p:txBody>
      </p:sp>
      <p:sp>
        <p:nvSpPr>
          <p:cNvPr id="89" name="Text 87"/>
          <p:cNvSpPr/>
          <p:nvPr/>
        </p:nvSpPr>
        <p:spPr>
          <a:xfrm>
            <a:off x="365760" y="5010912"/>
            <a:ext cx="20665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task契約・探索/検証ログ・成果物</a:t>
            </a:r>
            <a:endParaRPr lang="en-US" sz="68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68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実行するほど毎日たまる（H6）</a:t>
            </a:r>
            <a:endParaRPr lang="en-US" sz="680" dirty="0"/>
          </a:p>
        </p:txBody>
      </p:sp>
      <p:sp>
        <p:nvSpPr>
          <p:cNvPr id="90" name="Shape 88"/>
          <p:cNvSpPr/>
          <p:nvPr/>
        </p:nvSpPr>
        <p:spPr>
          <a:xfrm>
            <a:off x="2505456" y="5166360"/>
            <a:ext cx="146304" cy="0"/>
          </a:xfrm>
          <a:prstGeom prst="line">
            <a:avLst/>
          </a:prstGeom>
          <a:noFill/>
          <a:ln w="19050">
            <a:solidFill>
              <a:srgbClr val="2F7D4F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>
            <a:off x="2651760" y="4791456"/>
            <a:ext cx="5394960" cy="749808"/>
          </a:xfrm>
          <a:prstGeom prst="roundRect">
            <a:avLst>
              <a:gd name="adj" fmla="val 6098"/>
            </a:avLst>
          </a:prstGeom>
          <a:solidFill>
            <a:srgbClr val="F7F9FC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761488" y="4882896"/>
            <a:ext cx="534924" cy="182880"/>
          </a:xfrm>
          <a:prstGeom prst="roundRect">
            <a:avLst>
              <a:gd name="adj" fmla="val 20000"/>
            </a:avLst>
          </a:prstGeom>
          <a:solidFill>
            <a:srgbClr val="2F7D4F"/>
          </a:solidFill>
          <a:ln/>
        </p:spPr>
      </p:sp>
      <p:sp>
        <p:nvSpPr>
          <p:cNvPr id="93" name="Text 91"/>
          <p:cNvSpPr/>
          <p:nvPr/>
        </p:nvSpPr>
        <p:spPr>
          <a:xfrm>
            <a:off x="2761488" y="4872838"/>
            <a:ext cx="534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F-III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2761488" y="5102352"/>
            <a:ext cx="51755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74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取込ではなく「還流」で処理 ― 事実は即時に中間層へ、やり方は承認を経てハーネスへ、現場の声はEPへ（→ P.9）</a:t>
            </a:r>
            <a:endParaRPr lang="en-US" sz="740" dirty="0"/>
          </a:p>
        </p:txBody>
      </p:sp>
      <p:sp>
        <p:nvSpPr>
          <p:cNvPr id="95" name="Shape 93"/>
          <p:cNvSpPr/>
          <p:nvPr/>
        </p:nvSpPr>
        <p:spPr>
          <a:xfrm>
            <a:off x="8065008" y="5166360"/>
            <a:ext cx="146304" cy="0"/>
          </a:xfrm>
          <a:prstGeom prst="line">
            <a:avLst/>
          </a:prstGeom>
          <a:noFill/>
          <a:ln w="19050">
            <a:solidFill>
              <a:srgbClr val="2F7D4F"/>
            </a:solidFill>
            <a:prstDash val="solid"/>
            <a:tailEnd type="triangle"/>
          </a:ln>
        </p:spPr>
      </p:sp>
      <p:sp>
        <p:nvSpPr>
          <p:cNvPr id="96" name="Shape 94"/>
          <p:cNvSpPr/>
          <p:nvPr/>
        </p:nvSpPr>
        <p:spPr>
          <a:xfrm>
            <a:off x="8275320" y="4791456"/>
            <a:ext cx="1773936" cy="749808"/>
          </a:xfrm>
          <a:prstGeom prst="roundRect">
            <a:avLst>
              <a:gd name="adj" fmla="val 4878"/>
            </a:avLst>
          </a:prstGeom>
          <a:solidFill>
            <a:srgbClr val="E9F5F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330184" y="4841748"/>
            <a:ext cx="498348" cy="182880"/>
          </a:xfrm>
          <a:prstGeom prst="roundRect">
            <a:avLst>
              <a:gd name="adj" fmla="val 20000"/>
            </a:avLst>
          </a:prstGeom>
          <a:solidFill>
            <a:srgbClr val="0E7C86"/>
          </a:solidFill>
          <a:ln/>
        </p:spPr>
      </p:sp>
      <p:sp>
        <p:nvSpPr>
          <p:cNvPr id="98" name="Text 96"/>
          <p:cNvSpPr/>
          <p:nvPr/>
        </p:nvSpPr>
        <p:spPr>
          <a:xfrm>
            <a:off x="8330184" y="4831690"/>
            <a:ext cx="4983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K6 K7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8330184" y="5038344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経路①（自動・随時）</a:t>
            </a:r>
            <a:endParaRPr lang="en-US" sz="630" dirty="0"/>
          </a:p>
        </p:txBody>
      </p:sp>
      <p:sp>
        <p:nvSpPr>
          <p:cNvPr id="100" name="Shape 98"/>
          <p:cNvSpPr/>
          <p:nvPr/>
        </p:nvSpPr>
        <p:spPr>
          <a:xfrm>
            <a:off x="10122408" y="4791456"/>
            <a:ext cx="1773936" cy="749808"/>
          </a:xfrm>
          <a:prstGeom prst="roundRect">
            <a:avLst>
              <a:gd name="adj" fmla="val 4878"/>
            </a:avLst>
          </a:prstGeom>
          <a:solidFill>
            <a:srgbClr val="FBF0E1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177272" y="4841748"/>
            <a:ext cx="498348" cy="182880"/>
          </a:xfrm>
          <a:prstGeom prst="roundRect">
            <a:avLst>
              <a:gd name="adj" fmla="val 20000"/>
            </a:avLst>
          </a:prstGeom>
          <a:solidFill>
            <a:srgbClr val="C96A1B"/>
          </a:solidFill>
          <a:ln/>
        </p:spPr>
      </p:sp>
      <p:sp>
        <p:nvSpPr>
          <p:cNvPr id="102" name="Text 100"/>
          <p:cNvSpPr/>
          <p:nvPr/>
        </p:nvSpPr>
        <p:spPr>
          <a:xfrm>
            <a:off x="10177272" y="4831690"/>
            <a:ext cx="4983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H1 H2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10177272" y="5038344"/>
            <a:ext cx="16642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3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経路②（承認制）</a:t>
            </a:r>
            <a:endParaRPr lang="en-US" sz="630" dirty="0"/>
          </a:p>
        </p:txBody>
      </p:sp>
      <p:sp>
        <p:nvSpPr>
          <p:cNvPr id="104" name="Shape 102"/>
          <p:cNvSpPr/>
          <p:nvPr/>
        </p:nvSpPr>
        <p:spPr>
          <a:xfrm>
            <a:off x="274320" y="5614416"/>
            <a:ext cx="11658600" cy="438912"/>
          </a:xfrm>
          <a:prstGeom prst="roundRect">
            <a:avLst>
              <a:gd name="adj" fmla="val 10417"/>
            </a:avLst>
          </a:prstGeom>
          <a:solidFill>
            <a:srgbClr val="F7F9FC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11480" y="5614416"/>
            <a:ext cx="11430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変換の共通原則：① 名寄せ（同じモノを同じIDに・K9）　② 正規化（同じ意味を同じ言葉に・K4）　③ 出典を必ず残す（K8→E3/SoR）　― 経路は2つ：事実は随時（●）、定義とやり方は承認・凍結（◆）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301752" y="6126480"/>
            <a:ext cx="115881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暗黙知経路は旧デッキのPKSHA部品（ヒアリングAI・先輩AI）を自社開発X1/X2＋EP収録に置換したもの。確定権限は常に工程責任者・本人にあり、AIは候補を出す側で承認する側ではない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256032" y="6391656"/>
            <a:ext cx="11679631" cy="365760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108" name="Text 106"/>
          <p:cNvSpPr/>
          <p:nvPr/>
        </p:nvSpPr>
        <p:spPr>
          <a:xfrm>
            <a:off x="438912" y="6391656"/>
            <a:ext cx="113138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どの矢印の終点も、P.3〜P.6で定義した棚のID ― 4種の知識すべてに置き場があり、暗黙知だけが特別扱い（4段＋本人検証）される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09728"/>
            <a:ext cx="11679631" cy="475488"/>
          </a:xfrm>
          <a:prstGeom prst="roundRect">
            <a:avLst>
              <a:gd name="adj" fmla="val 9615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20624" y="10972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SoA AIエージェント層 完全版 ｜ ⑦ データフロー F-II ― 実行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319211" y="205740"/>
            <a:ext cx="795528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319211" y="205740"/>
            <a:ext cx="7955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構造化データ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9187891" y="205740"/>
            <a:ext cx="882396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187891" y="205740"/>
            <a:ext cx="8823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非構造化データ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0143439" y="205740"/>
            <a:ext cx="882396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143439" y="205740"/>
            <a:ext cx="8823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A3E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暗黙知（脳内）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1098987" y="205740"/>
            <a:ext cx="708660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1098987" y="205740"/>
            <a:ext cx="7086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F7D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AI生成知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01752" y="640080"/>
            <a:ext cx="115881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実行は5工程 ― 読む棚と書く棚がIDで決まっており、Standard以外の知識は現場に届かない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4320" y="1005840"/>
            <a:ext cx="7863840" cy="365760"/>
          </a:xfrm>
          <a:prstGeom prst="roundRect">
            <a:avLst>
              <a:gd name="adj" fmla="val 12500"/>
            </a:avLst>
          </a:prstGeom>
          <a:solidFill>
            <a:srgbClr val="E8EDF7"/>
          </a:solidFill>
          <a:ln w="1143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0058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依頼（SoE U2）｜「3号機からまた異音。止まる前に原因と対処を」― 現場リーダーが入力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4023360" y="144475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読む棚（青緑＝中間層・紫＝SK/EP・橙＝ハーネス）｜ 丸数字＝I/F機能（M1〜M5）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903720" y="144475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F7D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書く棚（すべて●AI生成知）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274320" y="1664208"/>
            <a:ext cx="310896" cy="713232"/>
          </a:xfrm>
          <a:prstGeom prst="roundRect">
            <a:avLst>
              <a:gd name="adj" fmla="val 11765"/>
            </a:avLst>
          </a:prstGeom>
          <a:solidFill>
            <a:srgbClr val="C96A1B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1664208"/>
            <a:ext cx="310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" y="1664208"/>
            <a:ext cx="3255264" cy="71323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1723644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C96A1B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" y="1713586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" y="1682496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lead｜task契約を作成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740664" y="1938528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9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依頼を契約に翻訳（変更範囲・受入条件・検証方法）</a:t>
            </a:r>
            <a:endParaRPr lang="en-US" sz="690" dirty="0"/>
          </a:p>
        </p:txBody>
      </p:sp>
      <p:sp>
        <p:nvSpPr>
          <p:cNvPr id="24" name="Shape 22"/>
          <p:cNvSpPr/>
          <p:nvPr/>
        </p:nvSpPr>
        <p:spPr>
          <a:xfrm>
            <a:off x="4023360" y="1792224"/>
            <a:ext cx="896112" cy="457200"/>
          </a:xfrm>
          <a:prstGeom prst="roundRect">
            <a:avLst>
              <a:gd name="adj" fmla="val 8000"/>
            </a:avLst>
          </a:prstGeom>
          <a:solidFill>
            <a:srgbClr val="E9F5F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0" y="1792224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M1 K4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992624" y="1792224"/>
            <a:ext cx="896112" cy="457200"/>
          </a:xfrm>
          <a:prstGeom prst="roundRect">
            <a:avLst>
              <a:gd name="adj" fmla="val 8000"/>
            </a:avLst>
          </a:prstGeom>
          <a:solidFill>
            <a:srgbClr val="E9F5F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1792224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K3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61888" y="1792224"/>
            <a:ext cx="896112" cy="457200"/>
          </a:xfrm>
          <a:prstGeom prst="roundRect">
            <a:avLst>
              <a:gd name="adj" fmla="val 8000"/>
            </a:avLst>
          </a:prstGeom>
          <a:solidFill>
            <a:srgbClr val="FBF0E1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61888" y="1792224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6A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H1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903720" y="1792224"/>
            <a:ext cx="1481328" cy="457200"/>
          </a:xfrm>
          <a:prstGeom prst="roundRect">
            <a:avLst>
              <a:gd name="adj" fmla="val 8000"/>
            </a:avLst>
          </a:prstGeom>
          <a:solidFill>
            <a:srgbClr val="EAF4EE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40296" y="179222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2F7D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task契約 → H6</a:t>
            </a:r>
            <a:endParaRPr lang="en-US" sz="620" dirty="0"/>
          </a:p>
        </p:txBody>
      </p:sp>
      <p:sp>
        <p:nvSpPr>
          <p:cNvPr id="32" name="Shape 30"/>
          <p:cNvSpPr/>
          <p:nvPr/>
        </p:nvSpPr>
        <p:spPr>
          <a:xfrm>
            <a:off x="429768" y="2377440"/>
            <a:ext cx="0" cy="109728"/>
          </a:xfrm>
          <a:prstGeom prst="line">
            <a:avLst/>
          </a:prstGeom>
          <a:noFill/>
          <a:ln w="15875">
            <a:solidFill>
              <a:srgbClr val="C96A1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74320" y="2487168"/>
            <a:ext cx="310896" cy="713232"/>
          </a:xfrm>
          <a:prstGeom prst="roundRect">
            <a:avLst>
              <a:gd name="adj" fmla="val 11765"/>
            </a:avLst>
          </a:prstGeom>
          <a:solidFill>
            <a:srgbClr val="C96A1B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2487168"/>
            <a:ext cx="310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58368" y="2487168"/>
            <a:ext cx="3255264" cy="71323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22376" y="2546604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C96A1B"/>
          </a:solidFill>
          <a:ln/>
        </p:spPr>
      </p:sp>
      <p:sp>
        <p:nvSpPr>
          <p:cNvPr id="37" name="Text 35"/>
          <p:cNvSpPr/>
          <p:nvPr/>
        </p:nvSpPr>
        <p:spPr>
          <a:xfrm>
            <a:off x="722376" y="2536546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A2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78992" y="2505456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worker｜探索と立案</a:t>
            </a:r>
            <a:endParaRPr lang="en-US" sz="880" dirty="0"/>
          </a:p>
        </p:txBody>
      </p:sp>
      <p:sp>
        <p:nvSpPr>
          <p:cNvPr id="39" name="Text 37"/>
          <p:cNvSpPr/>
          <p:nvPr/>
        </p:nvSpPr>
        <p:spPr>
          <a:xfrm>
            <a:off x="740664" y="2761488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9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計画→並列検索→統合・採点→文脈復元で仮説と対処案</a:t>
            </a:r>
            <a:endParaRPr lang="en-US" sz="690" dirty="0"/>
          </a:p>
        </p:txBody>
      </p:sp>
      <p:sp>
        <p:nvSpPr>
          <p:cNvPr id="40" name="Shape 38"/>
          <p:cNvSpPr/>
          <p:nvPr/>
        </p:nvSpPr>
        <p:spPr>
          <a:xfrm>
            <a:off x="4023360" y="2615184"/>
            <a:ext cx="896112" cy="457200"/>
          </a:xfrm>
          <a:prstGeom prst="roundRect">
            <a:avLst>
              <a:gd name="adj" fmla="val 8000"/>
            </a:avLst>
          </a:prstGeom>
          <a:solidFill>
            <a:srgbClr val="E9F5F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23360" y="2615184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M2 K6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992624" y="2615184"/>
            <a:ext cx="896112" cy="457200"/>
          </a:xfrm>
          <a:prstGeom prst="roundRect">
            <a:avLst>
              <a:gd name="adj" fmla="val 8000"/>
            </a:avLst>
          </a:prstGeom>
          <a:solidFill>
            <a:srgbClr val="EFEAF7"/>
          </a:solidFill>
          <a:ln w="12700">
            <a:solidFill>
              <a:srgbClr val="6D4FA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92624" y="2615184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K7 SK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961888" y="2615184"/>
            <a:ext cx="896112" cy="457200"/>
          </a:xfrm>
          <a:prstGeom prst="roundRect">
            <a:avLst>
              <a:gd name="adj" fmla="val 8000"/>
            </a:avLst>
          </a:prstGeom>
          <a:solidFill>
            <a:srgbClr val="FBF0E1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61888" y="2615184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6A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H2 H4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903720" y="2615184"/>
            <a:ext cx="1481328" cy="457200"/>
          </a:xfrm>
          <a:prstGeom prst="roundRect">
            <a:avLst>
              <a:gd name="adj" fmla="val 8000"/>
            </a:avLst>
          </a:prstGeom>
          <a:solidFill>
            <a:srgbClr val="EAF4EE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40296" y="261518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2F7D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仮説＋探索ログ → H6</a:t>
            </a:r>
            <a:endParaRPr lang="en-US" sz="620" dirty="0"/>
          </a:p>
        </p:txBody>
      </p:sp>
      <p:sp>
        <p:nvSpPr>
          <p:cNvPr id="48" name="Shape 46"/>
          <p:cNvSpPr/>
          <p:nvPr/>
        </p:nvSpPr>
        <p:spPr>
          <a:xfrm>
            <a:off x="429768" y="3200400"/>
            <a:ext cx="0" cy="109728"/>
          </a:xfrm>
          <a:prstGeom prst="line">
            <a:avLst/>
          </a:prstGeom>
          <a:noFill/>
          <a:ln w="15875">
            <a:solidFill>
              <a:srgbClr val="C96A1B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274320" y="3310128"/>
            <a:ext cx="310896" cy="713232"/>
          </a:xfrm>
          <a:prstGeom prst="roundRect">
            <a:avLst>
              <a:gd name="adj" fmla="val 11765"/>
            </a:avLst>
          </a:prstGeom>
          <a:solidFill>
            <a:srgbClr val="C96A1B"/>
          </a:solidFill>
          <a:ln/>
        </p:spPr>
      </p:sp>
      <p:sp>
        <p:nvSpPr>
          <p:cNvPr id="50" name="Text 48"/>
          <p:cNvSpPr/>
          <p:nvPr/>
        </p:nvSpPr>
        <p:spPr>
          <a:xfrm>
            <a:off x="274320" y="3310128"/>
            <a:ext cx="310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58368" y="3310128"/>
            <a:ext cx="3255264" cy="71323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2376" y="3369564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C96A1B"/>
          </a:solidFill>
          <a:ln/>
        </p:spPr>
      </p:sp>
      <p:sp>
        <p:nvSpPr>
          <p:cNvPr id="53" name="Text 51"/>
          <p:cNvSpPr/>
          <p:nvPr/>
        </p:nvSpPr>
        <p:spPr>
          <a:xfrm>
            <a:off x="722376" y="3359506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G1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078992" y="3328416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検証ゲート（自動）</a:t>
            </a:r>
            <a:endParaRPr lang="en-US" sz="880" dirty="0"/>
          </a:p>
        </p:txBody>
      </p:sp>
      <p:sp>
        <p:nvSpPr>
          <p:cNvPr id="55" name="Text 53"/>
          <p:cNvSpPr/>
          <p:nvPr/>
        </p:nvSpPr>
        <p:spPr>
          <a:xfrm>
            <a:off x="740664" y="3584448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9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形式・整合・安全を機械チェック ― M5でK3制約をAIと独立に検証</a:t>
            </a:r>
            <a:endParaRPr lang="en-US" sz="690" dirty="0"/>
          </a:p>
        </p:txBody>
      </p:sp>
      <p:sp>
        <p:nvSpPr>
          <p:cNvPr id="56" name="Shape 54"/>
          <p:cNvSpPr/>
          <p:nvPr/>
        </p:nvSpPr>
        <p:spPr>
          <a:xfrm>
            <a:off x="4023360" y="3438144"/>
            <a:ext cx="896112" cy="457200"/>
          </a:xfrm>
          <a:prstGeom prst="roundRect">
            <a:avLst>
              <a:gd name="adj" fmla="val 8000"/>
            </a:avLst>
          </a:prstGeom>
          <a:solidFill>
            <a:srgbClr val="E9F5F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023360" y="3438144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M5 K3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992624" y="3438144"/>
            <a:ext cx="896112" cy="457200"/>
          </a:xfrm>
          <a:prstGeom prst="roundRect">
            <a:avLst>
              <a:gd name="adj" fmla="val 8000"/>
            </a:avLst>
          </a:prstGeom>
          <a:solidFill>
            <a:srgbClr val="FBF0E1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92624" y="3438144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6A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H5 H3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903720" y="3438144"/>
            <a:ext cx="1481328" cy="457200"/>
          </a:xfrm>
          <a:prstGeom prst="roundRect">
            <a:avLst>
              <a:gd name="adj" fmla="val 8000"/>
            </a:avLst>
          </a:prstGeom>
          <a:solidFill>
            <a:srgbClr val="EAF4EE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40296" y="343814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2F7D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検証ログ → H6</a:t>
            </a:r>
            <a:endParaRPr lang="en-US" sz="620" dirty="0"/>
          </a:p>
        </p:txBody>
      </p:sp>
      <p:sp>
        <p:nvSpPr>
          <p:cNvPr id="62" name="Shape 60"/>
          <p:cNvSpPr/>
          <p:nvPr/>
        </p:nvSpPr>
        <p:spPr>
          <a:xfrm>
            <a:off x="429768" y="4023360"/>
            <a:ext cx="0" cy="109728"/>
          </a:xfrm>
          <a:prstGeom prst="line">
            <a:avLst/>
          </a:prstGeom>
          <a:noFill/>
          <a:ln w="15875">
            <a:solidFill>
              <a:srgbClr val="C96A1B"/>
            </a:solidFill>
            <a:prstDash val="solid"/>
            <a:tailEnd type="triangle"/>
          </a:ln>
        </p:spPr>
      </p:sp>
      <p:sp>
        <p:nvSpPr>
          <p:cNvPr id="63" name="Shape 61"/>
          <p:cNvSpPr/>
          <p:nvPr/>
        </p:nvSpPr>
        <p:spPr>
          <a:xfrm>
            <a:off x="274320" y="4133088"/>
            <a:ext cx="310896" cy="713232"/>
          </a:xfrm>
          <a:prstGeom prst="roundRect">
            <a:avLst>
              <a:gd name="adj" fmla="val 11765"/>
            </a:avLst>
          </a:prstGeom>
          <a:solidFill>
            <a:srgbClr val="C96A1B"/>
          </a:solidFill>
          <a:ln/>
        </p:spPr>
      </p:sp>
      <p:sp>
        <p:nvSpPr>
          <p:cNvPr id="64" name="Text 62"/>
          <p:cNvSpPr/>
          <p:nvPr/>
        </p:nvSpPr>
        <p:spPr>
          <a:xfrm>
            <a:off x="274320" y="4133088"/>
            <a:ext cx="310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658368" y="4133088"/>
            <a:ext cx="3255264" cy="71323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22376" y="4192524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C96A1B"/>
          </a:solidFill>
          <a:ln/>
        </p:spPr>
      </p:sp>
      <p:sp>
        <p:nvSpPr>
          <p:cNvPr id="67" name="Text 65"/>
          <p:cNvSpPr/>
          <p:nvPr/>
        </p:nvSpPr>
        <p:spPr>
          <a:xfrm>
            <a:off x="722376" y="4182466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A3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078992" y="4151376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verifier｜独立照合</a:t>
            </a:r>
            <a:endParaRPr lang="en-US" sz="880" dirty="0"/>
          </a:p>
        </p:txBody>
      </p:sp>
      <p:sp>
        <p:nvSpPr>
          <p:cNvPr id="69" name="Text 67"/>
          <p:cNvSpPr/>
          <p:nvPr/>
        </p:nvSpPr>
        <p:spPr>
          <a:xfrm>
            <a:off x="740664" y="4407408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9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K8根拠を遡りE3・SoR原本と突合 ― OK / FIX / ASK_LEAD</a:t>
            </a:r>
            <a:endParaRPr lang="en-US" sz="690" dirty="0"/>
          </a:p>
        </p:txBody>
      </p:sp>
      <p:sp>
        <p:nvSpPr>
          <p:cNvPr id="70" name="Shape 68"/>
          <p:cNvSpPr/>
          <p:nvPr/>
        </p:nvSpPr>
        <p:spPr>
          <a:xfrm>
            <a:off x="4023360" y="4261104"/>
            <a:ext cx="896112" cy="457200"/>
          </a:xfrm>
          <a:prstGeom prst="roundRect">
            <a:avLst>
              <a:gd name="adj" fmla="val 8000"/>
            </a:avLst>
          </a:prstGeom>
          <a:solidFill>
            <a:srgbClr val="E9F5F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023360" y="4261104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M3 K8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992624" y="4261104"/>
            <a:ext cx="896112" cy="457200"/>
          </a:xfrm>
          <a:prstGeom prst="roundRect">
            <a:avLst>
              <a:gd name="adj" fmla="val 8000"/>
            </a:avLst>
          </a:prstGeom>
          <a:solidFill>
            <a:srgbClr val="EFEAF7"/>
          </a:solidFill>
          <a:ln w="12700">
            <a:solidFill>
              <a:srgbClr val="6D4FA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992624" y="4261104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E3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961888" y="4261104"/>
            <a:ext cx="896112" cy="457200"/>
          </a:xfrm>
          <a:prstGeom prst="roundRect">
            <a:avLst>
              <a:gd name="adj" fmla="val 8000"/>
            </a:avLst>
          </a:prstGeom>
          <a:solidFill>
            <a:srgbClr val="FBF0E1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961888" y="4261104"/>
            <a:ext cx="896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6A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H6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903720" y="4261104"/>
            <a:ext cx="1481328" cy="457200"/>
          </a:xfrm>
          <a:prstGeom prst="roundRect">
            <a:avLst>
              <a:gd name="adj" fmla="val 8000"/>
            </a:avLst>
          </a:prstGeom>
          <a:solidFill>
            <a:srgbClr val="EAF4EE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940296" y="426110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2F7D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審査記録 → H6</a:t>
            </a:r>
            <a:endParaRPr lang="en-US" sz="620" dirty="0"/>
          </a:p>
        </p:txBody>
      </p:sp>
      <p:sp>
        <p:nvSpPr>
          <p:cNvPr id="78" name="Shape 76"/>
          <p:cNvSpPr/>
          <p:nvPr/>
        </p:nvSpPr>
        <p:spPr>
          <a:xfrm>
            <a:off x="429768" y="4846320"/>
            <a:ext cx="0" cy="109728"/>
          </a:xfrm>
          <a:prstGeom prst="line">
            <a:avLst/>
          </a:prstGeom>
          <a:noFill/>
          <a:ln w="15875">
            <a:solidFill>
              <a:srgbClr val="C96A1B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274320" y="4956048"/>
            <a:ext cx="310896" cy="713232"/>
          </a:xfrm>
          <a:prstGeom prst="roundRect">
            <a:avLst>
              <a:gd name="adj" fmla="val 11765"/>
            </a:avLst>
          </a:prstGeom>
          <a:solidFill>
            <a:srgbClr val="C96A1B"/>
          </a:solidFill>
          <a:ln/>
        </p:spPr>
      </p:sp>
      <p:sp>
        <p:nvSpPr>
          <p:cNvPr id="80" name="Text 78"/>
          <p:cNvSpPr/>
          <p:nvPr/>
        </p:nvSpPr>
        <p:spPr>
          <a:xfrm>
            <a:off x="274320" y="4956048"/>
            <a:ext cx="3108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658368" y="4956048"/>
            <a:ext cx="3255264" cy="713232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C96A1B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2376" y="5015484"/>
            <a:ext cx="301752" cy="182880"/>
          </a:xfrm>
          <a:prstGeom prst="roundRect">
            <a:avLst>
              <a:gd name="adj" fmla="val 20000"/>
            </a:avLst>
          </a:prstGeom>
          <a:solidFill>
            <a:srgbClr val="C96A1B"/>
          </a:solidFill>
          <a:ln/>
        </p:spPr>
      </p:sp>
      <p:sp>
        <p:nvSpPr>
          <p:cNvPr id="83" name="Text 81"/>
          <p:cNvSpPr/>
          <p:nvPr/>
        </p:nvSpPr>
        <p:spPr>
          <a:xfrm>
            <a:off x="722376" y="5005426"/>
            <a:ext cx="301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A1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1078992" y="4974336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lead｜統合 → SoEへ出力</a:t>
            </a:r>
            <a:endParaRPr lang="en-US" sz="880" dirty="0"/>
          </a:p>
        </p:txBody>
      </p:sp>
      <p:sp>
        <p:nvSpPr>
          <p:cNvPr id="85" name="Text 83"/>
          <p:cNvSpPr/>
          <p:nvPr/>
        </p:nvSpPr>
        <p:spPr>
          <a:xfrm>
            <a:off x="740664" y="5230368"/>
            <a:ext cx="3099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9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根拠付き対処手順書＋作業指示＋発注案 ― 通過成果のみ</a:t>
            </a:r>
            <a:endParaRPr lang="en-US" sz="690" dirty="0"/>
          </a:p>
        </p:txBody>
      </p:sp>
      <p:sp>
        <p:nvSpPr>
          <p:cNvPr id="86" name="Text 84"/>
          <p:cNvSpPr/>
          <p:nvPr/>
        </p:nvSpPr>
        <p:spPr>
          <a:xfrm>
            <a:off x="4023360" y="508406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（読む棚なし ― 通過成果を統合するのみ）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6903720" y="5084064"/>
            <a:ext cx="1481328" cy="457200"/>
          </a:xfrm>
          <a:prstGeom prst="roundRect">
            <a:avLst>
              <a:gd name="adj" fmla="val 8000"/>
            </a:avLst>
          </a:prstGeom>
          <a:solidFill>
            <a:srgbClr val="EAF4EE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940296" y="508406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20" b="1" dirty="0">
                <a:solidFill>
                  <a:srgbClr val="2F7D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成果物→U2／運用ログ→H6（→F-III）</a:t>
            </a:r>
            <a:endParaRPr lang="en-US" sz="620" dirty="0"/>
          </a:p>
        </p:txBody>
      </p:sp>
      <p:sp>
        <p:nvSpPr>
          <p:cNvPr id="89" name="Text 87"/>
          <p:cNvSpPr/>
          <p:nvPr/>
        </p:nvSpPr>
        <p:spPr>
          <a:xfrm>
            <a:off x="658368" y="5806440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FIX＝workerへ差し戻し ／ ASK_LEAD＝leadが調停 ― 工程・棚のIDはP.2〜P.6と同一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8613648" y="1005840"/>
            <a:ext cx="3319272" cy="2706624"/>
          </a:xfrm>
          <a:prstGeom prst="roundRect">
            <a:avLst>
              <a:gd name="adj" fmla="val 1689"/>
            </a:avLst>
          </a:prstGeom>
          <a:solidFill>
            <a:srgbClr val="F5EBF1"/>
          </a:solidFill>
          <a:ln w="15875">
            <a:solidFill>
              <a:srgbClr val="7A3E63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732520" y="1078992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7A3E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技術継承の実行 ― 同じ5工程で動く</a:t>
            </a:r>
            <a:endParaRPr lang="en-US" sz="940" dirty="0"/>
          </a:p>
        </p:txBody>
      </p:sp>
      <p:sp>
        <p:nvSpPr>
          <p:cNvPr id="92" name="Text 90"/>
          <p:cNvSpPr/>
          <p:nvPr/>
        </p:nvSpPr>
        <p:spPr>
          <a:xfrm>
            <a:off x="8732520" y="1316736"/>
            <a:ext cx="3081528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74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若手の質問「この異音、続行して良いか」</a:t>
            </a:r>
            <a:endParaRPr lang="en-US" sz="74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74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M1意味検索でSK（Standardのみ）を引き当て</a:t>
            </a:r>
            <a:endParaRPr lang="en-US" sz="74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74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Cue（音の周波数帯・正常域）とDecision（続行/停止の判断根拠）を提示</a:t>
            </a:r>
            <a:endParaRPr lang="en-US" sz="74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74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Exception該当ならK3停止条件が強制介入（M5）</a:t>
            </a:r>
            <a:endParaRPr lang="en-US" sz="74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74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根拠リンクからE3の映像区間・佐藤氏の面接記録まで遡って再生</a:t>
            </a:r>
            <a:endParaRPr lang="en-US" sz="74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740" b="1" dirty="0">
                <a:solidFill>
                  <a:srgbClr val="7A3E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回答保留も機能：根拠不足時は推測で埋めず「熟練者へ」と返す</a:t>
            </a:r>
            <a:endParaRPr lang="en-US" sz="740" dirty="0"/>
          </a:p>
        </p:txBody>
      </p:sp>
      <p:sp>
        <p:nvSpPr>
          <p:cNvPr id="93" name="Shape 91"/>
          <p:cNvSpPr/>
          <p:nvPr/>
        </p:nvSpPr>
        <p:spPr>
          <a:xfrm>
            <a:off x="8613648" y="3822192"/>
            <a:ext cx="3319272" cy="2231136"/>
          </a:xfrm>
          <a:prstGeom prst="roundRect">
            <a:avLst>
              <a:gd name="adj" fmla="val 2049"/>
            </a:avLst>
          </a:prstGeom>
          <a:solidFill>
            <a:srgbClr val="FFFFFF"/>
          </a:solidFill>
          <a:ln w="12700">
            <a:solidFill>
              <a:srgbClr val="D8DDE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732520" y="3895344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何が変わるか ― BEFORE → AFTER</a:t>
            </a:r>
            <a:endParaRPr lang="en-US" sz="940" dirty="0"/>
          </a:p>
        </p:txBody>
      </p:sp>
      <p:sp>
        <p:nvSpPr>
          <p:cNvPr id="95" name="Shape 93"/>
          <p:cNvSpPr/>
          <p:nvPr/>
        </p:nvSpPr>
        <p:spPr>
          <a:xfrm>
            <a:off x="8732520" y="4151376"/>
            <a:ext cx="274320" cy="237744"/>
          </a:xfrm>
          <a:prstGeom prst="roundRect">
            <a:avLst>
              <a:gd name="adj" fmla="val 11538"/>
            </a:avLst>
          </a:prstGeom>
          <a:solidFill>
            <a:srgbClr val="5B6577"/>
          </a:solidFill>
          <a:ln/>
        </p:spPr>
      </p:sp>
      <p:sp>
        <p:nvSpPr>
          <p:cNvPr id="96" name="Text 94"/>
          <p:cNvSpPr/>
          <p:nvPr/>
        </p:nvSpPr>
        <p:spPr>
          <a:xfrm>
            <a:off x="8732520" y="414223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旧</a:t>
            </a:r>
            <a:endParaRPr lang="en-US" sz="760" dirty="0"/>
          </a:p>
        </p:txBody>
      </p:sp>
      <p:sp>
        <p:nvSpPr>
          <p:cNvPr id="97" name="Text 95"/>
          <p:cNvSpPr/>
          <p:nvPr/>
        </p:nvSpPr>
        <p:spPr>
          <a:xfrm>
            <a:off x="9070848" y="4123944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ベテラン出社待ちで6時間停止</a:t>
            </a:r>
            <a:endParaRPr lang="en-US" sz="690" dirty="0"/>
          </a:p>
        </p:txBody>
      </p:sp>
      <p:sp>
        <p:nvSpPr>
          <p:cNvPr id="98" name="Shape 96"/>
          <p:cNvSpPr/>
          <p:nvPr/>
        </p:nvSpPr>
        <p:spPr>
          <a:xfrm>
            <a:off x="8732520" y="4462272"/>
            <a:ext cx="274320" cy="237744"/>
          </a:xfrm>
          <a:prstGeom prst="roundRect">
            <a:avLst>
              <a:gd name="adj" fmla="val 11538"/>
            </a:avLst>
          </a:prstGeom>
          <a:solidFill>
            <a:srgbClr val="2F7D4F"/>
          </a:solidFill>
          <a:ln/>
        </p:spPr>
      </p:sp>
      <p:sp>
        <p:nvSpPr>
          <p:cNvPr id="99" name="Text 97"/>
          <p:cNvSpPr/>
          <p:nvPr/>
        </p:nvSpPr>
        <p:spPr>
          <a:xfrm>
            <a:off x="8732520" y="44531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</a:t>
            </a:r>
            <a:endParaRPr lang="en-US" sz="760" dirty="0"/>
          </a:p>
        </p:txBody>
      </p:sp>
      <p:sp>
        <p:nvSpPr>
          <p:cNvPr id="100" name="Text 98"/>
          <p:cNvSpPr/>
          <p:nvPr/>
        </p:nvSpPr>
        <p:spPr>
          <a:xfrm>
            <a:off x="9070848" y="4434840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若手＋AIが即時に一次対処 ― 根拠付きで迷わない</a:t>
            </a:r>
            <a:endParaRPr lang="en-US" sz="690" dirty="0"/>
          </a:p>
        </p:txBody>
      </p:sp>
      <p:sp>
        <p:nvSpPr>
          <p:cNvPr id="101" name="Shape 99"/>
          <p:cNvSpPr/>
          <p:nvPr/>
        </p:nvSpPr>
        <p:spPr>
          <a:xfrm>
            <a:off x="8732520" y="4773168"/>
            <a:ext cx="274320" cy="237744"/>
          </a:xfrm>
          <a:prstGeom prst="roundRect">
            <a:avLst>
              <a:gd name="adj" fmla="val 11538"/>
            </a:avLst>
          </a:prstGeom>
          <a:solidFill>
            <a:srgbClr val="5B6577"/>
          </a:solidFill>
          <a:ln/>
        </p:spPr>
      </p:sp>
      <p:sp>
        <p:nvSpPr>
          <p:cNvPr id="102" name="Text 100"/>
          <p:cNvSpPr/>
          <p:nvPr/>
        </p:nvSpPr>
        <p:spPr>
          <a:xfrm>
            <a:off x="8732520" y="476402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旧</a:t>
            </a:r>
            <a:endParaRPr lang="en-US" sz="760" dirty="0"/>
          </a:p>
        </p:txBody>
      </p:sp>
      <p:sp>
        <p:nvSpPr>
          <p:cNvPr id="103" name="Text 101"/>
          <p:cNvSpPr/>
          <p:nvPr/>
        </p:nvSpPr>
        <p:spPr>
          <a:xfrm>
            <a:off x="9070848" y="4745736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「勘」の指示で検証しようがない</a:t>
            </a:r>
            <a:endParaRPr lang="en-US" sz="690" dirty="0"/>
          </a:p>
        </p:txBody>
      </p:sp>
      <p:sp>
        <p:nvSpPr>
          <p:cNvPr id="104" name="Shape 102"/>
          <p:cNvSpPr/>
          <p:nvPr/>
        </p:nvSpPr>
        <p:spPr>
          <a:xfrm>
            <a:off x="8732520" y="5084064"/>
            <a:ext cx="274320" cy="237744"/>
          </a:xfrm>
          <a:prstGeom prst="roundRect">
            <a:avLst>
              <a:gd name="adj" fmla="val 11538"/>
            </a:avLst>
          </a:prstGeom>
          <a:solidFill>
            <a:srgbClr val="2F7D4F"/>
          </a:solidFill>
          <a:ln/>
        </p:spPr>
      </p:sp>
      <p:sp>
        <p:nvSpPr>
          <p:cNvPr id="105" name="Text 103"/>
          <p:cNvSpPr/>
          <p:nvPr/>
        </p:nvSpPr>
        <p:spPr>
          <a:xfrm>
            <a:off x="8732520" y="50749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</a:t>
            </a:r>
            <a:endParaRPr lang="en-US" sz="760" dirty="0"/>
          </a:p>
        </p:txBody>
      </p:sp>
      <p:sp>
        <p:nvSpPr>
          <p:cNvPr id="106" name="Text 104"/>
          <p:cNvSpPr/>
          <p:nvPr/>
        </p:nvSpPr>
        <p:spPr>
          <a:xfrm>
            <a:off x="9070848" y="5056632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全提案に出典リンク ― 確かめてから実行できる</a:t>
            </a:r>
            <a:endParaRPr lang="en-US" sz="690" dirty="0"/>
          </a:p>
        </p:txBody>
      </p:sp>
      <p:sp>
        <p:nvSpPr>
          <p:cNvPr id="107" name="Shape 105"/>
          <p:cNvSpPr/>
          <p:nvPr/>
        </p:nvSpPr>
        <p:spPr>
          <a:xfrm>
            <a:off x="8732520" y="5394960"/>
            <a:ext cx="274320" cy="237744"/>
          </a:xfrm>
          <a:prstGeom prst="roundRect">
            <a:avLst>
              <a:gd name="adj" fmla="val 11538"/>
            </a:avLst>
          </a:prstGeom>
          <a:solidFill>
            <a:srgbClr val="5B6577"/>
          </a:solidFill>
          <a:ln/>
        </p:spPr>
      </p:sp>
      <p:sp>
        <p:nvSpPr>
          <p:cNvPr id="108" name="Text 106"/>
          <p:cNvSpPr/>
          <p:nvPr/>
        </p:nvSpPr>
        <p:spPr>
          <a:xfrm>
            <a:off x="8732520" y="53858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旧</a:t>
            </a:r>
            <a:endParaRPr lang="en-US" sz="760" dirty="0"/>
          </a:p>
        </p:txBody>
      </p:sp>
      <p:sp>
        <p:nvSpPr>
          <p:cNvPr id="109" name="Text 107"/>
          <p:cNvSpPr/>
          <p:nvPr/>
        </p:nvSpPr>
        <p:spPr>
          <a:xfrm>
            <a:off x="9070848" y="5367528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対応が記憶と個人メモに消える</a:t>
            </a:r>
            <a:endParaRPr lang="en-US" sz="690" dirty="0"/>
          </a:p>
        </p:txBody>
      </p:sp>
      <p:sp>
        <p:nvSpPr>
          <p:cNvPr id="110" name="Shape 108"/>
          <p:cNvSpPr/>
          <p:nvPr/>
        </p:nvSpPr>
        <p:spPr>
          <a:xfrm>
            <a:off x="8732520" y="5705856"/>
            <a:ext cx="274320" cy="237744"/>
          </a:xfrm>
          <a:prstGeom prst="roundRect">
            <a:avLst>
              <a:gd name="adj" fmla="val 11538"/>
            </a:avLst>
          </a:prstGeom>
          <a:solidFill>
            <a:srgbClr val="2F7D4F"/>
          </a:solidFill>
          <a:ln/>
        </p:spPr>
      </p:sp>
      <p:sp>
        <p:nvSpPr>
          <p:cNvPr id="111" name="Text 109"/>
          <p:cNvSpPr/>
          <p:nvPr/>
        </p:nvSpPr>
        <p:spPr>
          <a:xfrm>
            <a:off x="8732520" y="569671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</a:t>
            </a:r>
            <a:endParaRPr lang="en-US" sz="760" dirty="0"/>
          </a:p>
        </p:txBody>
      </p:sp>
      <p:sp>
        <p:nvSpPr>
          <p:cNvPr id="112" name="Text 110"/>
          <p:cNvSpPr/>
          <p:nvPr/>
        </p:nvSpPr>
        <p:spPr>
          <a:xfrm>
            <a:off x="9070848" y="5678424"/>
            <a:ext cx="27340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実行そのものが運用ログ・知見として自動で残る</a:t>
            </a:r>
            <a:endParaRPr lang="en-US" sz="690" dirty="0"/>
          </a:p>
        </p:txBody>
      </p:sp>
      <p:sp>
        <p:nvSpPr>
          <p:cNvPr id="113" name="Text 111"/>
          <p:cNvSpPr/>
          <p:nvPr/>
        </p:nvSpPr>
        <p:spPr>
          <a:xfrm>
            <a:off x="8732520" y="5138928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効果はKPIで測る：MTTR・独り立ち期間・初品一発合格率・初回修復率（U6効果ゲート）</a:t>
            </a:r>
            <a:endParaRPr lang="en-US" sz="680" dirty="0"/>
          </a:p>
        </p:txBody>
      </p:sp>
      <p:sp>
        <p:nvSpPr>
          <p:cNvPr id="114" name="Text 112"/>
          <p:cNvSpPr/>
          <p:nvPr/>
        </p:nvSpPr>
        <p:spPr>
          <a:xfrm>
            <a:off x="301752" y="6126480"/>
            <a:ext cx="115881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5工程はP.2 taskライフサイクルと同一。技術継承も専用システムではなく同じ基盤・同じ5工程で動く ― これが「差分をエージェントに持たせない」の帰結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256032" y="6391656"/>
            <a:ext cx="11679631" cy="365760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116" name="Text 114"/>
          <p:cNvSpPr/>
          <p:nvPr/>
        </p:nvSpPr>
        <p:spPr>
          <a:xfrm>
            <a:off x="438912" y="6391656"/>
            <a:ext cx="113138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賢さの源泉はモデルでなく「読み先」― 検証ゲートと独立照合を通った答えだけが、根拠付きでSoEに返る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09728"/>
            <a:ext cx="11679631" cy="475488"/>
          </a:xfrm>
          <a:prstGeom prst="roundRect">
            <a:avLst>
              <a:gd name="adj" fmla="val 9615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20624" y="10972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SoA AIエージェント層 完全版 ｜ ⑧ データフロー F-III ― 還流と統制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319211" y="205740"/>
            <a:ext cx="795528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319211" y="205740"/>
            <a:ext cx="7955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構造化データ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9187891" y="205740"/>
            <a:ext cx="882396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187891" y="205740"/>
            <a:ext cx="8823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非構造化データ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0143439" y="205740"/>
            <a:ext cx="882396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0143439" y="205740"/>
            <a:ext cx="8823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A3E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暗黙知（脳内）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1098987" y="205740"/>
            <a:ext cx="708660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1098987" y="205740"/>
            <a:ext cx="7086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2F7D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AI生成知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01752" y="640080"/>
            <a:ext cx="115881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還流は3経路 ― 事実は即時、やり方は承認制、現場の声はEvidence Planeへ。失効まで管理して初めて「育ち続ける」置き場になる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4320" y="1024128"/>
            <a:ext cx="11658600" cy="402336"/>
          </a:xfrm>
          <a:prstGeom prst="roundRect">
            <a:avLst>
              <a:gd name="adj" fmla="val 11364"/>
            </a:avLst>
          </a:prstGeom>
          <a:solidFill>
            <a:srgbClr val="EAF4EE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024128"/>
            <a:ext cx="11430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F7D4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F-IIの実行が生んだ ● AI生成知 ― task契約・探索ログ・検証ログ・成果物・失敗報告・利用実績（H6 queueに毎日たまる・集める手間ゼロ）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1737360" y="1426464"/>
            <a:ext cx="0" cy="201168"/>
          </a:xfrm>
          <a:prstGeom prst="line">
            <a:avLst/>
          </a:prstGeom>
          <a:noFill/>
          <a:ln w="19050">
            <a:solidFill>
              <a:srgbClr val="2F7D4F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080760" y="1426464"/>
            <a:ext cx="0" cy="201168"/>
          </a:xfrm>
          <a:prstGeom prst="line">
            <a:avLst/>
          </a:prstGeom>
          <a:noFill/>
          <a:ln w="19050">
            <a:solidFill>
              <a:srgbClr val="2F7D4F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378440" y="1426464"/>
            <a:ext cx="0" cy="201168"/>
          </a:xfrm>
          <a:prstGeom prst="line">
            <a:avLst/>
          </a:prstGeom>
          <a:noFill/>
          <a:ln w="19050">
            <a:solidFill>
              <a:srgbClr val="2F7D4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74320" y="1645920"/>
            <a:ext cx="3831336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0E7C8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171907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経路① 事実・知見の還流 → 中間層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384048" y="1956816"/>
            <a:ext cx="2286000" cy="201168"/>
          </a:xfrm>
          <a:prstGeom prst="roundRect">
            <a:avLst>
              <a:gd name="adj" fmla="val 13636"/>
            </a:avLst>
          </a:prstGeom>
          <a:solidFill>
            <a:srgbClr val="E9F5F6"/>
          </a:solidFill>
          <a:ln w="7620">
            <a:solidFill>
              <a:srgbClr val="0E7C8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194767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自動・随時（●）</a:t>
            </a:r>
            <a:endParaRPr lang="en-US" sz="660" dirty="0"/>
          </a:p>
        </p:txBody>
      </p:sp>
      <p:sp>
        <p:nvSpPr>
          <p:cNvPr id="22" name="Text 20"/>
          <p:cNvSpPr/>
          <p:nvPr/>
        </p:nvSpPr>
        <p:spPr>
          <a:xfrm>
            <a:off x="384048" y="2231136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73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「今回の停止と対処」が根拠リンク付きでグラフへ蓄積 ― 承認不要で即、共有知に。</a:t>
            </a:r>
            <a:endParaRPr lang="en-US" sz="73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73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書込先：K6 イベント履歴／K7 過去トラ・知見／K8 根拠リンク（M4書き戻し・検証付き）</a:t>
            </a:r>
            <a:endParaRPr lang="en-US" sz="73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73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共通ハブ経由で知見が部署・企業を越える ― Graph Engineeringの実体。設計ハーネスへはFMEA・設計基準として、品証へは検査項目として届く。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4215384" y="1645920"/>
            <a:ext cx="3831336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C96A1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25112" y="171907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C96A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経路② やり方の改善 → ハーネス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4325112" y="1956816"/>
            <a:ext cx="2286000" cy="201168"/>
          </a:xfrm>
          <a:prstGeom prst="roundRect">
            <a:avLst>
              <a:gd name="adj" fmla="val 13636"/>
            </a:avLst>
          </a:prstGeom>
          <a:solidFill>
            <a:srgbClr val="FBF0E1"/>
          </a:solidFill>
          <a:ln w="7620">
            <a:solidFill>
              <a:srgbClr val="C96A1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25112" y="194767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C96A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承認制・低頻度（◆）＝Gated RSI</a:t>
            </a:r>
            <a:endParaRPr lang="en-US" sz="660" dirty="0"/>
          </a:p>
        </p:txBody>
      </p:sp>
      <p:sp>
        <p:nvSpPr>
          <p:cNvPr id="27" name="Text 25"/>
          <p:cNvSpPr/>
          <p:nvPr/>
        </p:nvSpPr>
        <p:spPr>
          <a:xfrm>
            <a:off x="4325112" y="2231136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73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AIが改善案を生成（例：異音SKILLに周波数帯を追記・ゲートに温度条件を追加）</a:t>
            </a:r>
            <a:endParaRPr lang="en-US" sz="73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73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harnessテスト ＋ ③ 人の承認（HITL・U5） ― 安全確認を通った案だけが先へ</a:t>
            </a:r>
            <a:endParaRPr lang="en-US" sz="73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730" b="1" dirty="0">
                <a:solidFill>
                  <a:srgbClr val="C96A1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④ H1 rules・H2 SKILLS・G1ゲートが改訂 ― 次の対応がもっと上手く。④→①の再帰ループ。改善機構自体の変更にも関門 ― 勝手に変えない・暴走しない。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8156448" y="1645920"/>
            <a:ext cx="3831336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5875">
            <a:solidFill>
              <a:srgbClr val="7A3E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66176" y="171907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7A3E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経路③ 現場の声の還流 → EP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8266176" y="1956816"/>
            <a:ext cx="2286000" cy="201168"/>
          </a:xfrm>
          <a:prstGeom prst="roundRect">
            <a:avLst>
              <a:gd name="adj" fmla="val 13636"/>
            </a:avLst>
          </a:prstGeom>
          <a:solidFill>
            <a:srgbClr val="F5EBF1"/>
          </a:solidFill>
          <a:ln w="7620">
            <a:solidFill>
              <a:srgbClr val="7A3E6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66176" y="1947672"/>
            <a:ext cx="2286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7A3E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一方通行にしない（新設）</a:t>
            </a:r>
            <a:endParaRPr lang="en-US" sz="660" dirty="0"/>
          </a:p>
        </p:txBody>
      </p:sp>
      <p:sp>
        <p:nvSpPr>
          <p:cNvPr id="32" name="Text 30"/>
          <p:cNvSpPr/>
          <p:nvPr/>
        </p:nvSpPr>
        <p:spPr>
          <a:xfrm>
            <a:off x="8266176" y="2231136"/>
            <a:ext cx="3611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73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利用実績・追加質問・拒否・例外をE系へ戻し、知識を更新し続ける ― 配って終わりにしない。</a:t>
            </a:r>
            <a:endParaRPr lang="en-US" sz="73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730" b="1" dirty="0">
                <a:solidFill>
                  <a:srgbClr val="7A3E6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失効の自動化：設備更新・規格改訂イベントで該当SKをX3が自動Suspendedへ ― 陳腐化した知識が現場に残らない。</a:t>
            </a:r>
            <a:endParaRPr lang="en-US" sz="73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73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追加質問が多い箇所＝知識の穴 ― 次の面接（X1）の優先順位になる。</a:t>
            </a:r>
            <a:endParaRPr lang="en-US" sz="730" dirty="0"/>
          </a:p>
        </p:txBody>
      </p:sp>
      <p:sp>
        <p:nvSpPr>
          <p:cNvPr id="33" name="Shape 31"/>
          <p:cNvSpPr/>
          <p:nvPr/>
        </p:nvSpPr>
        <p:spPr>
          <a:xfrm>
            <a:off x="274320" y="4096512"/>
            <a:ext cx="11658600" cy="1389888"/>
          </a:xfrm>
          <a:prstGeom prst="roundRect">
            <a:avLst>
              <a:gd name="adj" fmla="val 3289"/>
            </a:avLst>
          </a:prstGeom>
          <a:solidFill>
            <a:srgbClr val="EFEAF7"/>
          </a:solidFill>
          <a:ln w="15875">
            <a:solidFill>
              <a:srgbClr val="6D4FA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2336" y="4187952"/>
            <a:ext cx="379476" cy="182880"/>
          </a:xfrm>
          <a:prstGeom prst="roundRect">
            <a:avLst>
              <a:gd name="adj" fmla="val 20000"/>
            </a:avLst>
          </a:prstGeom>
          <a:solidFill>
            <a:srgbClr val="6D4FA1"/>
          </a:solidFill>
          <a:ln/>
        </p:spPr>
      </p:sp>
      <p:sp>
        <p:nvSpPr>
          <p:cNvPr id="35" name="Text 33"/>
          <p:cNvSpPr/>
          <p:nvPr/>
        </p:nvSpPr>
        <p:spPr>
          <a:xfrm>
            <a:off x="402336" y="4177894"/>
            <a:ext cx="3794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K13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1248" y="41422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統制の背骨 ― 承認状態遷移（すべての知識・改善案がこの上を動く）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548640" y="4498848"/>
            <a:ext cx="1517904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6D4FA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452628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Draft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585216" y="4718304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AI抽出直後</a:t>
            </a:r>
            <a:endParaRPr lang="en-US" sz="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現場へ出さない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2066544" y="4782312"/>
            <a:ext cx="182880" cy="0"/>
          </a:xfrm>
          <a:prstGeom prst="line">
            <a:avLst/>
          </a:prstGeom>
          <a:noFill/>
          <a:ln w="19050">
            <a:solidFill>
              <a:srgbClr val="6D4FA1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2249424" y="4498848"/>
            <a:ext cx="1517904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6D4FA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49424" y="452628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Candidate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2286000" y="4718304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担当者が</a:t>
            </a:r>
            <a:endParaRPr lang="en-US" sz="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内容を確認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3767328" y="4782312"/>
            <a:ext cx="182880" cy="0"/>
          </a:xfrm>
          <a:prstGeom prst="line">
            <a:avLst/>
          </a:prstGeom>
          <a:noFill/>
          <a:ln w="19050">
            <a:solidFill>
              <a:srgbClr val="6D4FA1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3950208" y="4498848"/>
            <a:ext cx="1517904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6D4FA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50208" y="452628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Validated</a:t>
            </a:r>
            <a:endParaRPr lang="en-US" sz="820" dirty="0"/>
          </a:p>
        </p:txBody>
      </p:sp>
      <p:sp>
        <p:nvSpPr>
          <p:cNvPr id="47" name="Text 45"/>
          <p:cNvSpPr/>
          <p:nvPr/>
        </p:nvSpPr>
        <p:spPr>
          <a:xfrm>
            <a:off x="3986784" y="4718304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証拠・制約・実績の</a:t>
            </a:r>
            <a:endParaRPr lang="en-US" sz="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検証を通過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5468112" y="4782312"/>
            <a:ext cx="182880" cy="0"/>
          </a:xfrm>
          <a:prstGeom prst="line">
            <a:avLst/>
          </a:prstGeom>
          <a:noFill/>
          <a:ln w="19050">
            <a:solidFill>
              <a:srgbClr val="6D4FA1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5650992" y="4498848"/>
            <a:ext cx="1517904" cy="566928"/>
          </a:xfrm>
          <a:prstGeom prst="roundRect">
            <a:avLst>
              <a:gd name="adj" fmla="val 6452"/>
            </a:avLst>
          </a:prstGeom>
          <a:solidFill>
            <a:srgbClr val="6D4FA1"/>
          </a:solidFill>
          <a:ln w="12700">
            <a:solidFill>
              <a:srgbClr val="6D4FA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50992" y="452628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Standard</a:t>
            </a:r>
            <a:endParaRPr lang="en-US" sz="820" dirty="0"/>
          </a:p>
        </p:txBody>
      </p:sp>
      <p:sp>
        <p:nvSpPr>
          <p:cNvPr id="51" name="Text 49"/>
          <p:cNvSpPr/>
          <p:nvPr/>
        </p:nvSpPr>
        <p:spPr>
          <a:xfrm>
            <a:off x="5687568" y="4718304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E8DE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責任者承認＋</a:t>
            </a:r>
            <a:endParaRPr lang="en-US" sz="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E8DE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効果確認済 ― 配信可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7589520" y="4498848"/>
            <a:ext cx="1353312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1430">
            <a:solidFill>
              <a:srgbClr val="5B6577"/>
            </a:solidFill>
            <a:prstDash val="dash"/>
          </a:ln>
        </p:spPr>
      </p:sp>
      <p:sp>
        <p:nvSpPr>
          <p:cNvPr id="53" name="Text 51"/>
          <p:cNvSpPr/>
          <p:nvPr/>
        </p:nvSpPr>
        <p:spPr>
          <a:xfrm>
            <a:off x="7589520" y="452628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Suspended</a:t>
            </a:r>
            <a:endParaRPr lang="en-US" sz="760" dirty="0"/>
          </a:p>
        </p:txBody>
      </p:sp>
      <p:sp>
        <p:nvSpPr>
          <p:cNvPr id="54" name="Text 52"/>
          <p:cNvSpPr/>
          <p:nvPr/>
        </p:nvSpPr>
        <p:spPr>
          <a:xfrm>
            <a:off x="7626096" y="47183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事故・品質問題・根拠失効で停止</a:t>
            </a:r>
            <a:endParaRPr lang="en-US" sz="580" dirty="0"/>
          </a:p>
        </p:txBody>
      </p:sp>
      <p:sp>
        <p:nvSpPr>
          <p:cNvPr id="55" name="Shape 53"/>
          <p:cNvSpPr/>
          <p:nvPr/>
        </p:nvSpPr>
        <p:spPr>
          <a:xfrm>
            <a:off x="9034272" y="4498848"/>
            <a:ext cx="1353312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1430">
            <a:solidFill>
              <a:srgbClr val="5B6577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9034272" y="452628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Superseded</a:t>
            </a:r>
            <a:endParaRPr lang="en-US" sz="760" dirty="0"/>
          </a:p>
        </p:txBody>
      </p:sp>
      <p:sp>
        <p:nvSpPr>
          <p:cNvPr id="57" name="Text 55"/>
          <p:cNvSpPr/>
          <p:nvPr/>
        </p:nvSpPr>
        <p:spPr>
          <a:xfrm>
            <a:off x="9070848" y="47183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変更影響により新版へ差し替え</a:t>
            </a:r>
            <a:endParaRPr lang="en-US" sz="580" dirty="0"/>
          </a:p>
        </p:txBody>
      </p:sp>
      <p:sp>
        <p:nvSpPr>
          <p:cNvPr id="58" name="Shape 56"/>
          <p:cNvSpPr/>
          <p:nvPr/>
        </p:nvSpPr>
        <p:spPr>
          <a:xfrm>
            <a:off x="10479024" y="4498848"/>
            <a:ext cx="1353312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1430">
            <a:solidFill>
              <a:srgbClr val="5B6577"/>
            </a:solidFill>
            <a:prstDash val="dash"/>
          </a:ln>
        </p:spPr>
      </p:sp>
      <p:sp>
        <p:nvSpPr>
          <p:cNvPr id="59" name="Text 57"/>
          <p:cNvSpPr/>
          <p:nvPr/>
        </p:nvSpPr>
        <p:spPr>
          <a:xfrm>
            <a:off x="10479024" y="4526280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Retired</a:t>
            </a:r>
            <a:endParaRPr lang="en-US" sz="760" dirty="0"/>
          </a:p>
        </p:txBody>
      </p:sp>
      <p:sp>
        <p:nvSpPr>
          <p:cNvPr id="60" name="Text 58"/>
          <p:cNvSpPr/>
          <p:nvPr/>
        </p:nvSpPr>
        <p:spPr>
          <a:xfrm>
            <a:off x="10515600" y="471830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8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保持期限到来・移行完了で廃止</a:t>
            </a:r>
            <a:endParaRPr lang="en-US" sz="580" dirty="0"/>
          </a:p>
        </p:txBody>
      </p:sp>
      <p:sp>
        <p:nvSpPr>
          <p:cNvPr id="61" name="Shape 59"/>
          <p:cNvSpPr/>
          <p:nvPr/>
        </p:nvSpPr>
        <p:spPr>
          <a:xfrm>
            <a:off x="7424928" y="4782312"/>
            <a:ext cx="164592" cy="0"/>
          </a:xfrm>
          <a:prstGeom prst="line">
            <a:avLst/>
          </a:prstGeom>
          <a:noFill/>
          <a:ln w="15875">
            <a:solidFill>
              <a:srgbClr val="5B6577"/>
            </a:solidFill>
            <a:prstDash val="dash"/>
            <a:tailEnd type="triangle"/>
          </a:ln>
        </p:spPr>
      </p:sp>
      <p:sp>
        <p:nvSpPr>
          <p:cNvPr id="62" name="Text 60"/>
          <p:cNvSpPr/>
          <p:nvPr/>
        </p:nvSpPr>
        <p:spPr>
          <a:xfrm>
            <a:off x="548640" y="5138928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検証は登録時と配信時の2回。不合格は棄却でなく差し戻し ― 「誰が何を追加すれば通るか」を機械が返す。返せない設計にすると現場は検証を迂回する。</a:t>
            </a:r>
            <a:endParaRPr lang="en-US" sz="740" dirty="0"/>
          </a:p>
        </p:txBody>
      </p:sp>
      <p:sp>
        <p:nvSpPr>
          <p:cNvPr id="63" name="Shape 61"/>
          <p:cNvSpPr/>
          <p:nvPr/>
        </p:nvSpPr>
        <p:spPr>
          <a:xfrm>
            <a:off x="274320" y="5632704"/>
            <a:ext cx="11658600" cy="420624"/>
          </a:xfrm>
          <a:prstGeom prst="roundRect">
            <a:avLst>
              <a:gd name="adj" fmla="val 10870"/>
            </a:avLst>
          </a:prstGeom>
          <a:solidFill>
            <a:srgbClr val="F7F9FC"/>
          </a:solidFill>
          <a:ln w="9525">
            <a:solidFill>
              <a:srgbClr val="D8DDE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1480" y="5632704"/>
            <a:ext cx="11430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総括：3つの知識を変換して振り分け（F-I）→ 2つの置き場を共通Agentが読む（F-II）→ 生成知が3経路で還流（F-III）― 使うほど読み先が賢くなる複利。人が改善するのではなく「改善が自動で回る構造」を作る</a:t>
            </a:r>
            <a:endParaRPr lang="en-US" sz="820" dirty="0"/>
          </a:p>
        </p:txBody>
      </p:sp>
      <p:sp>
        <p:nvSpPr>
          <p:cNvPr id="65" name="Text 63"/>
          <p:cNvSpPr/>
          <p:nvPr/>
        </p:nvSpPr>
        <p:spPr>
          <a:xfrm>
            <a:off x="301752" y="6126480"/>
            <a:ext cx="115881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経路③と失効自動化は旧デッキに無かった「あるべき姿」の追加 ― 継承は配信で終わらず、現場の声と設備の変化で知識の鮮度を保ち続ける閉ループにする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256032" y="6391656"/>
            <a:ext cx="11679631" cy="365760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67" name="Text 65"/>
          <p:cNvSpPr/>
          <p:nvPr/>
        </p:nvSpPr>
        <p:spPr>
          <a:xfrm>
            <a:off x="438912" y="6391656"/>
            <a:ext cx="113138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人が減っても知恵は減らない ― 使うほど棚が賢くなり、陳腐化した知識は状態遷移で自動的に退場する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109728"/>
            <a:ext cx="11679631" cy="475488"/>
          </a:xfrm>
          <a:prstGeom prst="roundRect">
            <a:avLst>
              <a:gd name="adj" fmla="val 9615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20624" y="109728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SoA AIエージェント層 完全版 ｜ ⑨ 連関マップ ― 層 × 部品 × データ × フロー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798003" y="205740"/>
            <a:ext cx="882396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798003" y="205740"/>
            <a:ext cx="8823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2A4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テクノプロ内製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753551" y="205740"/>
            <a:ext cx="1056132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753551" y="205740"/>
            <a:ext cx="10561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6D4FA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自社開発・継承部品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9882835" y="205740"/>
            <a:ext cx="969264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882835" y="205740"/>
            <a:ext cx="969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決定済プロダクト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10925251" y="205740"/>
            <a:ext cx="882396" cy="283464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925251" y="205740"/>
            <a:ext cx="88239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B657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 </a:t>
            </a:r>
            <a:pPr algn="ctr" indent="0" marL="0">
              <a:buNone/>
            </a:pPr>
            <a:r>
              <a:rPr lang="en-US" sz="7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既製品・投資先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01752" y="640080"/>
            <a:ext cx="115881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1枚対照 ― どの層のどの部品が、どのデータの正本を持ち、3本のフローのどこで読み書きするか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74320" y="1042416"/>
            <a:ext cx="969264" cy="32918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042416"/>
            <a:ext cx="969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層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1280160" y="1042416"/>
            <a:ext cx="2615184" cy="32918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1042416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コンポーネント（ID）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3931920" y="1042416"/>
            <a:ext cx="2295144" cy="32918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3931920" y="1042416"/>
            <a:ext cx="22951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保持する正本データ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6263640" y="1042416"/>
            <a:ext cx="1883664" cy="329184"/>
          </a:xfrm>
          <a:prstGeom prst="rect">
            <a:avLst/>
          </a:prstGeom>
          <a:solidFill>
            <a:srgbClr val="2F7D4F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04241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F-I 取込（P.7）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8183880" y="1042416"/>
            <a:ext cx="1883664" cy="329184"/>
          </a:xfrm>
          <a:prstGeom prst="rect">
            <a:avLst/>
          </a:prstGeom>
          <a:solidFill>
            <a:srgbClr val="C96A1B"/>
          </a:solidFill>
          <a:ln/>
        </p:spPr>
      </p:sp>
      <p:sp>
        <p:nvSpPr>
          <p:cNvPr id="22" name="Text 20"/>
          <p:cNvSpPr/>
          <p:nvPr/>
        </p:nvSpPr>
        <p:spPr>
          <a:xfrm>
            <a:off x="8183880" y="1042416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F-II 実行（P.8）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10104120" y="1042416"/>
            <a:ext cx="1792224" cy="329184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4" name="Text 22"/>
          <p:cNvSpPr/>
          <p:nvPr/>
        </p:nvSpPr>
        <p:spPr>
          <a:xfrm>
            <a:off x="10104120" y="1042416"/>
            <a:ext cx="1792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F-III 還流（P.9）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274320" y="1408176"/>
            <a:ext cx="969264" cy="85953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1408176"/>
            <a:ext cx="9692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SoE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1280160" y="1408176"/>
            <a:ext cx="2615184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44168" y="1408176"/>
            <a:ext cx="24871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U1〜U3 業務UI</a:t>
            </a:r>
            <a:endParaRPr lang="en-US" sz="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U4〜U6 収録・承認・効果測定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931920" y="1408176"/>
            <a:ext cx="2295144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95928" y="1408176"/>
            <a:ext cx="21671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正本を持たない</a:t>
            </a:r>
            <a:endParaRPr lang="en-US" sz="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（ステートレス）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263640" y="1408176"/>
            <a:ext cx="1883664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1408176"/>
            <a:ext cx="1755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U4 収録・面接</a:t>
            </a:r>
            <a:endParaRPr lang="en-US" sz="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U5 昇格承認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183880" y="1408176"/>
            <a:ext cx="1883664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47888" y="1408176"/>
            <a:ext cx="1755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U1/U2 依頼の入口</a:t>
            </a:r>
            <a:endParaRPr lang="en-US" sz="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根拠付き回答の出口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0104120" y="1408176"/>
            <a:ext cx="1792224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68128" y="1408176"/>
            <a:ext cx="16642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U5 改善承認</a:t>
            </a:r>
            <a:endParaRPr lang="en-US" sz="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U6 効果ゲート判定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74320" y="2304288"/>
            <a:ext cx="969264" cy="859536"/>
          </a:xfrm>
          <a:prstGeom prst="rect">
            <a:avLst/>
          </a:prstGeom>
          <a:solidFill>
            <a:srgbClr val="C96A1B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2304288"/>
            <a:ext cx="9692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SoA</a:t>
            </a:r>
            <a:endParaRPr lang="en-US" sz="960" dirty="0"/>
          </a:p>
        </p:txBody>
      </p:sp>
      <p:sp>
        <p:nvSpPr>
          <p:cNvPr id="39" name="Shape 37"/>
          <p:cNvSpPr/>
          <p:nvPr/>
        </p:nvSpPr>
        <p:spPr>
          <a:xfrm>
            <a:off x="1280160" y="2304288"/>
            <a:ext cx="2615184" cy="859536"/>
          </a:xfrm>
          <a:prstGeom prst="rect">
            <a:avLst/>
          </a:prstGeom>
          <a:solidFill>
            <a:srgbClr val="F7F9FC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44168" y="2304288"/>
            <a:ext cx="24871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A1〜A3 三役＋G1 ゲート</a:t>
            </a:r>
            <a:endParaRPr lang="en-US" sz="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X1〜X3 知識抽出Agent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931920" y="2304288"/>
            <a:ext cx="2295144" cy="859536"/>
          </a:xfrm>
          <a:prstGeom prst="rect">
            <a:avLst/>
          </a:prstGeom>
          <a:solidFill>
            <a:srgbClr val="F7F9FC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95928" y="2304288"/>
            <a:ext cx="21671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H6 queue＝実行の正本</a:t>
            </a:r>
            <a:endParaRPr lang="en-US" sz="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（契約・ログ・審査記録）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263640" y="2304288"/>
            <a:ext cx="1883664" cy="859536"/>
          </a:xfrm>
          <a:prstGeom prst="rect">
            <a:avLst/>
          </a:prstGeom>
          <a:solidFill>
            <a:srgbClr val="F7F9FC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27648" y="2304288"/>
            <a:ext cx="1755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X1 面接→X2 構造化</a:t>
            </a:r>
            <a:endParaRPr lang="en-US" sz="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→X3 状態遷移を運転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8183880" y="2304288"/>
            <a:ext cx="1883664" cy="859536"/>
          </a:xfrm>
          <a:prstGeom prst="rect">
            <a:avLst/>
          </a:prstGeom>
          <a:solidFill>
            <a:srgbClr val="F7F9FC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47888" y="2304288"/>
            <a:ext cx="1755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5工程の実行主体</a:t>
            </a:r>
            <a:endParaRPr lang="en-US" sz="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読む→検証→統合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0104120" y="2304288"/>
            <a:ext cx="1792224" cy="859536"/>
          </a:xfrm>
          <a:prstGeom prst="rect">
            <a:avLst/>
          </a:prstGeom>
          <a:solidFill>
            <a:srgbClr val="F7F9FC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168128" y="2304288"/>
            <a:ext cx="16642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改善案の生成</a:t>
            </a:r>
            <a:endParaRPr lang="en-US" sz="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harnessテスト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274320" y="3200400"/>
            <a:ext cx="969264" cy="859536"/>
          </a:xfrm>
          <a:prstGeom prst="rect">
            <a:avLst/>
          </a:prstGeom>
          <a:solidFill>
            <a:srgbClr val="C96A1B"/>
          </a:solidFill>
          <a:ln/>
        </p:spPr>
      </p:sp>
      <p:sp>
        <p:nvSpPr>
          <p:cNvPr id="50" name="Text 48"/>
          <p:cNvSpPr/>
          <p:nvPr/>
        </p:nvSpPr>
        <p:spPr>
          <a:xfrm>
            <a:off x="274320" y="3200400"/>
            <a:ext cx="9692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ハーネス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1280160" y="3200400"/>
            <a:ext cx="2615184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44168" y="3200400"/>
            <a:ext cx="24871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H1〜H6 ― 1業務1本の</a:t>
            </a:r>
            <a:endParaRPr lang="en-US" sz="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「やり方」の6棚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3931920" y="3200400"/>
            <a:ext cx="2295144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95928" y="3200400"/>
            <a:ext cx="21671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rules・SKILLS・介入点</a:t>
            </a:r>
            <a:endParaRPr lang="en-US" sz="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合格条件（◆承認制）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263640" y="3200400"/>
            <a:ext cx="1883664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27648" y="3200400"/>
            <a:ext cx="1755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暗黙知の「手順」側</a:t>
            </a:r>
            <a:endParaRPr lang="en-US" sz="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→H2 SKILLSへ格納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8183880" y="3200400"/>
            <a:ext cx="1883664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247888" y="3200400"/>
            <a:ext cx="1755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全工程の行動規範</a:t>
            </a:r>
            <a:endParaRPr lang="en-US" sz="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・合格条件を供給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10104120" y="3200400"/>
            <a:ext cx="1792224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168128" y="3200400"/>
            <a:ext cx="16642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経路②の改訂先</a:t>
            </a:r>
            <a:endParaRPr lang="en-US" sz="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（Gated RSI）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274320" y="4096512"/>
            <a:ext cx="969264" cy="859536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2" name="Text 60"/>
          <p:cNvSpPr/>
          <p:nvPr/>
        </p:nvSpPr>
        <p:spPr>
          <a:xfrm>
            <a:off x="274320" y="4096512"/>
            <a:ext cx="9692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中間層</a:t>
            </a:r>
            <a:endParaRPr lang="en-US" sz="960" dirty="0"/>
          </a:p>
        </p:txBody>
      </p:sp>
      <p:sp>
        <p:nvSpPr>
          <p:cNvPr id="63" name="Shape 61"/>
          <p:cNvSpPr/>
          <p:nvPr/>
        </p:nvSpPr>
        <p:spPr>
          <a:xfrm>
            <a:off x="1280160" y="4096512"/>
            <a:ext cx="2615184" cy="859536"/>
          </a:xfrm>
          <a:prstGeom prst="rect">
            <a:avLst/>
          </a:prstGeom>
          <a:solidFill>
            <a:srgbClr val="F7F9FC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344168" y="4096512"/>
            <a:ext cx="24871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K1〜K12 定義×解釈×装置</a:t>
            </a:r>
            <a:endParaRPr lang="en-US" sz="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 知識Obj＋K13 状態遷移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3931920" y="4096512"/>
            <a:ext cx="2295144" cy="859536"/>
          </a:xfrm>
          <a:prstGeom prst="rect">
            <a:avLst/>
          </a:prstGeom>
          <a:solidFill>
            <a:srgbClr val="F7F9FC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995928" y="4096512"/>
            <a:ext cx="21671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意味の正本 ― 定義◆</a:t>
            </a:r>
            <a:endParaRPr lang="en-US" sz="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解釈●・SK（版・失効付）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6263640" y="4096512"/>
            <a:ext cx="1883664" cy="859536"/>
          </a:xfrm>
          <a:prstGeom prst="rect">
            <a:avLst/>
          </a:prstGeom>
          <a:solidFill>
            <a:srgbClr val="F7F9FC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327648" y="4096512"/>
            <a:ext cx="1755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K9/K4で名寄せ・正規化</a:t>
            </a:r>
            <a:endParaRPr lang="en-US" sz="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SK登録＝K13 Draftから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8183880" y="4096512"/>
            <a:ext cx="1883664" cy="859536"/>
          </a:xfrm>
          <a:prstGeom prst="rect">
            <a:avLst/>
          </a:prstGeom>
          <a:solidFill>
            <a:srgbClr val="F7F9FC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247888" y="4096512"/>
            <a:ext cx="1755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M1〜M5で全工程に</a:t>
            </a:r>
            <a:endParaRPr lang="en-US" sz="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事実・制約・根拠を供給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10104120" y="4096512"/>
            <a:ext cx="1792224" cy="859536"/>
          </a:xfrm>
          <a:prstGeom prst="rect">
            <a:avLst/>
          </a:prstGeom>
          <a:solidFill>
            <a:srgbClr val="F7F9FC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10168128" y="4096512"/>
            <a:ext cx="16642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経路①の書込先</a:t>
            </a:r>
            <a:endParaRPr lang="en-US" sz="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（K6/K7/K8・即時）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274320" y="4992624"/>
            <a:ext cx="969264" cy="859536"/>
          </a:xfrm>
          <a:prstGeom prst="rect">
            <a:avLst/>
          </a:prstGeom>
          <a:solidFill>
            <a:srgbClr val="7A3E63"/>
          </a:solidFill>
          <a:ln/>
        </p:spPr>
      </p:sp>
      <p:sp>
        <p:nvSpPr>
          <p:cNvPr id="74" name="Text 72"/>
          <p:cNvSpPr/>
          <p:nvPr/>
        </p:nvSpPr>
        <p:spPr>
          <a:xfrm>
            <a:off x="274320" y="4992624"/>
            <a:ext cx="96926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SoR＋EP</a:t>
            </a:r>
            <a:endParaRPr lang="en-US" sz="960" dirty="0"/>
          </a:p>
        </p:txBody>
      </p:sp>
      <p:sp>
        <p:nvSpPr>
          <p:cNvPr id="75" name="Shape 73"/>
          <p:cNvSpPr/>
          <p:nvPr/>
        </p:nvSpPr>
        <p:spPr>
          <a:xfrm>
            <a:off x="1280160" y="4992624"/>
            <a:ext cx="2615184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344168" y="4992624"/>
            <a:ext cx="248716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R1〜R4 基幹・現場</a:t>
            </a:r>
            <a:endParaRPr lang="en-US" sz="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E1〜E4 観測・証拠</a:t>
            </a:r>
            <a:endParaRPr lang="en-US" sz="700" dirty="0"/>
          </a:p>
        </p:txBody>
      </p:sp>
      <p:sp>
        <p:nvSpPr>
          <p:cNvPr id="77" name="Shape 75"/>
          <p:cNvSpPr/>
          <p:nvPr/>
        </p:nvSpPr>
        <p:spPr>
          <a:xfrm>
            <a:off x="3931920" y="4992624"/>
            <a:ext cx="2295144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995928" y="4992624"/>
            <a:ext cx="21671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事実と観測の正本</a:t>
            </a:r>
            <a:endParaRPr lang="en-US" sz="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（読取専用・原本7年）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6263640" y="4992624"/>
            <a:ext cx="1883664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327648" y="4992624"/>
            <a:ext cx="1755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全データ化の始点</a:t>
            </a:r>
            <a:endParaRPr lang="en-US" sz="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暗黙知はE1/E2から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8183880" y="4992624"/>
            <a:ext cx="1883664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8247888" y="4992624"/>
            <a:ext cx="175564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verifierの突合先</a:t>
            </a:r>
            <a:endParaRPr lang="en-US" sz="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UIの遡及再生の終点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10104120" y="4992624"/>
            <a:ext cx="1792224" cy="859536"/>
          </a:xfrm>
          <a:prstGeom prst="rect">
            <a:avLst/>
          </a:prstGeom>
          <a:solidFill>
            <a:srgbClr val="FFFFFF"/>
          </a:solidFill>
          <a:ln w="6350">
            <a:solidFill>
              <a:srgbClr val="D8DDE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168128" y="4992624"/>
            <a:ext cx="166420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経路③の還流先</a:t>
            </a:r>
            <a:endParaRPr lang="en-US" sz="7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失効イベントの発火源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320040" y="5614416"/>
            <a:ext cx="11612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304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確認の観点：作る範囲は狭いか（Build＝SK/K13/E3/X系のみ）／ 知識は自社に残るか（正本の置き場）／ 誤伝承は止まるか（G1・M5・K13の三重ゲート）／ 効果で拡大を判断するか（U6ゲート制）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301752" y="6126480"/>
            <a:ext cx="115881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横断統制：K12ガバナンス（版・アクセス・監査）とN2（人事評価への不使用・労使合意）は全層に適用。本マップのID体系（U/A/G/H/X/M/K/SK/R/E）は全頁共通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256032" y="6391656"/>
            <a:ext cx="11679631" cy="365760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88" name="Text 86"/>
          <p:cNvSpPr/>
          <p:nvPr/>
        </p:nvSpPr>
        <p:spPr>
          <a:xfrm>
            <a:off x="438912" y="6391656"/>
            <a:ext cx="113138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部門長・上長・顧客企業の確認事項はこの1枚 ― 詳細は各頁のID・棚名がそのまま索引になる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2026-07-26T05:10:37Z</dcterms:created>
  <dcterms:modified xsi:type="dcterms:W3CDTF">2026-07-26T05:10:37Z</dcterms:modified>
</cp:coreProperties>
</file>