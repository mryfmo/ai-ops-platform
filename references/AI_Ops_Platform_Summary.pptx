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ai-ops-platformリポジトリ（README・ADR14本・仕様書・利用ガイド）を精査して作成したプラットフォーム説明資料。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389120" cy="4389120"/>
          </a:xfrm>
          <a:prstGeom prst="ellipse">
            <a:avLst/>
          </a:prstGeom>
          <a:solidFill>
            <a:srgbClr val="2E3A8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2E3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1095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Ops Platform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22960" y="2971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定型業務はAIへ、計算はコードへ、判断は人へ。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AI基盤 × AIエージェント主導 DevOps運用基盤 ― プラットフォーム概要（部門長・上長向け）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440680"/>
            <a:ext cx="47548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5961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 CoE　2026年7月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  OVERVIEW ― 概要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「プロジェクト運営」と「開発・運用」、2つの定型サイクルを1つの基盤で回す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対象規模: プロジェクト約50件（設計上限100件）× 関連企業 国内外数十社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892040" cy="3291840"/>
          </a:xfrm>
          <a:prstGeom prst="roundRect">
            <a:avLst>
              <a:gd name="adj" fmla="val 2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4892040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プロジェクト運営サイクル（PrjOps）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3408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情報収集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3408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2724912"/>
            <a:ext cx="0" cy="10058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82549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25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分析・判定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82549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3209544"/>
            <a:ext cx="0" cy="10058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" y="331012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レポート生成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31012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3694176"/>
            <a:ext cx="0" cy="10058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37947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承認・配信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37947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4178808"/>
            <a:ext cx="0" cy="10058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8680" y="427939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79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督促・回収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27939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340864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週次・月次の定例業務を7体のエージェントが分担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1600200"/>
            <a:ext cx="4892040" cy="3291840"/>
          </a:xfrm>
          <a:prstGeom prst="roundRect">
            <a:avLst>
              <a:gd name="adj" fmla="val 2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1600200"/>
            <a:ext cx="4892040" cy="566928"/>
          </a:xfrm>
          <a:prstGeom prst="roundRect">
            <a:avLst>
              <a:gd name="adj" fmla="val 14516"/>
            </a:avLst>
          </a:prstGeom>
          <a:solidFill>
            <a:srgbClr val="2E3A8C"/>
          </a:solidFill>
          <a:ln/>
        </p:spPr>
      </p:sp>
      <p:sp>
        <p:nvSpPr>
          <p:cNvPr id="30" name="Text 28"/>
          <p:cNvSpPr/>
          <p:nvPr/>
        </p:nvSpPr>
        <p:spPr>
          <a:xfrm>
            <a:off x="6976872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開発・運用サイクル（DevOps）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068312" y="23408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068312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 / ビルド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68312" y="2340864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39912" y="2724912"/>
            <a:ext cx="0" cy="100584"/>
          </a:xfrm>
          <a:prstGeom prst="line">
            <a:avLst/>
          </a:prstGeom>
          <a:noFill/>
          <a:ln w="19050">
            <a:solidFill>
              <a:srgbClr val="2E3A8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068312" y="282549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68312" y="2825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68312" y="282549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39912" y="3209544"/>
            <a:ext cx="0" cy="100584"/>
          </a:xfrm>
          <a:prstGeom prst="line">
            <a:avLst/>
          </a:prstGeom>
          <a:noFill/>
          <a:ln w="19050">
            <a:solidFill>
              <a:srgbClr val="2E3A8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68312" y="331012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068312" y="33101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68312" y="3310128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39912" y="3694176"/>
            <a:ext cx="0" cy="100584"/>
          </a:xfrm>
          <a:prstGeom prst="line">
            <a:avLst/>
          </a:prstGeom>
          <a:noFill/>
          <a:ln w="19050">
            <a:solidFill>
              <a:srgbClr val="2E3A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68312" y="37947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068312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インシデント対応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068312" y="37947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39912" y="4178808"/>
            <a:ext cx="0" cy="100584"/>
          </a:xfrm>
          <a:prstGeom prst="line">
            <a:avLst/>
          </a:prstGeom>
          <a:noFill/>
          <a:ln w="19050">
            <a:solidFill>
              <a:srgbClr val="2E3A8C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068312" y="427939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068312" y="4279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権限管理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68312" y="4279392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94392" y="2340864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リリースと障害対応を7体のエージェントが分担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2926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×</a:t>
            </a:r>
            <a:endParaRPr lang="en-US" sz="3000" dirty="0"/>
          </a:p>
        </p:txBody>
      </p:sp>
      <p:sp>
        <p:nvSpPr>
          <p:cNvPr id="52" name="Shape 50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1206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共通基盤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377440" y="53766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4001" y="5473233"/>
            <a:ext cx="245791" cy="245791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2907792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追記専用監査ログ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4736592" y="53766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153" y="5473233"/>
            <a:ext cx="245791" cy="245791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266944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ペルソナ別権限フィルタ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7095744" y="53766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05" y="5473233"/>
            <a:ext cx="245791" cy="245791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626096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秘密情報サニタイズ</a:t>
            </a:r>
            <a:endParaRPr lang="en-US" sz="1050" dirty="0"/>
          </a:p>
        </p:txBody>
      </p:sp>
      <p:sp>
        <p:nvSpPr>
          <p:cNvPr id="63" name="Shape 58"/>
          <p:cNvSpPr/>
          <p:nvPr/>
        </p:nvSpPr>
        <p:spPr>
          <a:xfrm>
            <a:off x="9454896" y="53766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457" y="5473233"/>
            <a:ext cx="245791" cy="245791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9985248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ID体系・営業日・時系列集計</a:t>
            </a:r>
            <a:endParaRPr lang="en-US" sz="1050" dirty="0"/>
          </a:p>
        </p:txBody>
      </p:sp>
      <p:sp>
        <p:nvSpPr>
          <p:cNvPr id="66" name="Text 60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前提ツールは既存契約の4つのみ: Claude Code / GitHub / Microsoft Teams / Outlook（新規SaaS契約は不要）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  CONCEPT ― 設計思想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AIが書き、コードが計算し、人が決める ― 役割を三層に分離する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生成AI活用の3大リスク（誤り・無責任・ブラックボックス）に、機能ではなく「構造」で答える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321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5066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837944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人が決める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72768" y="228600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本番デプロイの承認 / 経営・投資家向け報告の承認 / AI生成PRのマージ / 例外判断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869680" y="2304288"/>
            <a:ext cx="3200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281160" y="1892808"/>
            <a:ext cx="2331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0" y="189280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責任の所在が常に明確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8321040" cy="1234440"/>
          </a:xfrm>
          <a:prstGeom prst="roundRect">
            <a:avLst>
              <a:gd name="adj" fmla="val 666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344728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356798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72768" y="3255264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コードが計算する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572768" y="370332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数値・集計・RAG判定・状態遷移・権限フィルタ ― AIに依存しない決定的関数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869680" y="3721608"/>
            <a:ext cx="3200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9281160" y="3310128"/>
            <a:ext cx="2331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418320" y="33101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正確性をテストで実証可能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4526280"/>
            <a:ext cx="8321040" cy="123444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4864608"/>
            <a:ext cx="548640" cy="548640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4985309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4672584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AIが書く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572768" y="5120640"/>
            <a:ext cx="7086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結論文・要約文などの文章スロットのみ。数値の生成は設計上禁止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869680" y="5138928"/>
            <a:ext cx="32004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9281160" y="4727448"/>
            <a:ext cx="23317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18320" y="472744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幻覚が数字に混入しない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この三層分離が、以降で説明するすべての機能・アーキテクチャ・運用ルールの土台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  AGENTS ― 実行体制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7体+7体、14のエージェントが2つのサイクルを分担する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各エージェントは単機能に限定 ― 障害切り分け・権限最小化・テスト容易性のための分業設計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― プロジェクト運営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9808" y="233172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AGT-01 オーケストレーター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全体統括・ジョブ制御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AGT-02 コレクター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GitHub/Teamsから情報収集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320040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AGT-03 アナライザー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35661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ステータス判定・リスク分析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320040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AGT-04 レポート生成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5661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5プロファイル×日英HTML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406908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AGT-05 ディストリビューター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4434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Outlook/Teams配信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406908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AGT-06 トラッカー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4434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督促スケジュール・回収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" y="493776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010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AGT-07 ベリファイア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53035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生成物の検証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99632" y="160020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160020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 ― 開発・運用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00800" y="233172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AGT-ORCH 統括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運用ジョブの統括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34272" y="233172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2404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AGT-BLD ビルド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CI失敗分類・修正案生成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320040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AGT-DEP デプロイ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0528" y="35661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状態機械・承認ゲート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34272" y="320040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32735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AGT-INC インシデント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35661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重大度分類・初動支援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0" y="406908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AGT-CHG 変更管理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0528" y="4434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差分要約・変更審査支援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34272" y="406908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AGT-RPT レポート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4434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DORA指標・運用レポート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00800" y="4937760"/>
            <a:ext cx="24505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0528" y="50109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AGT-SEC セキュリティ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10528" y="53035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JIT権限・失効判定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実行基盤: PrjOps = GitHub Actionsのスケジュール実行で完結 / DevOps = 常駐コンテナ（30秒間隔の監視・毎分の権限失効判定に対応）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  ARCHITECTURE ― 実装構造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6パッケージ構成 ― 判定ロジックはAIから物理的に分離されている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モノレポで開発効率を確保しつつ、データ保持期間などの論理分離はパッケージ境界で維持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shared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共通基盤: ID体系・営業日・監査ログ・秘密情報サニタイザ・外部APIクライアント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91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03120" y="2359152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PrjOps 7エージェント / 決定的ロジック / レポートテンプレート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723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03120" y="3072384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 7エージェント / DORA・リスク・状態機械 / DBスキーマ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03120" y="3785616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常駐サーバ: Webhook受信・スケジューラ・WebUIプロキシ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9884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3120" y="449884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ダッシュボード: Entra ID認証・ペルソナ解決・ページエージェント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417320" cy="585216"/>
          </a:xfrm>
          <a:prstGeom prst="round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03120" y="521208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仕様ID⇔実装⇔テストの相互参照検証ツール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各パッケージ内部の分離ルール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92240" y="2057400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212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src/lib/ ― 純粋関数のみ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0" y="2560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判定・スコアリング・状態遷移・バリデーション。外部API・AI・DBへの依存ゼロ。ネットワーク無しでテスト実行でき、正しさを実測で保証。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52560" y="3749040"/>
            <a:ext cx="0" cy="20116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3950208"/>
            <a:ext cx="5120640" cy="1691640"/>
          </a:xfrm>
          <a:prstGeom prst="roundRect">
            <a:avLst>
              <a:gd name="adj" fmla="val 4865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src/agents/ ― 薄い結線層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445312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lib/の関数と外部クライアント（AI・GitHub・Teams）をつなぐだけの層。AI呼び出しはここに隔離され、判定の正しさに影響できない。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新規ファイルには根拠となる仕様IDの記載が必須 ― 仕様と実装の対応はツールが機械的に検証する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  DATA FLOW ― 処理の流れ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レポートが届くまでの6ステップ ― AIが触れるのは1箇所だけ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GitHub・Teamsのイベント発生から、承認済みレポートの配信まで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5004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658" y="2234062"/>
            <a:ext cx="286756" cy="2867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受信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/ TeamsのWebhookを署名検証して受信</a:t>
            </a:r>
            <a:endParaRPr lang="en-US" sz="93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78892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14016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40380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034" y="2234062"/>
            <a:ext cx="286756" cy="286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5456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永続化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542032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イベントを正規化しDBへ記録（生データ保全）</a:t>
            </a:r>
            <a:endParaRPr lang="en-US" sz="93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278892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279392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905756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410" y="2234062"/>
            <a:ext cx="286756" cy="2867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0832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計算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407408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コードが集計・RAG判定・DORA算出 ― ここで数値が確定</a:t>
            </a:r>
            <a:endParaRPr lang="en-US" sz="93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278892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44768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FFF6E3"/>
          </a:solidFill>
          <a:ln w="19050">
            <a:solidFill>
              <a:srgbClr val="F0DFAE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771132" y="2121408"/>
            <a:ext cx="512064" cy="512064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786" y="2234062"/>
            <a:ext cx="286756" cy="28675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36208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文章生成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272784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AIが結論文・要約文のスロットだけを執筆</a:t>
            </a:r>
            <a:endParaRPr lang="en-US" sz="93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2788920"/>
            <a:ext cx="182880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010144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8636508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9162" y="2234062"/>
            <a:ext cx="286756" cy="2867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01584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組立・フィルタ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8138160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コードが数値を注入し、ペルソナ別権限で絞り込み</a:t>
            </a:r>
            <a:endParaRPr lang="en-US" sz="93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9216" y="2788920"/>
            <a:ext cx="182880" cy="18288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875520" y="1920240"/>
            <a:ext cx="1764792" cy="2514600"/>
          </a:xfrm>
          <a:prstGeom prst="roundRect">
            <a:avLst>
              <a:gd name="adj" fmla="val 4663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10501884" y="21214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4538" y="2234062"/>
            <a:ext cx="286756" cy="28675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66960" y="2743200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承認・配信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10003536" y="3127248"/>
            <a:ext cx="1508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経営・投資家向けは人間承認後、メール/Teamsへ</a:t>
            </a:r>
            <a:endParaRPr lang="en-US" sz="930" dirty="0"/>
          </a:p>
        </p:txBody>
      </p:sp>
      <p:sp>
        <p:nvSpPr>
          <p:cNvPr id="40" name="Shape 27"/>
          <p:cNvSpPr/>
          <p:nvPr/>
        </p:nvSpPr>
        <p:spPr>
          <a:xfrm>
            <a:off x="6318504" y="15727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9A16"/>
          </a:solidFill>
          <a:ln/>
        </p:spPr>
      </p:sp>
      <p:sp>
        <p:nvSpPr>
          <p:cNvPr id="41" name="Text 28"/>
          <p:cNvSpPr/>
          <p:nvPr/>
        </p:nvSpPr>
        <p:spPr>
          <a:xfrm>
            <a:off x="6318504" y="15727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唯一のAI介在点</a:t>
            </a:r>
            <a:endParaRPr lang="en-US" sz="950" dirty="0"/>
          </a:p>
        </p:txBody>
      </p:sp>
      <p:sp>
        <p:nvSpPr>
          <p:cNvPr id="42" name="Shape 29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868680" y="4937760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この順序が品質を決める: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数値は③で確定済みのため、④のAIは数字に触れられない。⑤の権限フィルタは取得側で強制（表示側の後付けマスキング禁止）。⑥の配信先の有効判定はリクエスト毎に行う。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  FOR EXECUTIVES ― 経営向け機能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Seven Keys ― 経営は7つの問いでポートフォリオを毎月点検する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IBM由来の正典7キーをプロジェクト毎にRAG評価。財務は遅行指標のため意図的に除外（投資家ビューで提供）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48840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07208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65576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23944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82312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40680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99048" y="17373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K7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48840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07208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5576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23944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40680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9048" y="210312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614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22" name="Shape 20"/>
          <p:cNvSpPr/>
          <p:nvPr/>
        </p:nvSpPr>
        <p:spPr>
          <a:xfrm>
            <a:off x="2807208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65576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24" name="Shape 22"/>
          <p:cNvSpPr/>
          <p:nvPr/>
        </p:nvSpPr>
        <p:spPr>
          <a:xfrm>
            <a:off x="4123944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40680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9048" y="2761488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198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30" name="Shape 28"/>
          <p:cNvSpPr/>
          <p:nvPr/>
        </p:nvSpPr>
        <p:spPr>
          <a:xfrm>
            <a:off x="2807208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5576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2" name="Shape 30"/>
          <p:cNvSpPr/>
          <p:nvPr/>
        </p:nvSpPr>
        <p:spPr>
          <a:xfrm>
            <a:off x="4123944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82312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34" name="Shape 32"/>
          <p:cNvSpPr/>
          <p:nvPr/>
        </p:nvSpPr>
        <p:spPr>
          <a:xfrm>
            <a:off x="5440680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9048" y="3419856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B8C0CE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7822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48840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8" name="Shape 36"/>
          <p:cNvSpPr/>
          <p:nvPr/>
        </p:nvSpPr>
        <p:spPr>
          <a:xfrm>
            <a:off x="2807208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39" name="Shape 37"/>
          <p:cNvSpPr/>
          <p:nvPr/>
        </p:nvSpPr>
        <p:spPr>
          <a:xfrm>
            <a:off x="3465576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</p:sp>
      <p:sp>
        <p:nvSpPr>
          <p:cNvPr id="40" name="Shape 38"/>
          <p:cNvSpPr/>
          <p:nvPr/>
        </p:nvSpPr>
        <p:spPr>
          <a:xfrm>
            <a:off x="4123944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41" name="Shape 39"/>
          <p:cNvSpPr/>
          <p:nvPr/>
        </p:nvSpPr>
        <p:spPr>
          <a:xfrm>
            <a:off x="4782312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42" name="Shape 40"/>
          <p:cNvSpPr/>
          <p:nvPr/>
        </p:nvSpPr>
        <p:spPr>
          <a:xfrm>
            <a:off x="5440680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9048" y="4078224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736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プロジェクトE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148840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B8C0CE"/>
          </a:solidFill>
          <a:ln/>
        </p:spPr>
      </p:sp>
      <p:sp>
        <p:nvSpPr>
          <p:cNvPr id="46" name="Shape 44"/>
          <p:cNvSpPr/>
          <p:nvPr/>
        </p:nvSpPr>
        <p:spPr>
          <a:xfrm>
            <a:off x="2807208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47" name="Shape 45"/>
          <p:cNvSpPr/>
          <p:nvPr/>
        </p:nvSpPr>
        <p:spPr>
          <a:xfrm>
            <a:off x="3465576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48" name="Shape 46"/>
          <p:cNvSpPr/>
          <p:nvPr/>
        </p:nvSpPr>
        <p:spPr>
          <a:xfrm>
            <a:off x="4123944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49" name="Shape 47"/>
          <p:cNvSpPr/>
          <p:nvPr/>
        </p:nvSpPr>
        <p:spPr>
          <a:xfrm>
            <a:off x="4782312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B8C0CE"/>
          </a:solidFill>
          <a:ln/>
        </p:spPr>
      </p:sp>
      <p:sp>
        <p:nvSpPr>
          <p:cNvPr id="50" name="Shape 48"/>
          <p:cNvSpPr/>
          <p:nvPr/>
        </p:nvSpPr>
        <p:spPr>
          <a:xfrm>
            <a:off x="5440680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D99A16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9048" y="4736592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2E8B57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542239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表示イメージ（サンプル値）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1783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7つの問い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315200" y="210312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K1 関係者は本気か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K2 事業効果は出ているか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K3 計画は予測可能か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K4 スコープは管理下か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K5 チームは高稼働か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K6 リスクは抑えられているか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K7 組織に利益が残るか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315200" y="4572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/>
        </p:spPr>
      </p:sp>
      <p:sp>
        <p:nvSpPr>
          <p:cNvPr id="56" name="Text 54"/>
          <p:cNvSpPr/>
          <p:nvPr/>
        </p:nvSpPr>
        <p:spPr>
          <a:xfrm>
            <a:off x="7644384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順調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394192" y="4572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99A16"/>
          </a:solidFill>
          <a:ln/>
        </p:spPr>
      </p:sp>
      <p:sp>
        <p:nvSpPr>
          <p:cNvPr id="58" name="Text 56"/>
          <p:cNvSpPr/>
          <p:nvPr/>
        </p:nvSpPr>
        <p:spPr>
          <a:xfrm>
            <a:off x="8723376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注意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473184" y="4572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60" name="Text 58"/>
          <p:cNvSpPr/>
          <p:nvPr/>
        </p:nvSpPr>
        <p:spPr>
          <a:xfrm>
            <a:off x="9802368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危険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552176" y="457200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B8C0CE"/>
          </a:solidFill>
          <a:ln/>
        </p:spPr>
      </p:sp>
      <p:sp>
        <p:nvSpPr>
          <p:cNvPr id="62" name="Text 60"/>
          <p:cNvSpPr/>
          <p:nvPr/>
        </p:nvSpPr>
        <p:spPr>
          <a:xfrm>
            <a:off x="1088136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未評価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" y="5669280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月次PDCA: </a:t>
            </a:r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毎月第1営業日にスナップショットを記録し、前月比で改善・悪化キーを提示。データ欠落時はAIが推測せず「未評価（グレー）」を貫く。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  FOR OPERATIONS ― 運用向け機能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デプロイと障害対応は、閾値ルールが決定的に制御する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TH-001〜007の閾値はすべてコード実装 ― 判定にAIは介在せず、同じ入力なら必ず同じ結果になる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デプロイパイプライン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57276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インシデント対応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2140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214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13969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ステージング自動昇格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CI全成功 + カバレッジ80%以上 + 静的解析Critical 0件で自動昇格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0156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01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4198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本番は人間承認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リーダー以上のTeams承認必須。30分無応答で上位へ、60分で自動中止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68172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817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470001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自動ロールバック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デプロイ後の監視ウィンドウでエラー率を評価し、条件成立で自動切り戻し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07008" y="3081528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207008" y="4361688"/>
            <a:ext cx="0" cy="16459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1965960"/>
            <a:ext cx="5376672" cy="1115568"/>
          </a:xfrm>
          <a:prstGeom prst="roundRect">
            <a:avLst>
              <a:gd name="adj" fmla="val 7377"/>
            </a:avLst>
          </a:prstGeom>
          <a:solidFill>
            <a:srgbClr val="FDF0EE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12140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1214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213969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一次切り分けSLA 5分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251460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アラート受信から5分以内に重大度分類・起票・通知を完了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246120"/>
            <a:ext cx="5376672" cy="1115568"/>
          </a:xfrm>
          <a:prstGeom prst="roundRect">
            <a:avLst>
              <a:gd name="adj" fmla="val 737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40156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2E3A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401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341985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時限エスカレーション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46520" y="379476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Sev1/2でAck未応答10分でリーダー、20分でマネージャーへ自動昇格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376672" cy="1115568"/>
          </a:xfrm>
          <a:prstGeom prst="roundRect">
            <a:avLst>
              <a:gd name="adj" fmla="val 7377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681728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2E3A8C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6817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TH-006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4700016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誤検知の自動抑制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46520" y="5074920"/>
            <a:ext cx="5010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誤検知候補を決定的ルールで自動クローズ候補化し、ノイズを削減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運用結果はDORA 5指標（デプロイ頻度・リードタイム・変更失敗率・復旧時間 等）とリスクスコアとして自動集計され、レポートへ反映される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  FOR DEVELOPERS ― 開発向け機能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AIが直し、人がマージする ― コード修正の指示から反映まで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Teamsの1コマンドで修正PRが届く。ただしmainブランチにAIが直接触れる経路は存在しない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476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90195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指示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4944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Teams /code コマンド、またはWebUIからタスクを指示</a:t>
            </a:r>
            <a:endParaRPr lang="en-US" sz="98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251460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93492" y="16916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39796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19476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8436" y="190195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人間の確認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2939796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確認カードの明示クリック必須（誤発火防止）</a:t>
            </a:r>
            <a:endParaRPr lang="en-US" sz="98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2514600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38344" y="16916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184648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94767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733288" y="190195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隔離実行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184648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 Actionsランナー上でタスク毎に完全分離して実行</a:t>
            </a:r>
            <a:endParaRPr lang="en-US" sz="98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251460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83196" y="16916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42950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4" y="1947672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978140" y="190195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PR作成</a:t>
            </a:r>
            <a:endParaRPr lang="en-US" sz="1150" dirty="0"/>
          </a:p>
        </p:txBody>
      </p:sp>
      <p:sp>
        <p:nvSpPr>
          <p:cNvPr id="27" name="Text 18"/>
          <p:cNvSpPr/>
          <p:nvPr/>
        </p:nvSpPr>
        <p:spPr>
          <a:xfrm>
            <a:off x="7429500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専用ブランチへpushしPR作成。AI起源ラベルを必ず付与</a:t>
            </a:r>
            <a:endParaRPr lang="en-US" sz="98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2514600"/>
            <a:ext cx="182880" cy="1828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528048" y="1691640"/>
            <a:ext cx="21031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9674352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4936" y="194767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0222992" y="190195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人間レビュー</a:t>
            </a:r>
            <a:endParaRPr lang="en-US" sz="1150" dirty="0"/>
          </a:p>
        </p:txBody>
      </p:sp>
      <p:sp>
        <p:nvSpPr>
          <p:cNvPr id="33" name="Text 22"/>
          <p:cNvSpPr/>
          <p:nvPr/>
        </p:nvSpPr>
        <p:spPr>
          <a:xfrm>
            <a:off x="9674352" y="245059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ブランチ保護によりマージは人間レビュアーのみ</a:t>
            </a:r>
            <a:endParaRPr lang="en-US" sz="980" dirty="0"/>
          </a:p>
        </p:txBody>
      </p:sp>
      <p:sp>
        <p:nvSpPr>
          <p:cNvPr id="34" name="Text 23"/>
          <p:cNvSpPr/>
          <p:nvPr/>
        </p:nvSpPr>
        <p:spPr>
          <a:xfrm>
            <a:off x="548640" y="3712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枠付き = 人間の関与が必須のステップ</a:t>
            </a:r>
            <a:endParaRPr lang="en-US" sz="950" dirty="0"/>
          </a:p>
        </p:txBody>
      </p:sp>
      <p:sp>
        <p:nvSpPr>
          <p:cNvPr id="35" name="Text 24"/>
          <p:cNvSpPr/>
          <p:nvPr/>
        </p:nvSpPr>
        <p:spPr>
          <a:xfrm>
            <a:off x="548640" y="411480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統制の4条件</a:t>
            </a:r>
            <a:endParaRPr lang="en-US" sz="1350" dirty="0"/>
          </a:p>
        </p:txBody>
      </p:sp>
      <p:sp>
        <p:nvSpPr>
          <p:cNvPr id="36" name="Shape 25"/>
          <p:cNvSpPr/>
          <p:nvPr/>
        </p:nvSpPr>
        <p:spPr>
          <a:xfrm>
            <a:off x="548640" y="4480560"/>
            <a:ext cx="5623560" cy="1691640"/>
          </a:xfrm>
          <a:prstGeom prst="roundRect">
            <a:avLst>
              <a:gd name="adj" fmla="val 486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822960" y="4645152"/>
            <a:ext cx="5166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mainブランチへの自動コミット・自動マージを禁止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エージェントの権限はPR作成まで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生成PRにはAI起源ラベルを必ず付与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指示者・指示文・トレースIDを監査ログに記録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6446520" y="4114800"/>
            <a:ext cx="5166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稼働の可視化（AI不使用の決定的集計）</a:t>
            </a:r>
            <a:endParaRPr lang="en-US" sz="1350" dirty="0"/>
          </a:p>
        </p:txBody>
      </p:sp>
      <p:sp>
        <p:nvSpPr>
          <p:cNvPr id="39" name="Shape 28"/>
          <p:cNvSpPr/>
          <p:nvPr/>
        </p:nvSpPr>
        <p:spPr>
          <a:xfrm>
            <a:off x="6446520" y="448056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720840" y="4645152"/>
            <a:ext cx="4709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実行中タスク・生成PR・レビュー状況をダッシュボードで監視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AI起源PR比率・AI PR変更失敗率をレポートへ反映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AIの働きぶり自体が、この基盤の指標で評価できる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  GOVERNANCE ― 統制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生成AI活用の3大リスクを、運用ルールではなく「構造」で防ぐ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以下はすべて開発規約として強制され、CIとトレーサビリティ検証で機械的に担保される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1991197"/>
            <a:ext cx="296997" cy="296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リスク: 誤り（幻覚）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AIがもっともらしい嘘の数字を作る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127248"/>
            <a:ext cx="310896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構造による防御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7240" y="35661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数値・判定はコードのみが算出し、AIは文章スロット限定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判定ロジックはAI非依存の純粋関数として物理分離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データ欠落時は推測せず「未評価」を表示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4343400" y="164592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87452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677" y="1991197"/>
            <a:ext cx="296997" cy="29699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リスク: 漏えい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秘密情報がAIや外部に流出する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0" y="3127248"/>
            <a:ext cx="310896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構造による防御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572000" y="35661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DB保存前・AI入力前・出力前の3層でサニタイズ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権限フィルタはデータ取得側で強制（後付けマスキング禁止）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配信先の有効判定はリクエスト毎に実施</a:t>
            </a:r>
            <a:endParaRPr lang="en-US" sz="1030" dirty="0"/>
          </a:p>
        </p:txBody>
      </p:sp>
      <p:sp>
        <p:nvSpPr>
          <p:cNvPr id="21" name="Shape 17"/>
          <p:cNvSpPr/>
          <p:nvPr/>
        </p:nvSpPr>
        <p:spPr>
          <a:xfrm>
            <a:off x="8138160" y="164592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66760" y="187452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437" y="1991197"/>
            <a:ext cx="296997" cy="2969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34272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リスク: 不正・改ざん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6676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操作の痕跡が消え、責任が曖昧になる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366760" y="3127248"/>
            <a:ext cx="3108960" cy="0"/>
          </a:xfrm>
          <a:prstGeom prst="line">
            <a:avLst/>
          </a:prstGeom>
          <a:noFill/>
          <a:ln w="12700">
            <a:solidFill>
              <a:srgbClr val="DCE4F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36676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構造による防御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366760" y="356616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監査ログは追記専用 ― UPDATE/DELETEは権限層でも禁止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重要操作（上書き・削除等）は理由の記載が必須</a:t>
            </a:r>
            <a:endParaRPr lang="en-US" sz="103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3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本番反映・重要報告・AI PRマージは人間承認ゲート</a:t>
            </a:r>
            <a:endParaRPr lang="en-US" sz="103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ルールは「守る人」に依存しない ― 違反コードはレビューとCIで機械的に差し戻される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 PERSONAS ― 役割別の使い方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同じ基盤、6つの景色 ― 各役割に必要なものだけが届く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「見える範囲」と「できる操作」はペルソナ毎に権限フィルタで制御される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190304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8653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PRF-01  メンバー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232257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自分の担当課題と督促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Teamsコマンドで進捗報告 ― 報告漏れは督促が自動回収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3284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担当範囲のみ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88536" y="164592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71416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953" y="1903049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1768" y="18653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PRF-02  リーダー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71416" y="232257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チームの進捗・課題レポート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未回答メンバーへの督促をエージェントに委任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471416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4471416" y="33284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担当プロジェクトの詳細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471416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28432" y="164592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11312" y="181051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849" y="1903049"/>
            <a:ext cx="235549" cy="23554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741664" y="186537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PRF-03  マネージャー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211312" y="2322576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バーンダウン・DORAの横断ビュー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経営・投資家向け報告の承認 / 論理削除等の管理操作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211312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8211312" y="33284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担当スコープ+承認権限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211312" y="3328416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" y="3950208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520" y="4114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" y="4207337"/>
            <a:ext cx="235549" cy="23554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61872" y="416966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PRF-04  経営陣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731520" y="462686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Seven Keys RAGと前月比PDCA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ページエージェントに自然文で質問し、画面を切替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31520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731520" y="5632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全社閲覧（操作は不可）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31520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288536" y="3950208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71416" y="4114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953" y="4207337"/>
            <a:ext cx="235549" cy="235549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001768" y="416966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PRF-05  投資家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4471416" y="462686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ILPA準拠KPI・マイルストーン・重大リスク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投資先を横断してKPIを確認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4471416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36"/>
          <p:cNvSpPr/>
          <p:nvPr/>
        </p:nvSpPr>
        <p:spPr>
          <a:xfrm>
            <a:off x="4471416" y="5632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最小開示（内部メモ非表示）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471416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028432" y="3950208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11312" y="4114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849" y="4207337"/>
            <a:ext cx="235549" cy="235549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741664" y="416966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DevOps 運用管理者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8211312" y="462686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見える: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AIエージェント稼働・CI/CD・インシデント</a:t>
            </a:r>
            <a:endParaRPr lang="en-US" sz="1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できる: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デプロイ承認 / 当番としての障害初動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8211312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1" name="Text 43"/>
          <p:cNvSpPr/>
          <p:nvPr/>
        </p:nvSpPr>
        <p:spPr>
          <a:xfrm>
            <a:off x="8211312" y="563270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運用系スコープ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8211312" y="5632704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2E3A8C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経営・投資家向けレポートは、マネージャー承認を経ない限り配信されない（承認ゲートは配信ジョブの状態機械に組込み）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  ONBOARDING ― 導入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手元のExcel資産が、そのまま初期データになる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Issue・Project項目・マイルストーンをExcelから一括登録。何度実行しても壊れない冪等設計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19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テンプレート取得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API / CLIで標準テンプレートを入手</a:t>
            </a:r>
            <a:endParaRPr lang="en-US" sz="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24028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93492" y="1645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30652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06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7852" y="1819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記入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30652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3シートに記入（次頁のフォーマット参照）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24028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38344" y="1645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75504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517550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632704" y="1819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dry-run 検証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75504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実行前にシート・行・列単位でエラーを検出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24028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283196" y="1645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20356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742035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877556" y="1819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420356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確認ヘッダ必須。GitHubへジョブキューで登録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24028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28048" y="16459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EFF4FC"/>
          </a:solidFill>
          <a:ln w="9525">
            <a:solidFill>
              <a:srgbClr val="DCE4F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665208" y="17830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96652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0122408" y="181965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結果確認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665208" y="226771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登録 / スキップ / 失敗を行単位でレポート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48640" y="3520440"/>
            <a:ext cx="5440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94944" y="3675888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05" y="3772449"/>
            <a:ext cx="245791" cy="24579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280160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冪等性（再実行安全）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1280160" y="39410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各行の source_key と台帳で同一行を判定。再実行しても重複登録されない。</a:t>
            </a:r>
            <a:endParaRPr lang="en-US" sz="980" dirty="0"/>
          </a:p>
        </p:txBody>
      </p:sp>
      <p:sp>
        <p:nvSpPr>
          <p:cNvPr id="39" name="Shape 32"/>
          <p:cNvSpPr/>
          <p:nvPr/>
        </p:nvSpPr>
        <p:spPr>
          <a:xfrm>
            <a:off x="6263640" y="3520440"/>
            <a:ext cx="5440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409944" y="3675888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505" y="3772449"/>
            <a:ext cx="245791" cy="24579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995160" y="3639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GitHub制限に配慮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6995160" y="39410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コンテンツ生成80件/分・500件/時の制限を前提にジョブキューで進捗制御。</a:t>
            </a:r>
            <a:endParaRPr lang="en-US" sz="980" dirty="0"/>
          </a:p>
        </p:txBody>
      </p:sp>
      <p:sp>
        <p:nvSpPr>
          <p:cNvPr id="44" name="Shape 36"/>
          <p:cNvSpPr/>
          <p:nvPr/>
        </p:nvSpPr>
        <p:spPr>
          <a:xfrm>
            <a:off x="548640" y="4727448"/>
            <a:ext cx="5440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94944" y="4882896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05" y="4979457"/>
            <a:ext cx="245791" cy="245791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8016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安全なライブラリ選定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1280160" y="51480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既知脆弱性が未修正のライブラリを回避（調査記録に基づく選定）。</a:t>
            </a:r>
            <a:endParaRPr lang="en-US" sz="980" dirty="0"/>
          </a:p>
        </p:txBody>
      </p:sp>
      <p:sp>
        <p:nvSpPr>
          <p:cNvPr id="49" name="Shape 40"/>
          <p:cNvSpPr/>
          <p:nvPr/>
        </p:nvSpPr>
        <p:spPr>
          <a:xfrm>
            <a:off x="6263640" y="4727448"/>
            <a:ext cx="5440680" cy="1060704"/>
          </a:xfrm>
          <a:prstGeom prst="roundRect">
            <a:avLst>
              <a:gd name="adj" fmla="val 775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409944" y="4882896"/>
            <a:ext cx="438912" cy="438912"/>
          </a:xfrm>
          <a:prstGeom prst="ellipse">
            <a:avLst/>
          </a:prstGeom>
          <a:solidFill>
            <a:srgbClr val="2E3A8C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6505" y="4979457"/>
            <a:ext cx="245791" cy="245791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99516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3層サニタイズ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6995160" y="51480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取り込みテキストは保存前・送信前・表示前に秘密情報を除去。</a:t>
            </a:r>
            <a:endParaRPr lang="en-US" sz="980" dirty="0"/>
          </a:p>
        </p:txBody>
      </p:sp>
      <p:sp>
        <p:nvSpPr>
          <p:cNvPr id="54" name="Text 44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対象はデータ登録物（Issue / Project項目 / マイルストーン）に限定 ― PRはレビュー・CIの監査性を守るため対象外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3A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 ONBOARDING ― フォーマット事例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テンプレートは3シート ― 再実行安全の鍵は source_key（安定キー）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dry-runが「シート欠落・列名相違・必須値欠落・キー重複」を行番号付きで実行前に指摘する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4325112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シート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任意列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issues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GitHub Issueの一括作成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title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body, labels, milestone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project_items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Project v2項目の追加・更新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project_node_id, content_node_id, field_node_id, field_type, value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milestones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マイルストーンの作成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source_key, title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due_on（YYYY-MM-DD）, description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65760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記入イメージ（issuesシート）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9202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source_key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title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labels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milestone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PRJA-REQ-001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要件定義書のレビュー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priority:high, docs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PRJA-REQ-002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API仕様の確定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api, design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PRJA-DEV-001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認証基盤の実装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backend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Phase 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21040" y="4023360"/>
            <a:ext cx="3319272" cy="1874520"/>
          </a:xfrm>
          <a:prstGeom prst="roundRect">
            <a:avLst>
              <a:gd name="adj" fmla="val 4390"/>
            </a:avLst>
          </a:prstGeom>
          <a:solidFill>
            <a:srgbClr val="FFF6E3"/>
          </a:solidFill>
          <a:ln w="9525">
            <a:solidFill>
              <a:srgbClr val="F0DFA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503920" y="4206240"/>
            <a:ext cx="438912" cy="438912"/>
          </a:xfrm>
          <a:prstGeom prst="ellipse">
            <a:avLst/>
          </a:prstGeom>
          <a:solidFill>
            <a:srgbClr val="D99A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0481" y="430280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98280" y="4270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再実行の挙動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503920" y="4663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1A20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 source_key の行はインポート台帳により自動スキップ。途中で失敗しても、修正して再実行すれば続きから安全に登録できる。</a:t>
            </a:r>
            <a:endParaRPr lang="en-US" sz="980" dirty="0"/>
          </a:p>
        </p:txBody>
      </p:sp>
      <p:sp>
        <p:nvSpPr>
          <p:cNvPr id="13" name="Text 8"/>
          <p:cNvSpPr/>
          <p:nvPr/>
        </p:nvSpPr>
        <p:spPr>
          <a:xfrm>
            <a:off x="548640" y="635508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Excelでの資産管理を続けながら、段階的にGitHub上のデータへ移行できる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754880"/>
            <a:ext cx="3840480" cy="3840480"/>
          </a:xfrm>
          <a:prstGeom prst="ellipse">
            <a:avLst/>
          </a:prstGeom>
          <a:solidFill>
            <a:srgbClr val="2E3A8C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定型業務はAIへ、計算はコードへ、判断は人へ。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220224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212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運営サイクル（収集→分析→報告→配信→督促）と運用サイクル（CI/CD・デプロイ・インシデント初動）を14エージェントが分担し、定型業務から人を解放する。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81" y="220224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212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63440" y="30175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数値はコード算出、AIは文章のみ。本番反映・重要報告・AI生成PRのマージは人間承認を必須とし、全操作を追記専用の監査ログに記録する。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783080"/>
            <a:ext cx="3520440" cy="3520440"/>
          </a:xfrm>
          <a:prstGeom prst="roundRect">
            <a:avLst>
              <a:gd name="adj" fmla="val 2338"/>
            </a:avLst>
          </a:prstGeom>
          <a:solidFill>
            <a:srgbClr val="2E3A8C">
              <a:alpha val="75000"/>
            </a:srgbClr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057400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321" y="220224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212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可視化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12480" y="30175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Seven Keys・DORA指標・ILPA準拠KPIを6ペルソナそれぞれの権限範囲で提供。ページエージェントにより自然文で必要な情報に到達できる。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詳細仕様: リポジトリ docs/（ADR 14本・仕様書・利用ガイド）および runbooks/ を参照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2026-07-11T07:06:58Z</dcterms:created>
  <dcterms:modified xsi:type="dcterms:W3CDTF">2026-07-11T07:06:58Z</dcterms:modified>
</cp:coreProperties>
</file>