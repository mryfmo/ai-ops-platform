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大企業・CoE基準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45A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ロボット模倣学習</c:v>
                  </c:pt>
                  <c:pt idx="1">
                    <c:v>文書RAGのみ</c:v>
                  </c:pt>
                  <c:pt idx="2">
                    <c:v>作業指示配信</c:v>
                  </c:pt>
                  <c:pt idx="3">
                    <c:v>設備時系列</c:v>
                  </c:pt>
                  <c:pt idx="4">
                    <c:v>実績ログ因果分析</c:v>
                  </c:pt>
                  <c:pt idx="5">
                    <c:v>知識オブジェクト化</c:v>
                  </c:pt>
                  <c:pt idx="6">
                    <c:v>熟練者面接(CTA)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49.8</c:v>
                </c:pt>
                <c:pt idx="1">
                  <c:v>58.4</c:v>
                </c:pt>
                <c:pt idx="2">
                  <c:v>66.6</c:v>
                </c:pt>
                <c:pt idx="3">
                  <c:v>76</c:v>
                </c:pt>
                <c:pt idx="4">
                  <c:v>75.7</c:v>
                </c:pt>
                <c:pt idx="5">
                  <c:v>78.6</c:v>
                </c:pt>
                <c:pt idx="6">
                  <c:v>76.3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中小企業基準</c:v>
                </c:pt>
              </c:strCache>
            </c:strRef>
          </c:tx>
          <c:spPr>
            <a:solidFill>
              <a:srgbClr val="E879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45A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ロボット模倣学習</c:v>
                  </c:pt>
                  <c:pt idx="1">
                    <c:v>文書RAGのみ</c:v>
                  </c:pt>
                  <c:pt idx="2">
                    <c:v>作業指示配信</c:v>
                  </c:pt>
                  <c:pt idx="3">
                    <c:v>設備時系列</c:v>
                  </c:pt>
                  <c:pt idx="4">
                    <c:v>実績ログ因果分析</c:v>
                  </c:pt>
                  <c:pt idx="5">
                    <c:v>知識オブジェクト化</c:v>
                  </c:pt>
                  <c:pt idx="6">
                    <c:v>熟練者面接(CTA)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46.5</c:v>
                </c:pt>
                <c:pt idx="1">
                  <c:v>64.7</c:v>
                </c:pt>
                <c:pt idx="2">
                  <c:v>71.8</c:v>
                </c:pt>
                <c:pt idx="3">
                  <c:v>70.7</c:v>
                </c:pt>
                <c:pt idx="4">
                  <c:v>72.5</c:v>
                </c:pt>
                <c:pt idx="5">
                  <c:v>73.8</c:v>
                </c:pt>
                <c:pt idx="6">
                  <c:v>79.7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45A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45A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b"/>
        <c:majorGridlines>
          <c:spPr>
            <a:ln w="7620" cap="flat">
              <a:solidFill>
                <a:srgbClr val="C9D5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本日の目的は Phase1（6か月・3工程）の実行承認をいただくこと。技術の網羅説明ではなく、投資判断に必要な論点のみを扱う。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先に結論と承認範囲を提示する。詳細な技術根拠は後半スライドで補足する構成。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Build範囲を狭く定義することが、この提案の工数見積の前提。範囲が広がる要求が出た場合は、BR1-BR4のどれに該当するかで判定する。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制約は全部を最初に実装しない。停止条件と順序制約の重大なものから着手し、SHACL/ASP等の形式化は段階的に広げる。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業種ごとに「解ける／解けない」を先に示す。解けない部分を隠さないことが、現場からの信頼を得る条件。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この1枚が「Build層は汎用基盤ではなく、各業種の実務課題に対応づけて設計されている」ことの根拠。○の2業種は追加工数の説明を求められる可能性が高い。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承認範囲を狭く、ゲートを明確にすることで意思決定コストを下げる。R1（退職リスク）だけは期限が外部要因で決まるため、決裁の先送りコストが高いことを強調する。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0A173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CoE ／ 全社導入方針 (案)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製造業の暗黙知・技能継承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デジタル化 — 導入方針とご判断のお願い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520440"/>
            <a:ext cx="8138160" cy="1133856"/>
          </a:xfrm>
          <a:prstGeom prst="roundRect">
            <a:avLst>
              <a:gd name="adj" fmla="val 5645"/>
            </a:avLst>
          </a:prstGeom>
          <a:solidFill>
            <a:srgbClr val="0A1730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36758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最初に買うべきものはチャットボットではない。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40050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FDBE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退職前の熟練者から判断根拠を取り、証拠に紐づく手順知識へ変換し、1用途だけ現場へ返す最小閉ループである。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1,033万人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製造業就業者 (2025年)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27832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−17.9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27832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中小製造業 過不足DI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52744" y="4937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6割超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52744" y="5394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4C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指導人材が不足する事業所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0533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 ／ 出典: 2026年版ものづくり白書 (経済産業省・厚生労働省・文部科学省)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「軽い手段を全面に、重い手段を1工程だけに」— 6か月・3工程・ゲート制で始める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79192" cy="1874520"/>
          </a:xfrm>
          <a:prstGeom prst="roundRect">
            <a:avLst>
              <a:gd name="adj" fmla="val 3415"/>
            </a:avLst>
          </a:prstGeom>
          <a:solidFill>
            <a:srgbClr val="F5F8FC"/>
          </a:solidFill>
          <a:ln/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384048" cy="38404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61288" y="16642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何を継承するか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15798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判断・例外・身体知。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文書化済みの知識ではない。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対象は退職リスク順に決める。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481328"/>
            <a:ext cx="2679192" cy="1874520"/>
          </a:xfrm>
          <a:prstGeom prst="roundRect">
            <a:avLst>
              <a:gd name="adj" fmla="val 3415"/>
            </a:avLst>
          </a:prstGeom>
          <a:solidFill>
            <a:srgbClr val="F5F8FC"/>
          </a:solidFill>
          <a:ln/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64208"/>
            <a:ext cx="384048" cy="38404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16642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どう取るか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15798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熟練者インタビュー(CTA)＋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同期映像。現場負担は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「話す・撮る」まで。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1481328"/>
            <a:ext cx="2679192" cy="1874520"/>
          </a:xfrm>
          <a:prstGeom prst="roundRect">
            <a:avLst>
              <a:gd name="adj" fmla="val 3415"/>
            </a:avLst>
          </a:prstGeom>
          <a:solidFill>
            <a:srgbClr val="FCEADB"/>
          </a:solidFill>
          <a:ln/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1664208"/>
            <a:ext cx="384048" cy="384048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85432" y="16642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どこに貯めるか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215798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証拠・条件・責任者・版が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付いた知識オブジェクト。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正本は自社保有。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89136" y="1481328"/>
            <a:ext cx="2679192" cy="1874520"/>
          </a:xfrm>
          <a:prstGeom prst="roundRect">
            <a:avLst>
              <a:gd name="adj" fmla="val 3415"/>
            </a:avLst>
          </a:prstGeom>
          <a:solidFill>
            <a:srgbClr val="F5F8FC"/>
          </a:solidFill>
          <a:ln/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0304" y="1664208"/>
            <a:ext cx="384048" cy="38404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47504" y="166420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どう返すか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90304" y="215798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配信は1用途のみ。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DWI／AR／検査AIから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工程ごとに1つ選ぶ。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584448"/>
            <a:ext cx="7223760" cy="1874520"/>
          </a:xfrm>
          <a:prstGeom prst="roundRect">
            <a:avLst>
              <a:gd name="adj" fmla="val 3415"/>
            </a:avLst>
          </a:prstGeom>
          <a:solidFill>
            <a:srgbClr val="13294B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7307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Phase1 で承認をお願いする範囲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4142232"/>
            <a:ext cx="118872" cy="118872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059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対象3工程（段取り／検査／保全から各1）と責任者の指名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4544568"/>
            <a:ext cx="118872" cy="118872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4622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6か月・8〜18人月相当の要員確保と配信SaaSの試用契約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4946904"/>
            <a:ext cx="118872" cy="118872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86460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収録データを人事評価に使わない旨の社内合意（労使協議含む）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64424" y="3584448"/>
            <a:ext cx="3712464" cy="1874520"/>
          </a:xfrm>
          <a:prstGeom prst="roundRect">
            <a:avLst>
              <a:gd name="adj" fmla="val 3415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0456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本日は承認しないもの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0456" y="4078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全社ナレッジ基盤の構築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0456" y="4462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国際標準（AAS等）の全面採用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0456" y="48463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ロボット自動化・自律制御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FCEADB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6235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判断基準：Phase1 の効果ゲート（独り立ち期間・初品一発合格率・初回修復率のいずれかで有意改善）を通らなければ、Phase2 は実行しない。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人が減る速度に、継承の速度が追いついていない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2788920"/>
          </a:xfrm>
          <a:prstGeom prst="roundRect">
            <a:avLst>
              <a:gd name="adj" fmla="val 2295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経営側の事実（一次統計）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1,033万人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製造業就業者（2025年）。2024年の1,046万人から減少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−17.9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中小製造業の従業員過不足DI（コロナ前水準に接近）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456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6割超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4107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「指導する人材が不足」と回答した事業所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76672" cy="2788920"/>
          </a:xfrm>
          <a:prstGeom prst="roundRect">
            <a:avLst>
              <a:gd name="adj" fmla="val 2295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276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技術側の転換点（2026年に揃った）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0" y="2048256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482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52360" y="19751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ISO 23247-5（デジタルスレッド）が 2026年6月に発行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274320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7432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52360" y="267004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産業一人称データセットが公開（視線・手指・ミス注釈付き）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343814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4381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自動化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52360" y="33649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ロボット基盤モデルが商用ライセンス化。工場用途を明示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480560"/>
            <a:ext cx="11183112" cy="1481328"/>
          </a:xfrm>
          <a:prstGeom prst="roundRect">
            <a:avLst>
              <a:gd name="adj" fmla="val 4321"/>
            </a:avLst>
          </a:prstGeom>
          <a:solidFill>
            <a:srgbClr val="FCEADB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" y="461772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だが、技術が揃ったことは「今すぐ全部やる」理由にはならない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13816" y="4992624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決めているのは技術の成熟ではなく、熟練者の退職日である。設備は後から買えるが、退職した人の頭の中は買い戻せない。したがって着手順は「技術が新しい順」ではなく「失われるのが早い順」で決める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2026年版ものづくり白書（E1）／ ISO 23247-5:2026（E1）／ NeurIPS 2025・企業公式リリース（E2–E3）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要求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経営として満たすべき要求は4つ。技術選定はこの4つからしか正当化されない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FCEADB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792224"/>
            <a:ext cx="402336" cy="402336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07592" y="1609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退職・異動による技能喪失をゼロにする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07592" y="198424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対象は「撮りやすい工程」ではなく、一人依存かつ品質・停止への影響が大きい工程。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75120" y="1719072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71907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未達なら：属人工程の停止リスクが顕在化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" y="2926080"/>
            <a:ext cx="402336" cy="402336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07592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若手の独り立ち期間を短縮する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07592" y="311810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教育コストと初期不良を同時に下げる。支援の量ではなく到達までの期間で測る。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2852928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285292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未達なら：採用しても戦力化せず人件費だけ増える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" y="4059936"/>
            <a:ext cx="402336" cy="402336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07592" y="38770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継承先を「人」と「機械」に分散する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07592" y="425196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同じ知識資産を教育と自動化の双方へ配る。片方に賭けない。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75120" y="3986784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9867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未達なら：人手不足と技能喪失の双方に無防備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882896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" y="5193792"/>
            <a:ext cx="402336" cy="402336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07592" y="50109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知識を特定ベンダー・特定個人に依存させない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07592" y="53858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正本は自社保有・可搬形式。配信ツールは入れ替え可能に保つ。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75120" y="5120640"/>
            <a:ext cx="47548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51206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未達なら：市場再編のたびに知識資産が人質になる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 が最優先。R1 の期限は自社ではなく熟練者の在籍期間が決める。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要求を満たすために、システムが備えるべき要件は機能3・非機能4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機能要件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29968"/>
            <a:ext cx="365760" cy="365760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79576" y="19019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判断根拠まで取得できること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9576" y="21945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映像は「何をしたか」しか写さない。「なぜ・何を見て」は対話でしか取れない。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62656"/>
            <a:ext cx="365760" cy="365760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79576" y="2834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生成物が原証拠へ遡れること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9576" y="31272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AIが作った手順は候補。原映像・センサ・熟練者確認へ遡れないものは標準化しない。</a:t>
            </a: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（完全版: K8 根拠リンク → E3 遡及）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75888"/>
            <a:ext cx="5394960" cy="822960"/>
          </a:xfrm>
          <a:prstGeom prst="roundRect">
            <a:avLst>
              <a:gd name="adj" fmla="val 777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95344"/>
            <a:ext cx="365760" cy="365760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79576" y="3767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重大制約を機械が検証できること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9576" y="40599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順序・禁止・停止・時間の制約は、AIの出力とは独立に自動チェックする。</a:t>
            </a: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（完全版: G1・M5）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14447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非機能要件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91072" y="1810512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1920240"/>
            <a:ext cx="365760" cy="3657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67728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現場負担は「話す・撮る」まで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7728" y="211226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書かせる設計は続かない。構造化はAI側に寄せる。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291072" y="2514600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2624328"/>
            <a:ext cx="365760" cy="3657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67728" y="25511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個人の監視・評価に使わない保証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67728" y="281635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制度と技術の両方で担保。守れなければ現場が協力しない。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291072" y="3218688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3328416"/>
            <a:ext cx="365760" cy="3657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67728" y="3255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知識の正本はベンダー製品の外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67728" y="35204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配信ツールを替えても知識が残る形式で保持する。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291072" y="3922776"/>
            <a:ext cx="53949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4032504"/>
            <a:ext cx="365760" cy="36576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N4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67728" y="3959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1用途から始めて効果を測れる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7728" y="42245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全社展開を先行させず、工程単位で効果を検証する。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02920" y="4736592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13294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この要件から自動的に落ちるもの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" y="51389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「文書をRAGに入れて検索できるようにする」だけの案は F1 を満たさない。文書化されていない知識はゼロのまま残る。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91072" y="4736592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CEADB"/>
          </a:solidFill>
          <a:ln/>
        </p:spPr>
      </p:sp>
      <p:sp>
        <p:nvSpPr>
          <p:cNvPr id="45" name="Text 43"/>
          <p:cNvSpPr/>
          <p:nvPr/>
        </p:nvSpPr>
        <p:spPr>
          <a:xfrm>
            <a:off x="6528816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現場が協力するための前提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28816" y="51389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N2 は技術ではなく制度の問題。労使合意で先に固めないと収録そのものが始まらないため、Phase0 の完了条件に含めている。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F2・F3 が「誤った手順がAI経由で全社に広がる」事故を防ぐ唯一の仕掛け。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仕様の核心は「知識1件ごとに、証拠・適用条件・責任者・版が必ず付く」こと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309360" cy="3703320"/>
          </a:xfrm>
          <a:prstGeom prst="roundRect">
            <a:avLst>
              <a:gd name="adj" fmla="val 172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知識オブジェクト（Skill Knowledge Object）の必須項目</a:t>
            </a: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 完全版 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5528" y="2130552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011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対象工程・技能ID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どの工程のどの技能か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" y="2505456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3865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目的・前提条件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86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何のために、どの条件下で成立するか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" y="288036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27614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行為と手掛かり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761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何をするか／何を見て判断するか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" y="3255264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1363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判断と代替案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136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選んだ理由・捨てた案・トレードオフ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" y="3630168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3511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例外と復旧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5112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崩れたときの戻し方・停止条件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" y="4005072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38862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原証拠リンク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886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映像区間・センサ・面接記録への参照</a:t>
            </a:r>
            <a:r>
              <a:rPr lang="en-US" sz="10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（E3）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" y="4379976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" y="42611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確信度と異論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2611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熟練者間で割れた点を潰さず残す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" y="475488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" y="46360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承認者・版・失効条件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4636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誰が承認し、いつ無効になるか</a:t>
            </a:r>
            <a:r>
              <a:rPr lang="en-US" sz="10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（K13）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86600" y="1463040"/>
            <a:ext cx="4599432" cy="3703320"/>
          </a:xfrm>
          <a:prstGeom prst="roundRect">
            <a:avLst>
              <a:gd name="adj" fmla="val 1728"/>
            </a:avLst>
          </a:prstGeom>
          <a:solidFill>
            <a:srgbClr val="13294B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16093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Phase1 の受入ゲート（数値で判定）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42632" y="2048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重大誤指示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89720" y="2048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 件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42632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BD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安全・品質に関わる提示の誤り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342632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原証拠紐付け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8972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100 %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42632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BD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停止条件・復旧条件・重大手順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7342632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回答保留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89720" y="32552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機能する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42632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BD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根拠不足時に推測で埋めない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342632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熟練者一致度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8972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測定済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42632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BD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不一致は条件付き知識として保持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7342632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交差検証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89720" y="4462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42632" y="4718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BD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別の作業者・設備・期間で性能維持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502920" y="5376672"/>
            <a:ext cx="11183112" cy="713232"/>
          </a:xfrm>
          <a:prstGeom prst="roundRect">
            <a:avLst>
              <a:gd name="adj" fmla="val 8974"/>
            </a:avLst>
          </a:prstGeom>
          <a:solidFill>
            <a:srgbClr val="FCEADB"/>
          </a:solidFill>
          <a:ln/>
        </p:spPr>
      </p:sp>
      <p:sp>
        <p:nvSpPr>
          <p:cNvPr id="48" name="Text 46"/>
          <p:cNvSpPr/>
          <p:nvPr/>
        </p:nvSpPr>
        <p:spPr>
          <a:xfrm>
            <a:off x="795528" y="537667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見積で最も外しやすいのは AI生成物のレビュー工数。生成量ではなく「熟練者がレビューできる量」で計画を立てる。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6層のうち、自社が保有すべきは中央の2層だけ。両端はBuyでよい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30936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" y="19385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32257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映像・音声・面接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センサ・設備データ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完全版: E1・E2（＋X1）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" y="3310128"/>
            <a:ext cx="1444752" cy="329184"/>
          </a:xfrm>
          <a:prstGeom prst="roundRect">
            <a:avLst>
              <a:gd name="adj" fmla="val 13889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0936" y="33101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Buy＋自社運用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rot="5400000">
            <a:off x="2221992" y="2551176"/>
            <a:ext cx="155448" cy="155448"/>
          </a:xfrm>
          <a:prstGeom prst="triangle">
            <a:avLst/>
          </a:prstGeom>
          <a:solidFill>
            <a:srgbClr val="5A6B80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377440" y="1517904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05456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05456" y="19385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05456" y="232257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工程分節・SOP草案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異常検知・予兆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完全版: E4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3310128"/>
            <a:ext cx="1444752" cy="329184"/>
          </a:xfrm>
          <a:prstGeom prst="roundRect">
            <a:avLst>
              <a:gd name="adj" fmla="val 13889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05456" y="33101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 / OSS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096512" y="2551176"/>
            <a:ext cx="155448" cy="155448"/>
          </a:xfrm>
          <a:prstGeom prst="triangle">
            <a:avLst/>
          </a:prstGeom>
          <a:solidFill>
            <a:srgbClr val="5A6B80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251960" y="1517904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CEADB"/>
          </a:solidFill>
          <a:ln/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379976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9976" y="19385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79976" y="232257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知識オブジェクト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証拠・条件・版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完全版: X2 → 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9976" y="3310128"/>
            <a:ext cx="1444752" cy="329184"/>
          </a:xfrm>
          <a:prstGeom prst="roundRect">
            <a:avLst>
              <a:gd name="adj" fmla="val 13889"/>
            </a:avLst>
          </a:prstGeom>
          <a:solidFill>
            <a:srgbClr val="E8792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79976" y="33101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Build（自社）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71032" y="2551176"/>
            <a:ext cx="155448" cy="155448"/>
          </a:xfrm>
          <a:prstGeom prst="triangle">
            <a:avLst/>
          </a:prstGeom>
          <a:solidFill>
            <a:srgbClr val="5A6B80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26480" y="1517904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CEADB"/>
          </a:solidFill>
          <a:ln/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54496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19385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54496" y="232257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制約チェック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効果測定・承認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完全版: K13・G1/M5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4496" y="3310128"/>
            <a:ext cx="1444752" cy="329184"/>
          </a:xfrm>
          <a:prstGeom prst="roundRect">
            <a:avLst>
              <a:gd name="adj" fmla="val 13889"/>
            </a:avLst>
          </a:prstGeom>
          <a:solidFill>
            <a:srgbClr val="E8792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54496" y="33101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Build（自社）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rot="5400000">
            <a:off x="7845552" y="2551176"/>
            <a:ext cx="155448" cy="155448"/>
          </a:xfrm>
          <a:prstGeom prst="triangle">
            <a:avLst/>
          </a:prstGeom>
          <a:solidFill>
            <a:srgbClr val="5A6B80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001000" y="1517904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129016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9016" y="19385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人へ返す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29016" y="232257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作業指示・AR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訓練・技能認定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完全版: SoE（U2 他）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29016" y="3310128"/>
            <a:ext cx="1444752" cy="329184"/>
          </a:xfrm>
          <a:prstGeom prst="roundRect">
            <a:avLst>
              <a:gd name="adj" fmla="val 13889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129016" y="33101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 rot="5400000">
            <a:off x="9720072" y="2551176"/>
            <a:ext cx="155448" cy="155448"/>
          </a:xfrm>
          <a:prstGeom prst="triangle">
            <a:avLst/>
          </a:prstGeom>
          <a:solidFill>
            <a:srgbClr val="5A6B80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875520" y="1517904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  <a:effectLst>
            <a:outerShdw sx="100000" sy="100000" kx="0" ky="0" algn="bl" rotWithShape="0" blurRad="76200" dist="381" dir="5400000">
              <a:srgbClr val="9AABBF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003536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03536" y="19385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機械へ返す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03536" y="2322576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検査AI・自律制御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ロボット（後続）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80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完全版: 後続のまま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003536" y="3310128"/>
            <a:ext cx="1444752" cy="329184"/>
          </a:xfrm>
          <a:prstGeom prst="roundRect">
            <a:avLst>
              <a:gd name="adj" fmla="val 13889"/>
            </a:avLst>
          </a:prstGeom>
          <a:solidFill>
            <a:srgbClr val="13294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003536" y="33101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後続判断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041648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77240" y="40416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現場からの還流：利用実績・追加質問・拒否・例外は 収集層 へ戻し、知識を更新し続ける（一方通行にしない）</a:t>
            </a: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 完全版 F-III 経路③（EP還流＋失効自動化・X3 運転）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791456"/>
            <a:ext cx="5394960" cy="969264"/>
          </a:xfrm>
          <a:prstGeom prst="roundRect">
            <a:avLst>
              <a:gd name="adj" fmla="val 6604"/>
            </a:avLst>
          </a:prstGeom>
          <a:solidFill>
            <a:srgbClr val="FCEADB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40664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中央2層を自社が持つ理由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0664" y="51572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3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ここが競争力そのもの。ベンダー製品の内部に置くと、解約・買収・仕様変更で知識資産を失う。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6291072" y="4791456"/>
            <a:ext cx="53949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528816" y="4882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両端をBuyでよい理由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28816" y="51572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3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現場UX・端末管理・電子署名・サポートを自前で作るとTCOが逆転する。差別化要素でもない。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国際標準（ISO 23247 / AAS / OPC UA）の全面採用は、複数工場展開が決まってからでよい。単一工場では投資を回収できない。</a:t>
            </a:r>
            <a:endParaRPr lang="en-US" sz="900" dirty="0"/>
          </a:p>
        </p:txBody>
      </p:sp>
      <p:sp>
        <p:nvSpPr>
          <p:cNvPr id="54" name="TextBox 53"/>
          <p:cNvSpPr txBox="1"/>
          <p:nvPr/>
        </p:nvSpPr>
        <p:spPr>
          <a:xfrm>
            <a:off x="502920" y="5833872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F4E79"/>
                </a:solidFill>
                <a:latin typeface="Meiryo"/>
              </a:rPr>
              <a:t>対応表 ― 本図＝機能ビュー。全体配置は『SoA AIエージェント層 完全アーキテクチャ』P.2（5つの置き場）、部品IDは同書 P.3〜P.6 の索引と共通（P.17〜18 の証拠等級 E1〜E4 とは別体系）。</a:t>
            </a:r>
          </a:p>
          <a:p>
            <a:r>
              <a:rPr sz="800" b="0">
                <a:solidFill>
                  <a:srgbClr val="5A6B80"/>
                </a:solidFill>
                <a:latin typeface="Meiryo"/>
              </a:rPr>
              <a:t>①収集・②解釈＝EP（E1 同期収録・E2 面接記録・E4 解釈部品）　③構造化＝X2 構造化Agent → SK 知識オブジェクト（中間層）　④検証＝K13 状態遷移＋G1/M5 機械検証＋U5 承認　⑤人へ返す＝SoE（薄いUI原則）　⑥機械へ返す＝後続判断のまま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Build詳細 ① スコープと要求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Buildするのは「知識の正本」だけ。ここが満たすべき要求は4つ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943600" cy="2148840"/>
          </a:xfrm>
          <a:prstGeom prst="roundRect">
            <a:avLst>
              <a:gd name="adj" fmla="val 2979"/>
            </a:avLst>
          </a:prstGeom>
          <a:solidFill>
            <a:srgbClr val="FCEADB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作るもの（自社工数を投じる範囲）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9568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知識オブジェクトのデータモデルと格納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2768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制約の記述と自動検証（順序・時間・状態・停止）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9748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" y="25968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承認・版・失効の管理と監査証跡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01752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29169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原証拠へのリンク解決（映像区間・センサ・面接記録）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100584" cy="10058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32369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Buy層へ知識を渡す配信APIと一括エクスポート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5943600" cy="1417320"/>
          </a:xfrm>
          <a:prstGeom prst="roundRect">
            <a:avLst>
              <a:gd name="adj" fmla="val 451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877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作らないもの（Buy／既存流用）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撮影・収録アプリ／ASR／動画解析モデル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作業指示UI・AR表示・端末管理・電子署名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 認証基盤・ストレージ・ネットワーク（既存を流用）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48272" y="1481328"/>
            <a:ext cx="49377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22008" y="1609344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3" name="Text 21"/>
          <p:cNvSpPr/>
          <p:nvPr/>
        </p:nvSpPr>
        <p:spPr>
          <a:xfrm>
            <a:off x="6922008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BR1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70648" y="1554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工程・製品・設備が変わっても知識が生き残る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470648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自社の工程語彙で表現し、特定製品・特定製品版に閉じない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748272" y="2478024"/>
            <a:ext cx="49377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22008" y="2606040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8" name="Text 26"/>
          <p:cNvSpPr/>
          <p:nvPr/>
        </p:nvSpPr>
        <p:spPr>
          <a:xfrm>
            <a:off x="69220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70648" y="25511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知識1件ごとに責任の所在が確定している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70648" y="2935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誰が承認し、どの条件で無効になるかを属性として持つ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748272" y="3474720"/>
            <a:ext cx="49377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2008" y="3602736"/>
            <a:ext cx="457200" cy="457200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33" name="Text 31"/>
          <p:cNvSpPr/>
          <p:nvPr/>
        </p:nvSpPr>
        <p:spPr>
          <a:xfrm>
            <a:off x="692200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70648" y="3547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重大制約をAIとは独立に機械が検査する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70648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生成物を否認できる経路がないと誤伝承は止まらない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748272" y="4471416"/>
            <a:ext cx="493776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22008" y="4599432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8" name="Text 36"/>
          <p:cNvSpPr/>
          <p:nvPr/>
        </p:nvSpPr>
        <p:spPr>
          <a:xfrm>
            <a:off x="6922008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BR4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470648" y="4544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同じ知識を教育・支援・検査・自動化へ再利用できる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70648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用途ごとに作り直すと投資が4倍になる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02920" y="5577840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13294B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5778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Buildしない場合の帰結：知識が配信製品の内部フォーマットに固定され、製品の入替・買収・仕様変更のたびに作り直しになる。BR1〜BR4 はどれも購入品では代替できない。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Build範囲は意図的に狭い。広げるほど工数は増えるが、差別化は増えない。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Build詳細 ② 構造化層（③）の要件・仕様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「1技能＝1オブジェクト」。粒度は工程が止まる単位で切る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943600" cy="4023360"/>
          </a:xfrm>
          <a:prstGeom prst="roundRect">
            <a:avLst>
              <a:gd name="adj" fmla="val 1591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データモデル（必須エンティティと属性）</a:t>
            </a:r>
            <a:r>
              <a:rPr lang="en-US" sz="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 完全版 SK 正本形式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58952" y="1938528"/>
            <a:ext cx="5431536" cy="475488"/>
          </a:xfrm>
          <a:prstGeom prst="roundRect">
            <a:avLst>
              <a:gd name="adj" fmla="val 9615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905256" y="19385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SkillObject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94560" y="19385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技能ID・工程・目的・前提条件・版・承認者・確信度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2578608"/>
            <a:ext cx="12984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57860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51176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原本URI・時刻区間・ハッシュ・同意範囲</a:t>
            </a:r>
            <a:r>
              <a:rPr lang="en-US" sz="980" dirty="0" b="1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（→ E3）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1143000" y="3054096"/>
            <a:ext cx="12984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05409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51176" y="30540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主体・工具・対象・動作・力／設定・所要時間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1143000" y="3529584"/>
            <a:ext cx="12984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52958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51176" y="3529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視覚・音・触覚・設備信号・正常域／閾値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1143000" y="4005072"/>
            <a:ext cx="12984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005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51176" y="4005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代替案・選択・理由・トレードオフ・不確実性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1143000" y="4480560"/>
            <a:ext cx="12984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4805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51176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引き金・リスク・復旧手順・停止条件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143000" y="4956048"/>
            <a:ext cx="1298448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956048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Outcome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51176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品質・時間・安全・手直し・エネルギー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748272" y="1481328"/>
            <a:ext cx="4937760" cy="1700784"/>
          </a:xfrm>
          <a:prstGeom prst="roundRect">
            <a:avLst>
              <a:gd name="adj" fmla="val 3763"/>
            </a:avLst>
          </a:prstGeom>
          <a:solidFill>
            <a:srgbClr val="FCEADB"/>
          </a:solidFill>
          <a:ln/>
        </p:spPr>
      </p:sp>
      <p:sp>
        <p:nvSpPr>
          <p:cNvPr id="28" name="Text 26"/>
          <p:cNvSpPr/>
          <p:nvPr/>
        </p:nvSpPr>
        <p:spPr>
          <a:xfrm>
            <a:off x="6986016" y="1591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粒度の決め方（この3つで切る）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86016" y="19568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87768" y="19568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停止・やり直しが発生する単位で分割する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86016" y="23408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87768" y="23408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熟練者が「ここが勝負」と言う場面を最小単位とする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86016" y="27249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87768" y="27249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1オブジェクトのレビューが15分以内で終わる大きさ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48272" y="33101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入力ソース別の構造化責務（誰が確定させるか）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3657600"/>
          <a:ext cx="49377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78308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入力ソース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構造化の担い手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生成先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面接記録（CTA）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人（LLMは整形補助）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Decision / Cue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同期映像・音声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LLM草案 → 人が確定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Action / Evidence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設備時系列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特徴量抽出 → 熟練者監修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Cue の閾値 / Outcome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実績イベントログ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プロセスマイニング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Exception の頻度分布</a:t>
                      </a:r>
                      <a:endParaRPr lang="en-US" sz="98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確定権限は常に工程責任者にある。AIは候補を出す側であり、承認する側ではない。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Build詳細 ③ 検証層（④）の要件・仕様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検証層が守るのは「AIが作った手順を、AIとは別の仕組みで否認できる」こと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943600" cy="2798064"/>
          </a:xfrm>
          <a:prstGeom prst="roundRect">
            <a:avLst>
              <a:gd name="adj" fmla="val 228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91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機械検証する制約の4分類（重大なものから実装する）</a:t>
            </a:r>
            <a:r>
              <a:rPr lang="en-US" sz="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 G1・M5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975104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B335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7510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「部品Aの装着前に通電してはならない」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77240" y="2523744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E8792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2374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252374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「検査Bは処置Cの後30分以内に実施する」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3072384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7238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07238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「工具摩耗が閾値超なら条件変更を要求する」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77240" y="3621024"/>
            <a:ext cx="713232" cy="402336"/>
          </a:xfrm>
          <a:prstGeom prst="roundRect">
            <a:avLst>
              <a:gd name="adj" fmla="val 11364"/>
            </a:avLst>
          </a:prstGeom>
          <a:solidFill>
            <a:srgbClr val="B3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210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停止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621024"/>
            <a:ext cx="4617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「異常兆候Xが出たら継続禁止・上位へ通報」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920" y="4443984"/>
            <a:ext cx="5943600" cy="1316736"/>
          </a:xfrm>
          <a:prstGeom prst="roundRect">
            <a:avLst>
              <a:gd name="adj" fmla="val 4861"/>
            </a:avLst>
          </a:prstGeom>
          <a:solidFill>
            <a:srgbClr val="FCEADB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検証のタイミングと不合格時の扱い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" y="4846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検証は「知識の登録時」と「現場への配信時」の2回走らせる。不合格は棄却ではなく差し戻しとし、誰が何を追加すれば通るのかを機械が返す。返せない設計にすると、現場は検証を迂回する。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48272" y="1481328"/>
            <a:ext cx="4937760" cy="4279392"/>
          </a:xfrm>
          <a:prstGeom prst="roundRect">
            <a:avLst>
              <a:gd name="adj" fmla="val 1496"/>
            </a:avLst>
          </a:prstGeom>
          <a:solidFill>
            <a:srgbClr val="13294B"/>
          </a:solidFill>
          <a:ln/>
        </p:spPr>
      </p:sp>
      <p:sp>
        <p:nvSpPr>
          <p:cNvPr id="22" name="Text 20"/>
          <p:cNvSpPr/>
          <p:nvPr/>
        </p:nvSpPr>
        <p:spPr>
          <a:xfrm>
            <a:off x="6986016" y="1591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承認の状態遷移（版と失効の管理）</a:t>
            </a:r>
            <a:r>
              <a:rPr lang="en-US" sz="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＝ K13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86016" y="1975104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5A6B80"/>
          </a:solidFill>
          <a:ln/>
        </p:spPr>
      </p:sp>
      <p:sp>
        <p:nvSpPr>
          <p:cNvPr id="24" name="Text 22"/>
          <p:cNvSpPr/>
          <p:nvPr/>
        </p:nvSpPr>
        <p:spPr>
          <a:xfrm>
            <a:off x="6986016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76488" y="19751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AI抽出直後。現場へは出さない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470648" y="23408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986016" y="2505456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1F4E79"/>
          </a:solidFill>
          <a:ln/>
        </p:spPr>
      </p:sp>
      <p:sp>
        <p:nvSpPr>
          <p:cNvPr id="28" name="Text 26"/>
          <p:cNvSpPr/>
          <p:nvPr/>
        </p:nvSpPr>
        <p:spPr>
          <a:xfrm>
            <a:off x="6986016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76488" y="25054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担当者が内容を確認した状態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470648" y="2871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986016" y="3035808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1F4E79"/>
          </a:solidFill>
          <a:ln/>
        </p:spPr>
      </p:sp>
      <p:sp>
        <p:nvSpPr>
          <p:cNvPr id="32" name="Text 30"/>
          <p:cNvSpPr/>
          <p:nvPr/>
        </p:nvSpPr>
        <p:spPr>
          <a:xfrm>
            <a:off x="6986016" y="3035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76488" y="3035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証拠・制約・実績の検証を通過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470648" y="34015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986016" y="356616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8792A"/>
          </a:solidFill>
          <a:ln/>
        </p:spPr>
      </p:sp>
      <p:sp>
        <p:nvSpPr>
          <p:cNvPr id="36" name="Text 34"/>
          <p:cNvSpPr/>
          <p:nvPr/>
        </p:nvSpPr>
        <p:spPr>
          <a:xfrm>
            <a:off x="6986016" y="3566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76488" y="3566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責任者が承認し効果も確認済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470648" y="39319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986016" y="409651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B3352C"/>
          </a:solidFill>
          <a:ln/>
        </p:spPr>
      </p:sp>
      <p:sp>
        <p:nvSpPr>
          <p:cNvPr id="40" name="Text 38"/>
          <p:cNvSpPr/>
          <p:nvPr/>
        </p:nvSpPr>
        <p:spPr>
          <a:xfrm>
            <a:off x="6986016" y="4096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Suspended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76488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事故・品質問題・根拠失効で停止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986016" y="4626864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5A6B80"/>
          </a:solidFill>
          <a:ln/>
        </p:spPr>
      </p:sp>
      <p:sp>
        <p:nvSpPr>
          <p:cNvPr id="43" name="Text 41"/>
          <p:cNvSpPr/>
          <p:nvPr/>
        </p:nvSpPr>
        <p:spPr>
          <a:xfrm>
            <a:off x="6986016" y="4626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Superseded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76488" y="46268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変更影響により新版へ差し替え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986016" y="5157216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5A6B80"/>
          </a:solidFill>
          <a:ln/>
        </p:spPr>
      </p:sp>
      <p:sp>
        <p:nvSpPr>
          <p:cNvPr id="46" name="Text 44"/>
          <p:cNvSpPr/>
          <p:nvPr/>
        </p:nvSpPr>
        <p:spPr>
          <a:xfrm>
            <a:off x="6986016" y="5157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Retired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76488" y="51572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保持期限到来・移行完了で廃止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現場が見るのは Standard のみ。Draft・Candidate を配信可能にした時点で、この層は意味を失う。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Build詳細 ④ 内部アーキテクチャ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Build層は3コンポーネント。Buy層とは「API」と「エクスポート」の2点でしか繋がない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627632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収録・ASR（Buy）</a:t>
            </a:r>
            <a:endParaRPr lang="en-US" sz="98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377440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動画解析・異常検知（Buy/OSS）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02920" y="3127248"/>
            <a:ext cx="2011680" cy="603504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127248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設備・実績ログ（既存）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 rot="5400000">
            <a:off x="2606040" y="2487168"/>
            <a:ext cx="182880" cy="182880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1481328"/>
            <a:ext cx="5669280" cy="2487168"/>
          </a:xfrm>
          <a:prstGeom prst="roundRect">
            <a:avLst>
              <a:gd name="adj" fmla="val 2574"/>
            </a:avLst>
          </a:prstGeom>
          <a:solidFill>
            <a:srgbClr val="FCEADB"/>
          </a:solidFill>
          <a:ln/>
        </p:spPr>
      </p:sp>
      <p:sp>
        <p:nvSpPr>
          <p:cNvPr id="12" name="Text 10"/>
          <p:cNvSpPr/>
          <p:nvPr/>
        </p:nvSpPr>
        <p:spPr>
          <a:xfrm>
            <a:off x="304495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 範囲（自社保有）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1874520"/>
            <a:ext cx="1709928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93852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取込アダプタ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21284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正規化・時刻整合＝K9/K4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18888" y="1874520"/>
            <a:ext cx="1709928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93852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知識ストア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221284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 オブジェクト・版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0256" y="1874520"/>
            <a:ext cx="1709928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0256" y="193852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制約エンジン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0256" y="221284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検証・差し戻し＝K3/M5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788920"/>
            <a:ext cx="2606040" cy="713232"/>
          </a:xfrm>
          <a:prstGeom prst="roundRect">
            <a:avLst>
              <a:gd name="adj" fmla="val 8974"/>
            </a:avLst>
          </a:prstGeom>
          <a:solidFill>
            <a:srgbClr val="13294B"/>
          </a:solidFill>
          <a:ln/>
        </p:spPr>
      </p:sp>
      <p:sp>
        <p:nvSpPr>
          <p:cNvPr id="23" name="Text 21"/>
          <p:cNvSpPr/>
          <p:nvPr/>
        </p:nvSpPr>
        <p:spPr>
          <a:xfrm>
            <a:off x="3090672" y="2788920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証拠ストア＝E3（原本・ハッシュ・同意）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2788920"/>
            <a:ext cx="2606040" cy="713232"/>
          </a:xfrm>
          <a:prstGeom prst="roundRect">
            <a:avLst>
              <a:gd name="adj" fmla="val 8974"/>
            </a:avLst>
          </a:prstGeom>
          <a:solidFill>
            <a:srgbClr val="13294B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592" y="2788920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配信API＝M1〜M5・一括エクスポート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8641080" y="2487168"/>
            <a:ext cx="182880" cy="182880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27" name="Shape 25"/>
          <p:cNvSpPr/>
          <p:nvPr/>
        </p:nvSpPr>
        <p:spPr>
          <a:xfrm>
            <a:off x="8915400" y="1627632"/>
            <a:ext cx="2770632" cy="603504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5128" y="1627632"/>
            <a:ext cx="2551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作業指示・AR（Buy）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915400" y="2377440"/>
            <a:ext cx="2770632" cy="603504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25128" y="2377440"/>
            <a:ext cx="2551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教育・技能認定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8915400" y="3127248"/>
            <a:ext cx="2770632" cy="603504"/>
          </a:xfrm>
          <a:prstGeom prst="roundRect">
            <a:avLst>
              <a:gd name="adj" fmla="val 10606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25128" y="3127248"/>
            <a:ext cx="2551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検査AI・自動化（後続）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02920" y="4169664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" y="451713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原本7年・派生物は版ごと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761488" y="4169664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07792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07792" y="451713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工程／役割単位＋本人アクセス権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020056" y="4169664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性能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451713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配信APIは現場端末で1秒以内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7278624" y="4169664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4928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24928" y="451713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全知識を可読形式で一括出力可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9537192" y="4169664"/>
            <a:ext cx="21488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83496" y="4261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83496" y="4517136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誰がいつ何を承認したかを追跡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502920" y="5266944"/>
            <a:ext cx="11183112" cy="713232"/>
          </a:xfrm>
          <a:prstGeom prst="roundRect">
            <a:avLst>
              <a:gd name="adj" fmla="val 8974"/>
            </a:avLst>
          </a:prstGeom>
          <a:solidFill>
            <a:srgbClr val="13294B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" y="5266944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境界の原則：Buy製品には知識を「渡す」。Buy製品の中に知識を「置かない」。この一線を引けていれば、配信製品はいつでも入れ替えられる。</a:t>
            </a:r>
            <a:endParaRPr lang="en-US" sz="1150" dirty="0"/>
          </a:p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知識ストアは決定済 Ontosphere を継続採用（正本自社保有・可搬形式・一括出力を契約条件）— SK・K13 は自社開発拡張。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認証・ストレージ・ネットワークは既存全社基盤を流用する前提。Build層で新規調達するインフラはない。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業種別の適合性 ①（離散系）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離散系は「手順と判断」が課題。推奨構成でほぼ解けるが、力加減だけは別投資が要る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17904"/>
            <a:ext cx="2057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517904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517904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業務プロセス上の中核課題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517904"/>
            <a:ext cx="242316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517904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推奨構成の効き方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0" y="1517904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17904"/>
            <a:ext cx="1143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92640" y="151790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0" y="1517904"/>
            <a:ext cx="194767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残る課題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1993392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0665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自動車・モビリティ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" y="256032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組立／締結／溶接／検査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7480" y="2103120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多品種ラインで手順が個人裁量に流れる。設計変更の製造への波及が追えず、同種不具合が再発する。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面接＋同期映像で判断を取り、条件分岐付き作業指示で配信。実績ログで逸脱を全数把握。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50224" y="2286000"/>
            <a:ext cx="850392" cy="365760"/>
          </a:xfrm>
          <a:prstGeom prst="roundRect">
            <a:avLst>
              <a:gd name="adj" fmla="val 12500"/>
            </a:avLst>
          </a:prstGeom>
          <a:solidFill>
            <a:srgbClr val="E1F0EA"/>
          </a:solidFill>
          <a:ln/>
        </p:spPr>
      </p:sp>
      <p:sp>
        <p:nvSpPr>
          <p:cNvPr id="20" name="Text 18"/>
          <p:cNvSpPr/>
          <p:nvPr/>
        </p:nvSpPr>
        <p:spPr>
          <a:xfrm>
            <a:off x="8650224" y="228600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解決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84080" y="2103120"/>
            <a:ext cx="17647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締結の力加減はセンサ追加が必要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36499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電機・半導体・精密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" y="3858768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微細加工／外観検査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401568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工程条件が膨大で、装置個体差と歩留まりの因果が属人的。微小欠陥の判定基準が人ごとに揺れる。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126480" y="3401568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設備時系列＋実績ログの因果分析が主軸。検査は熟練判定を異常検知モデルへ転写。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650224" y="3584448"/>
            <a:ext cx="850392" cy="365760"/>
          </a:xfrm>
          <a:prstGeom prst="roundRect">
            <a:avLst>
              <a:gd name="adj" fmla="val 12500"/>
            </a:avLst>
          </a:prstGeom>
          <a:solidFill>
            <a:srgbClr val="E1F0EA"/>
          </a:solidFill>
          <a:ln/>
        </p:spPr>
      </p:sp>
      <p:sp>
        <p:nvSpPr>
          <p:cNvPr id="28" name="Text 26"/>
          <p:cNvSpPr/>
          <p:nvPr/>
        </p:nvSpPr>
        <p:spPr>
          <a:xfrm>
            <a:off x="8650224" y="3584448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解決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84080" y="3401568"/>
            <a:ext cx="17647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未知欠陥は人の確認が残る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2920" y="4590288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46634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金属加工・溶接・造船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" y="5157216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溶接／研磨／現場合わせ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4700016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トーチ姿勢・速度・入熱という技能そのものが数値化されておらず、外観と内部品質の関係が伝わらない。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126480" y="4700016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動作・力覚センシングで技能を数値化し、VR訓練の採点基準へ。外観判定はモデル化。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650224" y="4882896"/>
            <a:ext cx="850392" cy="365760"/>
          </a:xfrm>
          <a:prstGeom prst="roundRect">
            <a:avLst>
              <a:gd name="adj" fmla="val 12500"/>
            </a:avLst>
          </a:prstGeom>
          <a:solidFill>
            <a:srgbClr val="FAF0D8"/>
          </a:solidFill>
          <a:ln/>
        </p:spPr>
      </p:sp>
      <p:sp>
        <p:nvSpPr>
          <p:cNvPr id="36" name="Text 34"/>
          <p:cNvSpPr/>
          <p:nvPr/>
        </p:nvSpPr>
        <p:spPr>
          <a:xfrm>
            <a:off x="8650224" y="4882896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一部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84080" y="4700016"/>
            <a:ext cx="17647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計測セットアップが工程ごとに必要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判定基準　◎: 推奨構成の中核でそのまま解ける ／ ○: 追加投資（センサ・訓練環境）が要る ／ △: 現時点では部分的にしか解けない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業種別の適合性 ②（プロセス系・重工）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プロセス系は「条件と兆候」が課題。データ基盤があれば解けるが、五感の一部は残る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205740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17904"/>
            <a:ext cx="2057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517904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517904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業務プロセス上の中核課題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517904"/>
            <a:ext cx="242316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517904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推奨構成の効き方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0" y="1517904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17904"/>
            <a:ext cx="1143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92640" y="151790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0" y="1517904"/>
            <a:ext cx="1947672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残る課題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1993392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06654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化学・素材・製紙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" y="2560320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連続／バッチ運転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97480" y="2103120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原料差・季節差・長い遅れ時間により、運転員の微調整が再現できない。逸脱処置が個人の勘に依存。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運転データの因果分析と訓練シミュレータが主軸。介入理由を面接で言語化し条件付き知識へ。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50224" y="2286000"/>
            <a:ext cx="850392" cy="365760"/>
          </a:xfrm>
          <a:prstGeom prst="roundRect">
            <a:avLst>
              <a:gd name="adj" fmla="val 12500"/>
            </a:avLst>
          </a:prstGeom>
          <a:solidFill>
            <a:srgbClr val="E1F0EA"/>
          </a:solidFill>
          <a:ln/>
        </p:spPr>
      </p:sp>
      <p:sp>
        <p:nvSpPr>
          <p:cNvPr id="20" name="Text 18"/>
          <p:cNvSpPr/>
          <p:nvPr/>
        </p:nvSpPr>
        <p:spPr>
          <a:xfrm>
            <a:off x="8650224" y="228600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解決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84080" y="2103120"/>
            <a:ext cx="17647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匂い・粘度の触感は代替不能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364992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食品・医薬・医療機器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" y="3858768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調合／充填／検査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401568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官能評価が言語化されず、切替・洗浄の判断が属人的。規制対応で記録の正確性が最優先。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126480" y="3401568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電子署名付き作業指示で確実に実行させ、官能判断は面接と検査モデルで補完。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650224" y="3584448"/>
            <a:ext cx="850392" cy="365760"/>
          </a:xfrm>
          <a:prstGeom prst="roundRect">
            <a:avLst>
              <a:gd name="adj" fmla="val 12500"/>
            </a:avLst>
          </a:prstGeom>
          <a:solidFill>
            <a:srgbClr val="FAF0D8"/>
          </a:solidFill>
          <a:ln/>
        </p:spPr>
      </p:sp>
      <p:sp>
        <p:nvSpPr>
          <p:cNvPr id="28" name="Text 26"/>
          <p:cNvSpPr/>
          <p:nvPr/>
        </p:nvSpPr>
        <p:spPr>
          <a:xfrm>
            <a:off x="8650224" y="3584448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一部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84080" y="3401568"/>
            <a:ext cx="17647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生成AI出力は記録の正本にできない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2920" y="4590288"/>
            <a:ext cx="11183112" cy="1188720"/>
          </a:xfrm>
          <a:prstGeom prst="roundRect">
            <a:avLst>
              <a:gd name="adj" fmla="val 5385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466344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産業機械・重工・プラント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" y="5157216"/>
            <a:ext cx="1837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据付／調整／長期保全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4700016"/>
            <a:ext cx="3200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一品物で現場合わせが多く、据付・試運転の知識が担当者に閉じる。長期保全で担当が交代する。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126480" y="4700016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故障事例の横断検索とAR遠隔支援が即効。設備-故障-処置-結果の関係を構造化。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650224" y="4882896"/>
            <a:ext cx="850392" cy="365760"/>
          </a:xfrm>
          <a:prstGeom prst="roundRect">
            <a:avLst>
              <a:gd name="adj" fmla="val 12500"/>
            </a:avLst>
          </a:prstGeom>
          <a:solidFill>
            <a:srgbClr val="E1F0EA"/>
          </a:solidFill>
          <a:ln/>
        </p:spPr>
      </p:sp>
      <p:sp>
        <p:nvSpPr>
          <p:cNvPr id="36" name="Text 34"/>
          <p:cNvSpPr/>
          <p:nvPr/>
        </p:nvSpPr>
        <p:spPr>
          <a:xfrm>
            <a:off x="8650224" y="4882896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解決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84080" y="4700016"/>
            <a:ext cx="17647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狭所・大型の空間知識は3D記録が別途必要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残課題はいずれも「AIで代替できない領域」であり、現場実習・徒弟的学習を置き換えるのではなく補完する設計とする。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業種別の適合性 ③（Build層が解く固有課題）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業種固有の難所は「構造化の語彙」と「検証すべき制約」に現れる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481328"/>
            <a:ext cx="3337560" cy="347472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481328"/>
            <a:ext cx="33375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構造化・検証における固有の難所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481328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481328"/>
            <a:ext cx="27889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Build層のどの機能で解くか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1481328"/>
            <a:ext cx="1097280" cy="347472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1481328"/>
            <a:ext cx="10972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38360" y="1481328"/>
            <a:ext cx="1947672" cy="347472"/>
          </a:xfrm>
          <a:prstGeom prst="roundRect">
            <a:avLst>
              <a:gd name="adj" fmla="val 10526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/>
          <p:nvPr/>
        </p:nvSpPr>
        <p:spPr>
          <a:xfrm>
            <a:off x="9738360" y="1481328"/>
            <a:ext cx="19476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追加で必要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920240"/>
            <a:ext cx="11183112" cy="653796"/>
          </a:xfrm>
          <a:prstGeom prst="roundRect">
            <a:avLst>
              <a:gd name="adj" fmla="val 9790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1920240"/>
            <a:ext cx="16459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自動車・モビリティ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1920240"/>
            <a:ext cx="317296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設計変更が下流へ波及するが、どの手順知識が影響を受けるか列挙できない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52160" y="1920240"/>
            <a:ext cx="262432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SkillObject に設備・製品・工程IDを保持。変更時に影響知識を機械的に列挙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69096" y="208026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E1F0EA"/>
          </a:solidFill>
          <a:ln/>
        </p:spPr>
      </p:sp>
      <p:sp>
        <p:nvSpPr>
          <p:cNvPr id="19" name="Text 17"/>
          <p:cNvSpPr/>
          <p:nvPr/>
        </p:nvSpPr>
        <p:spPr>
          <a:xfrm>
            <a:off x="8769096" y="208026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29800" y="1920240"/>
            <a:ext cx="1783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変更管理システムとのID整合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02920" y="2624328"/>
            <a:ext cx="11183112" cy="653796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624328"/>
            <a:ext cx="16459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電機・半導体・精密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2624328"/>
            <a:ext cx="317296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装置個体差とレシピが膨大で、条件知識がすぐ陳腐化し誰も気づかない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2624328"/>
            <a:ext cx="262432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失効条件を必須属性化。装置更新イベントで該当知識を自動 Suspended 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69096" y="2784348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E1F0EA"/>
          </a:solidFill>
          <a:ln/>
        </p:spPr>
      </p:sp>
      <p:sp>
        <p:nvSpPr>
          <p:cNvPr id="26" name="Text 24"/>
          <p:cNvSpPr/>
          <p:nvPr/>
        </p:nvSpPr>
        <p:spPr>
          <a:xfrm>
            <a:off x="8769096" y="27843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29800" y="2624328"/>
            <a:ext cx="1783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装置マスタとの連携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502920" y="3328416"/>
            <a:ext cx="11183112" cy="653796"/>
          </a:xfrm>
          <a:prstGeom prst="roundRect">
            <a:avLst>
              <a:gd name="adj" fmla="val 9790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328416"/>
            <a:ext cx="16459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金属加工・溶接・造船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68880" y="3328416"/>
            <a:ext cx="317296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「正しいが異なる複数の流儀」が併存。単一標準へ潰すと現場が離れる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52160" y="3328416"/>
            <a:ext cx="262432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条件付き知識として複数解を保持。確信度と適用条件を併記し潰さない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69096" y="3488436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E1F0EA"/>
          </a:solidFill>
          <a:ln/>
        </p:spPr>
      </p:sp>
      <p:sp>
        <p:nvSpPr>
          <p:cNvPr id="33" name="Text 31"/>
          <p:cNvSpPr/>
          <p:nvPr/>
        </p:nvSpPr>
        <p:spPr>
          <a:xfrm>
            <a:off x="8769096" y="34884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29800" y="3328416"/>
            <a:ext cx="1783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熟練者複数名のレビュー体制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4032504"/>
            <a:ext cx="11183112" cy="653796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4032504"/>
            <a:ext cx="16459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化学・素材・製紙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468880" y="4032504"/>
            <a:ext cx="317296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遅れ時間が長く、操作と結果の因果が時間軸上で繋がらない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4032504"/>
            <a:ext cx="262432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Outcome に観測遅れを保持し、実績ログの因果分析結果と突合して検証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69096" y="4192524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FAF0D8"/>
          </a:solidFill>
          <a:ln/>
        </p:spPr>
      </p:sp>
      <p:sp>
        <p:nvSpPr>
          <p:cNvPr id="40" name="Text 38"/>
          <p:cNvSpPr/>
          <p:nvPr/>
        </p:nvSpPr>
        <p:spPr>
          <a:xfrm>
            <a:off x="8769096" y="419252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829800" y="4032504"/>
            <a:ext cx="1783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運転データの時刻同期精度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502920" y="4736592"/>
            <a:ext cx="11183112" cy="653796"/>
          </a:xfrm>
          <a:prstGeom prst="roundRect">
            <a:avLst>
              <a:gd name="adj" fmla="val 9790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4736592"/>
            <a:ext cx="16459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食品・医薬・医療機器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468880" y="4736592"/>
            <a:ext cx="317296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GxP。記録の正本性・変更管理・バリデーションが最優先で、自由記述を残せない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52160" y="4736592"/>
            <a:ext cx="262432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承認状態遷移と監査証跡を規制要件に合わせて実装。生成物は正本にしない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769096" y="4896612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FAF0D8"/>
          </a:solidFill>
          <a:ln/>
        </p:spPr>
      </p:sp>
      <p:sp>
        <p:nvSpPr>
          <p:cNvPr id="47" name="Text 45"/>
          <p:cNvSpPr/>
          <p:nvPr/>
        </p:nvSpPr>
        <p:spPr>
          <a:xfrm>
            <a:off x="8769096" y="48966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29800" y="4736592"/>
            <a:ext cx="1783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バリデーション文書一式（別工数）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02920" y="5440680"/>
            <a:ext cx="11183112" cy="653796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" y="5440680"/>
            <a:ext cx="16459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産業機械・重工・プラント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468880" y="5440680"/>
            <a:ext cx="317296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一品物で現場合わせが多く、そもそも標準化できない知識が主体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52160" y="5440680"/>
            <a:ext cx="2624328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Exception を一級の要素として扱う設計。標準化を強制せず例外を残す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769096" y="560070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E1F0EA"/>
          </a:solidFill>
          <a:ln/>
        </p:spPr>
      </p:sp>
      <p:sp>
        <p:nvSpPr>
          <p:cNvPr id="54" name="Text 52"/>
          <p:cNvSpPr/>
          <p:nvPr/>
        </p:nvSpPr>
        <p:spPr>
          <a:xfrm>
            <a:off x="8769096" y="56007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29800" y="5440680"/>
            <a:ext cx="17830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20" dirty="0">
                <a:solidFill>
                  <a:srgbClr val="B335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現地作業の証拠収録手段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502920" y="62362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◎: Build層の標準機能で解ける（追加設計は工程固有の語彙定義のみ）　／　○: 解けるが業種固有の追加要件があり、その分の工数を別途見込む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 / Buy 判断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Buildは中央2層のみ。判断基準は「差別化と主権に関わるか」の一点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371600"/>
                <a:gridCol w="4206240"/>
                <a:gridCol w="281635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レイヤー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判断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理由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Buyの場合の想定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収集（映像・音声・センサ）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Buy 中心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デバイス・収録基盤は汎用品で足りる。差別化要素ではない。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端末＋収録SaaS／既存スマホ活用も可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解釈（分節・異常検知）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Buy / OSS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モデルは急速にコモディティ化。自作しても半年で陳腐化する。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検査AI製品／OSS異常検知＋内製調整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構造化（知識オブジェクト＝SK）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E879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Build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ここが競争力そのもの。ベンダー内部に置くと資産を失う。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Ontosphere 継続採用＋SK/K13 自社拡張（正本自社保有・可搬を契約条件）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 検証（制約・効果測定＝K13・G1/M5）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E879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Build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自社の安全・品質基準に固有。汎用製品では表現できない。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⑤ 人へ返す（作業指示・AR）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Buy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現場UX・端末管理・電子署名・多言語を自前で作ると必ず赤字。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Connected Worker／DWI 製品（業務接点UI U1〜U3 は内製・共に正本レス）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⑥ 機械へ返す（自動化）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5A6B8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後続判断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Phase1 の対象外。安全分離セルが確保できてから検討する。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33445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3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 anchor="ctr">
                    <a:lnL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36592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CEADB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Buildの判定質問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0664" y="51389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「これを他社と同じ製品で行っても、当社の技能継承の質は変わらないか？」変わらないなら Buy。変わるなら Build。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91072" y="4736592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13294B"/>
          </a:solidFill>
          <a:ln/>
        </p:spPr>
      </p:sp>
      <p:sp>
        <p:nvSpPr>
          <p:cNvPr id="9" name="Text 6"/>
          <p:cNvSpPr/>
          <p:nvPr/>
        </p:nvSpPr>
        <p:spPr>
          <a:xfrm>
            <a:off x="6528816" y="4846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 でも必ず守る一線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28816" y="51389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知識の正本をベンダーDBに置かない。エクスポート可能な形式で自社側に常時保持する条項を契約段階で入れる。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 推奨候補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配信層は市場再編が進行中。だからこそ「正本の外出し」を契約要件にする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394960" cy="3977640"/>
          </a:xfrm>
          <a:prstGeom prst="roundRect">
            <a:avLst>
              <a:gd name="adj" fmla="val 1609"/>
            </a:avLst>
          </a:prstGeom>
          <a:solidFill>
            <a:srgbClr val="FCEADB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" y="160934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現場配信（Connected Worker / DWI）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0664" y="2029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Augmentir（米・独立系）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40664" y="22677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AIによる技能管理と適応型作業指示。習熟度に応じて支援量を変える設計が R2 に直結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40664" y="2706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Poka（加・IFS傘下）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40664" y="29443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退職前のベテラン知見を動画で捕捉する用途に強い。F&amp;B・CPGでの実績が厚い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740664" y="3383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Parsable（米）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40664" y="362102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条件分岐付きSOPと監査証跡。規制産業・複雑手順に向く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40664" y="4059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Dozuki / VKS / Operations1（米・独）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40664" y="42976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版管理と品質システム連携を重視する場合の選択肢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40664" y="4736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国内: tebiki／Teachme Biz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40664" y="49743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日本語・多言語現場と国内サポートを優先する場合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291072" y="1481328"/>
            <a:ext cx="5394960" cy="3977640"/>
          </a:xfrm>
          <a:prstGeom prst="roundRect">
            <a:avLst>
              <a:gd name="adj" fmla="val 1609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60934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検査AI・遠隔支援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28816" y="2029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Landing AI（米・LandingLens）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528816" y="226771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少ない教師データで汎用的に立ち上がる。業種横断で最も守備範囲が広い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528816" y="2706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Instrumental（米）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528816" y="29443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電子機器組立の欠陥検出と根本原因分析に特化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528816" y="3383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Elementary / Covision Quality（米・伊）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28816" y="362102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ラインで学習するノーコード型。立上げ速度重視の選択肢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528816" y="40599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Librestream Onsight / PTC Vuforia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528816" y="42976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AR遠隔支援。保全・据付の即効性が高い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528816" y="4736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Augury（イスラエル・米）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528816" y="49743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回転機の設備健全性。予知保全と投資を共用できる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02920" y="5596128"/>
            <a:ext cx="11183112" cy="768096"/>
          </a:xfrm>
          <a:prstGeom prst="roundRect">
            <a:avLst>
              <a:gd name="adj" fmla="val 8333"/>
            </a:avLst>
          </a:prstGeom>
          <a:solidFill>
            <a:srgbClr val="13294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669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市場再編の事実：SwipeGuide → L2L ／ Poka → IFS ／ Proceedix → SymphonyAI ／ StepShot → UiPath。数年で買収・統合が続いている。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96188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製品選定より「知識をエクスポートできる契約」の方が長期の資産価値を決める。RFPの必須要件に入れる。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各社公開情報および業界比較記事（証拠等級E3–E4）。機能・価格・データ出力性は契約・版・地域で異なるため、PoCで実検証すること。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推奨構成の裏付け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推奨の3手段は、評価前提を変えても上位に残る（＝前提依存が小さい）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63040"/>
            <a:ext cx="3959352" cy="1810512"/>
          </a:xfrm>
          <a:prstGeom prst="roundRect">
            <a:avLst>
              <a:gd name="adj" fmla="val 3535"/>
            </a:avLst>
          </a:prstGeom>
          <a:solidFill>
            <a:srgbClr val="FCEADB"/>
          </a:solidFill>
          <a:ln/>
        </p:spPr>
      </p:sp>
      <p:sp>
        <p:nvSpPr>
          <p:cNvPr id="6" name="Text 3"/>
          <p:cNvSpPr/>
          <p:nvPr/>
        </p:nvSpPr>
        <p:spPr>
          <a:xfrm>
            <a:off x="7964424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2つの前提で二重採点した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64424" y="190195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3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相互運用性を重く見る大企業基準と、教育効果・導入容易性を重く見る中小基準の双方で採点。順位が入れ替わる手段（標準基盤は8位→14位）がある一方、推奨する3手段はどちらでも上位に残った。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7726680" y="3419856"/>
            <a:ext cx="3959352" cy="1883664"/>
          </a:xfrm>
          <a:prstGeom prst="roundRect">
            <a:avLst>
              <a:gd name="adj" fmla="val 3398"/>
            </a:avLst>
          </a:prstGeom>
          <a:solidFill>
            <a:srgbClr val="13294B"/>
          </a:solidFill>
          <a:ln/>
        </p:spPr>
      </p:sp>
      <p:sp>
        <p:nvSpPr>
          <p:cNvPr id="9" name="Text 6"/>
          <p:cNvSpPr/>
          <p:nvPr/>
        </p:nvSpPr>
        <p:spPr>
          <a:xfrm>
            <a:off x="7964424" y="3547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採点に使った証拠の等級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964424" y="3877056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/>
        </p:spPr>
      </p:sp>
      <p:sp>
        <p:nvSpPr>
          <p:cNvPr id="11" name="Text 8"/>
          <p:cNvSpPr/>
          <p:nvPr/>
        </p:nvSpPr>
        <p:spPr>
          <a:xfrm>
            <a:off x="7964424" y="3877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39912" y="3877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国際規格・政府統計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964424" y="4224528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/>
        </p:spPr>
      </p:sp>
      <p:sp>
        <p:nvSpPr>
          <p:cNvPr id="14" name="Text 11"/>
          <p:cNvSpPr/>
          <p:nvPr/>
        </p:nvSpPr>
        <p:spPr>
          <a:xfrm>
            <a:off x="7964424" y="42245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39912" y="4224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査読済み論文・主要会議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964424" y="4572000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/>
        </p:spPr>
      </p:sp>
      <p:sp>
        <p:nvSpPr>
          <p:cNvPr id="17" name="Text 14"/>
          <p:cNvSpPr/>
          <p:nvPr/>
        </p:nvSpPr>
        <p:spPr>
          <a:xfrm>
            <a:off x="7964424" y="45720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39912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企業公式・公式リポジトリ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7964424" y="4919472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5A6B80"/>
          </a:solidFill>
          <a:ln/>
        </p:spPr>
      </p:sp>
      <p:sp>
        <p:nvSpPr>
          <p:cNvPr id="20" name="Text 17"/>
          <p:cNvSpPr/>
          <p:nvPr/>
        </p:nvSpPr>
        <p:spPr>
          <a:xfrm>
            <a:off x="7964424" y="49194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39912" y="4919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FA3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ベンダー記事（採点に不使用）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採点は明示した重み体系に依存する相対評価。絶対値ではなく手段間の順序として解釈する。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推奨構成の裏付け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先行案の16件の誤りを一次情報で是正した。うち5件は結論を左右した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7223760" cy="1097280"/>
          </a:xfrm>
          <a:prstGeom prst="roundRect">
            <a:avLst>
              <a:gd name="adj" fmla="val 583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847088"/>
            <a:ext cx="402336" cy="402336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89304" y="162763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国際規格の発行状況が誤っていた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9304" y="1938528"/>
            <a:ext cx="6263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「複数ツインの合成規格が発行済み」とされていたが、実際は未発行（審議中）。この規格を前提にした全社基盤の先行投資は、Phase1では見送りとした。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2734056"/>
            <a:ext cx="7223760" cy="1097280"/>
          </a:xfrm>
          <a:prstGeom prst="roundRect">
            <a:avLst>
              <a:gd name="adj" fmla="val 583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3063240"/>
            <a:ext cx="402336" cy="402336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9304" y="284378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94.9%という成功率が誤用されていた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9304" y="3154680"/>
            <a:ext cx="6263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熟練者の知識抽出率として引用されていた数値は、実際には合成データ上のシミュレーション値。現場技能とは無関係のため、根拠から除外した。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7223760" cy="1097280"/>
          </a:xfrm>
          <a:prstGeom prst="roundRect">
            <a:avLst>
              <a:gd name="adj" fmla="val 5833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" y="4279392"/>
            <a:ext cx="402336" cy="402336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9304" y="405993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動画AIの実力が過大評価されていた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9304" y="4370832"/>
            <a:ext cx="6263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2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査読済みの産業データでの実測は、作業ミス検出の精度が23〜41%。「動画を入れれば手順書ができる」前提は成立せず、熟練者レビューを必須工程として組み込んだ。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964424" y="1517904"/>
            <a:ext cx="3721608" cy="2313432"/>
          </a:xfrm>
          <a:prstGeom prst="roundRect">
            <a:avLst>
              <a:gd name="adj" fmla="val 2767"/>
            </a:avLst>
          </a:prstGeom>
          <a:solidFill>
            <a:srgbClr val="1329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検証の手続き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0456" y="2084832"/>
            <a:ext cx="109728" cy="109728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2" name="Text 20"/>
          <p:cNvSpPr/>
          <p:nvPr/>
        </p:nvSpPr>
        <p:spPr>
          <a:xfrm>
            <a:off x="8439912" y="19933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全事実主張を一次情報に照合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220456" y="2505456"/>
            <a:ext cx="109728" cy="109728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4" name="Text 22"/>
          <p:cNvSpPr/>
          <p:nvPr/>
        </p:nvSpPr>
        <p:spPr>
          <a:xfrm>
            <a:off x="8439912" y="2414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確認できない引用は「未確認」と明示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220456" y="2926080"/>
            <a:ext cx="109728" cy="109728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2834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採点の加重和は機械計算で検算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220456" y="3346704"/>
            <a:ext cx="109728" cy="109728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28" name="Text 26"/>
          <p:cNvSpPr/>
          <p:nvPr/>
        </p:nvSpPr>
        <p:spPr>
          <a:xfrm>
            <a:off x="8439912" y="3255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D9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結論が誤りになる条件を6件明記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7964424" y="3977640"/>
            <a:ext cx="3721608" cy="1188720"/>
          </a:xfrm>
          <a:prstGeom prst="roundRect">
            <a:avLst>
              <a:gd name="adj" fmla="val 5385"/>
            </a:avLst>
          </a:prstGeom>
          <a:solidFill>
            <a:srgbClr val="FCEADB"/>
          </a:solidFill>
          <a:ln/>
        </p:spPr>
      </p:sp>
      <p:sp>
        <p:nvSpPr>
          <p:cNvPr id="30" name="Text 28"/>
          <p:cNvSpPr/>
          <p:nvPr/>
        </p:nvSpPr>
        <p:spPr>
          <a:xfrm>
            <a:off x="8202168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この提案を見直す条件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02168" y="43708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産業映像でのミス検出精度が0.8を超え、複数工場で再現された時点で、収集・解釈層の構成を全面的に見直す。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「都合の良い数字を落とした結果、推奨構成が変わった」ことが、本提案の信頼性の根拠である。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実行計画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6か月・3工程・ゲート制。効果が出なければ Phase2 は実行しない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139696" cy="2148840"/>
          </a:xfrm>
          <a:prstGeom prst="roundRect">
            <a:avLst>
              <a:gd name="adj" fmla="val 2991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609344"/>
            <a:ext cx="384048" cy="38404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対象選定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" y="16093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23957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退職リスク・品質影響・再利用性で工程を採点。Before値と労使合意を取得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770632" y="1481328"/>
            <a:ext cx="2139696" cy="2148840"/>
          </a:xfrm>
          <a:prstGeom prst="roundRect">
            <a:avLst>
              <a:gd name="adj" fmla="val 2991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16936" y="1609344"/>
            <a:ext cx="384048" cy="38404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16936" y="20665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証拠収集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6093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936" y="23957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熟練者2〜4名・若手2〜4名。正常＋異常＋手直しを収録し面接を実施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38344" y="1481328"/>
            <a:ext cx="2139696" cy="2148840"/>
          </a:xfrm>
          <a:prstGeom prst="roundRect">
            <a:avLst>
              <a:gd name="adj" fmla="val 2991"/>
            </a:avLst>
          </a:prstGeom>
          <a:solidFill>
            <a:srgbClr val="FCEADB"/>
          </a:solidFill>
          <a:ln/>
        </p:spPr>
      </p:sp>
      <p:sp>
        <p:nvSpPr>
          <p:cNvPr id="17" name="Shape 15"/>
          <p:cNvSpPr/>
          <p:nvPr/>
        </p:nvSpPr>
        <p:spPr>
          <a:xfrm>
            <a:off x="5184648" y="1609344"/>
            <a:ext cx="384048" cy="384048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8" name="Text 16"/>
          <p:cNvSpPr/>
          <p:nvPr/>
        </p:nvSpPr>
        <p:spPr>
          <a:xfrm>
            <a:off x="5184648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84648" y="20665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96712" y="16093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84648" y="23957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知識オブジェクトを作成。重大制約の自動チェックを実装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306056" y="1481328"/>
            <a:ext cx="2139696" cy="2148840"/>
          </a:xfrm>
          <a:prstGeom prst="roundRect">
            <a:avLst>
              <a:gd name="adj" fmla="val 2991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609344"/>
            <a:ext cx="384048" cy="384048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52360" y="20665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現場還元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64424" y="16093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23957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1用途のみ配信。初期は助言のみで人の判断と比較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573768" y="1481328"/>
            <a:ext cx="2139696" cy="2148840"/>
          </a:xfrm>
          <a:prstGeom prst="roundRect">
            <a:avLst>
              <a:gd name="adj" fmla="val 2991"/>
            </a:avLst>
          </a:prstGeom>
          <a:solidFill>
            <a:srgbClr val="F7E4E2"/>
          </a:solidFill>
          <a:ln/>
        </p:spPr>
      </p:sp>
      <p:sp>
        <p:nvSpPr>
          <p:cNvPr id="29" name="Shape 27"/>
          <p:cNvSpPr/>
          <p:nvPr/>
        </p:nvSpPr>
        <p:spPr>
          <a:xfrm>
            <a:off x="9720072" y="1609344"/>
            <a:ext cx="384048" cy="384048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720072" y="20665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効果ゲート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32136" y="16093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20072" y="23957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 有意改善かつ重大誤指示ゼロなら Phase2 へ。未達なら中止または再設計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02920" y="3877056"/>
            <a:ext cx="3566160" cy="1572768"/>
          </a:xfrm>
          <a:prstGeom prst="roundRect">
            <a:avLst>
              <a:gd name="adj" fmla="val 4070"/>
            </a:avLst>
          </a:prstGeom>
          <a:solidFill>
            <a:srgbClr val="FCEADB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投資規模（目安）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" y="42611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8〜18人月＋配信SaaS費用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22376" y="4809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既存資産・設備状況で変動。詳細見積は工程確定後に提示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4279392" y="3877056"/>
            <a:ext cx="3566160" cy="1572768"/>
          </a:xfrm>
          <a:prstGeom prst="roundRect">
            <a:avLst>
              <a:gd name="adj" fmla="val 4070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848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効果KPI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98848" y="42611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独り立ち期間 / 初品一発合格率 / 初回修復率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498848" y="4809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工程ごとに1指標を主KPIとし、品質と安全を悪化させないことを条件とする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8055864" y="3877056"/>
            <a:ext cx="3566160" cy="1572768"/>
          </a:xfrm>
          <a:prstGeom prst="roundRect">
            <a:avLst>
              <a:gd name="adj" fmla="val 4070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75320" y="42611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工程責任者・熟練者・知識設計・現場UX の4役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275320" y="4809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AI人材よりも「工程責任者の関与」が成否を決める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投資規模は前提を置いた概算であり、確定見積ではない。Phase0 完了時点で工程別の実見積を提出する。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リスクと打ち手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最大のリスクは技術ではなく、監視懸念とレビュー工数の過小見積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7099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B3352C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7099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法規制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5361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視線・生体データの職場利用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00200" y="18653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EU AI Act は職場での感情推定を原則禁止。海外拠点・EU向け製品に波及する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 rot="5400000">
            <a:off x="4727448" y="1801368"/>
            <a:ext cx="146304" cy="146304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544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用途を工程改善に限定し、個人スコアリングを制度で禁止。法務レビューを Phase0 に組み込む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64261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B335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2642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現場受容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468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監視と受け取られる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00200" y="2798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一度そう受け取られると協力が止まり、データが歪む。技術的に回復できない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 rot="5400000">
            <a:off x="4727448" y="2734056"/>
            <a:ext cx="146304" cy="146304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48716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目的の透明化、限定収録、本人アクセス権、人事評価への不使用を労使で文書化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02920" y="3328416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" y="357530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879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" y="357530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4015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AI生成手順の誤りが標準化される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00200" y="37307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動画AIの産業タスク実測精度は本番水準にない。無レビュー運用は誤伝承を量産する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 rot="5400000">
            <a:off x="4727448" y="3666744"/>
            <a:ext cx="146304" cy="146304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419856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全生成物に「草案／レビュー済／承認済」の状態を持たせ、承認者を明示。レビュー工数を計画に計上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02920" y="4261104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450799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E879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" y="4507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3342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ベンダーロックによる知識の喪失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600200" y="4663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配信層は買収・統合が続いており、製品の寿命が知識の寿命を決めかねない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 rot="5400000">
            <a:off x="4727448" y="4599432"/>
            <a:ext cx="146304" cy="146304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435254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知識の正本を自社保有。エクスポート可能な形式での常時提供を契約要件にする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502920" y="5193792"/>
            <a:ext cx="11183112" cy="822960"/>
          </a:xfrm>
          <a:prstGeom prst="roundRect">
            <a:avLst>
              <a:gd name="adj" fmla="val 7778"/>
            </a:avLst>
          </a:prstGeom>
          <a:solidFill>
            <a:srgbClr val="F5F8FC"/>
          </a:solidFill>
          <a:ln w="12700">
            <a:solidFill>
              <a:srgbClr val="C9D5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" y="544068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3294B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5440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00200" y="52669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効果が出ないまま拡大する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600200" y="55961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3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「導入すること」が目的化し、KPIなしに次フェーズへ進む典型的な失敗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 rot="5400000">
            <a:off x="4727448" y="5532120"/>
            <a:ext cx="146304" cy="146304"/>
          </a:xfrm>
          <a:prstGeom prst="triangle">
            <a:avLst/>
          </a:prstGeom>
          <a:solidFill>
            <a:srgbClr val="5A6B80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5285232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60" dirty="0">
                <a:solidFill>
                  <a:srgbClr val="3344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ゲート制。効果未達なら中止する判断を事前に合意しておく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上位2件は技術で解決できない。制度と合意形成で先に潰す必要があるため、Phase0 の完了条件に含めている。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A173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280160"/>
            <a:ext cx="3840480" cy="384048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1089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79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ご判断のお願い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111858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本日ご承認いただきたいのは、Phase1 の実行と3つの前提条件です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7772400" cy="1097280"/>
          </a:xfrm>
          <a:prstGeom prst="roundRect">
            <a:avLst>
              <a:gd name="adj" fmla="val 5833"/>
            </a:avLst>
          </a:prstGeom>
          <a:solidFill>
            <a:srgbClr val="0A1730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901952"/>
            <a:ext cx="420624" cy="42062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62456" y="168249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対象3工程と責任者の指名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62456" y="2011680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40" dirty="0">
                <a:solidFill>
                  <a:srgbClr val="C3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段取り・検査・保全から各1工程。選定基準は退職リスク・品質影響・再利用性。工程責任者を明示的にアサインいただきたい。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7772400" cy="1097280"/>
          </a:xfrm>
          <a:prstGeom prst="roundRect">
            <a:avLst>
              <a:gd name="adj" fmla="val 5833"/>
            </a:avLst>
          </a:prstGeom>
          <a:solidFill>
            <a:srgbClr val="0A173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3108960"/>
            <a:ext cx="420624" cy="42062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62456" y="2889504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6か月分の要員と試用予算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62456" y="3218688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40" dirty="0">
                <a:solidFill>
                  <a:srgbClr val="C3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8〜18人月相当。加えて配信SaaSの試用契約。確定見積は Phase0 完了時に提出する。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02920" y="3986784"/>
            <a:ext cx="7772400" cy="1097280"/>
          </a:xfrm>
          <a:prstGeom prst="roundRect">
            <a:avLst>
              <a:gd name="adj" fmla="val 5833"/>
            </a:avLst>
          </a:prstGeom>
          <a:solidFill>
            <a:srgbClr val="0A1730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315968"/>
            <a:ext cx="420624" cy="420624"/>
          </a:xfrm>
          <a:prstGeom prst="ellipse">
            <a:avLst/>
          </a:prstGeom>
          <a:solidFill>
            <a:srgbClr val="E8792A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62456" y="409651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データ利用範囲の社内合意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62456" y="4425696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40" dirty="0">
                <a:solidFill>
                  <a:srgbClr val="C3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収録データを人事評価・個人監視に使わない旨の方針決定と労使協議の実施。これが無いと現場の協力が得られない。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8513064" y="1572768"/>
            <a:ext cx="3172968" cy="2304288"/>
          </a:xfrm>
          <a:prstGeom prst="roundRect">
            <a:avLst>
              <a:gd name="adj" fmla="val 2778"/>
            </a:avLst>
          </a:prstGeom>
          <a:solidFill>
            <a:srgbClr val="E8792A"/>
          </a:solidFill>
          <a:ln/>
        </p:spPr>
      </p:sp>
      <p:sp>
        <p:nvSpPr>
          <p:cNvPr id="22" name="Text 20"/>
          <p:cNvSpPr/>
          <p:nvPr/>
        </p:nvSpPr>
        <p:spPr>
          <a:xfrm>
            <a:off x="8750808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7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次のゲート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50808" y="20299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6か月後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50808" y="2596896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30" dirty="0">
                <a:solidFill>
                  <a:srgbClr val="3E2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効果KPIが有意改善し、重大誤指示ゼロを満たした場合のみ Phase2 の投資判断をお願いする。未達なら中止する。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513064" y="3986784"/>
            <a:ext cx="3172968" cy="1243584"/>
          </a:xfrm>
          <a:prstGeom prst="roundRect">
            <a:avLst>
              <a:gd name="adj" fmla="val 5147"/>
            </a:avLst>
          </a:prstGeom>
          <a:solidFill>
            <a:srgbClr val="0A1730"/>
          </a:solidFill>
          <a:ln/>
        </p:spPr>
      </p:sp>
      <p:sp>
        <p:nvSpPr>
          <p:cNvPr id="26" name="Text 24"/>
          <p:cNvSpPr/>
          <p:nvPr/>
        </p:nvSpPr>
        <p:spPr>
          <a:xfrm>
            <a:off x="8750808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本日承認しないもの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50808" y="4389120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A8BD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全社ナレッジ基盤／国際標準の全面採用／ロボット自動化。いずれも条件成立後に個別提案する。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02920" y="5230368"/>
            <a:ext cx="7772400" cy="841248"/>
          </a:xfrm>
          <a:prstGeom prst="roundRect">
            <a:avLst>
              <a:gd name="adj" fmla="val 7609"/>
            </a:avLst>
          </a:prstGeom>
          <a:solidFill>
            <a:srgbClr val="E8792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30368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7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知識は人と共に消える。設備は後から買えるが、退職した熟練者の頭の中は買い戻せない。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37376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CoE ／ 2026年7月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AI CoE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CoE</dc:creator>
  <cp:lastModifiedBy>AI CoE</cp:lastModifiedBy>
  <cp:revision>1</cp:revision>
  <dcterms:created xsi:type="dcterms:W3CDTF">2026-07-26T00:19:39Z</dcterms:created>
  <dcterms:modified xsi:type="dcterms:W3CDTF">2026-07-26T00:19:39Z</dcterms:modified>
</cp:coreProperties>
</file>