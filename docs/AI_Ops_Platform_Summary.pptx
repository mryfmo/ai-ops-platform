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本資料はai-ops-platformリポジトリの成果物一式（README、ADR、仕様、検証報告書）を精査して作成したサマリー。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E3A8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474720" cy="3474720"/>
          </a:xfrm>
          <a:prstGeom prst="ellipse">
            <a:avLst/>
          </a:prstGeom>
          <a:solidFill>
            <a:srgbClr val="2E3A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70" y="124267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0116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Ops Platform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PrjOps AI基盤 × AIエージェント主導 DevOps運用基盤　統合14エージェント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成果サマリー報告（部門長・上長向け）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394960"/>
            <a:ext cx="47548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532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CoE　2026年7月11日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対象規模: プロジェクト約50件（設計上限100） / 関連企業 国内外数十社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エグゼクティブサマリー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結論と成果ハイライト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72768"/>
            <a:ext cx="10469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プロジェクト運営（進捗・報告・督促）と開発運用（CI/CD・インシデント・権限）の定型業務を自動化する統合基盤の実装が完了。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数値・判定はコードが算出し、AIは文章生成のみ」という統制設計により、AIの誤り（幻覚）を構造的に排除。全操作は追記専用の監査ログに記録され、経営・投資家向け報告は人間承認後にのみ配信される。残るは実環境での結合検証（E2E）のみ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9184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EFF4FC">
              <a:alpha val="0"/>
            </a:srgbClr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204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85800" y="4434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統合AIエージェント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48920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PrjOps 7体 + DevOps 7体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329184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329184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EFF4FC">
              <a:alpha val="0"/>
            </a:srgbClr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35204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750件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502152" y="4434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ユニットテスト全件合格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02152" y="48920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決定的ロジックを実測検証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329184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329184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EFF4FC">
              <a:alpha val="0"/>
            </a:srgbClr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35204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318504" y="4434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仕様トレーサビリティ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18504" y="48920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必須仕様ID⇔実装⇔テスト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97696" y="329184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97696" y="329184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EFF4FC">
              <a:alpha val="0"/>
            </a:srgbClr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97696" y="3520440"/>
            <a:ext cx="2615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134856" y="4434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ペルソナ別レポート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34856" y="48920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メンバー〜経営・投資家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前提ツール: Claude Code / GitHub / Microsoft Teams / Outlook　※既存契約ツールの範囲で稼働する設計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背景とコンセプト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「AIに任せる領域」と「人が守る領域」を構造で分離する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18480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現状の課題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週次報告・督促・集計が手作業で、担当者の負荷が恒常化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プロジェクト約50件 × 関連企業数十社の横断的な状況把握が困難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報告の品質・粒度が人によってばらつく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CI/CD・リリース・インシデント対応が属人化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29184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37960" y="1463040"/>
            <a:ext cx="50749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37960" y="1463040"/>
            <a:ext cx="5074920" cy="4160520"/>
          </a:xfrm>
          <a:prstGeom prst="roundRect">
            <a:avLst>
              <a:gd name="adj" fmla="val 1978"/>
            </a:avLst>
          </a:prstGeom>
          <a:solidFill>
            <a:srgbClr val="FFFFFF">
              <a:alpha val="0"/>
            </a:srgbClr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642" y="184800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43800" y="1755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解決コンセプト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858000" y="242316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定型業務の完全エージェント化: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収集→分析→レポート生成→配信→督促を14エージェントが分担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AIの役割を文章に限定: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数値・判定・色分けはすべてコードが算出。AIの誤りが数字に混入しない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人間の承認ゲート: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経営・投資家向け報告はマネージャー承認必須。AIが作るPRのマージは人間のみ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狙い: 自動化による工数削減と、監査可能性・正確性の両立（自動化と統制のトレードオフを設計で解消）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プラットフォーム全体像 ― 統合14エージェント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プロジェクト運営（PrjOps）と開発運用（DevOps）を同一基盤上で自動化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440680" cy="713232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179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PrjOps AI基盤（7体）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865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プロジェクト進捗・報告・ポートフォリオ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2395728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459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AGT-01 オーケストレーター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27432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全体統括・ジョブ制御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2395728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2459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AGT-02 コレクター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27432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GitHub/Teamsから情報収集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" y="3246120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3101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AGT-03 アナライザー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" y="359359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ステータス判定・リスク分析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3246120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33101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AGT-04 レポート生成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3008" y="359359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5プロファイル×日英HTML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" y="4096512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4160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AGT-05 ディストリビューター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" y="44439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Outlook/Teams配信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4096512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4160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AGT-06 トラッカー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93008" y="44439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督促スケジュール・回収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" y="4946904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5010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AGT-07 ベリファイア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" y="52943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生成物の検証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99632" y="146304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1463040"/>
            <a:ext cx="5440680" cy="713232"/>
          </a:xfrm>
          <a:prstGeom prst="roundRect">
            <a:avLst>
              <a:gd name="adj" fmla="val 11538"/>
            </a:avLst>
          </a:prstGeom>
          <a:solidFill>
            <a:srgbClr val="2E3A8C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15179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DevOps運用基盤（7体）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28232" y="1865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CI/CD・リリース・インシデント・権限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0" y="2395728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2459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AGT-ORCH 統括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10528" y="27432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運用ジョブのオーケストレーション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034272" y="2395728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0" y="2459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AGT-BLD ビルド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0" y="27432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CI失敗分類・修正案生成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3246120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33101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AGT-DEP デプロイ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10528" y="359359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デプロイ状態機械・ゲート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034272" y="3246120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0" y="33101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AGT-INC インシデント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44000" y="359359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重大度分類・初動支援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00800" y="4096512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0528" y="4160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AGT-CHG 変更管理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10528" y="44439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差分要約・変更審査支援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034272" y="4096512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0" y="4160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AGT-RPT レポート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144000" y="44439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DORA指標・運用レポート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00800" y="4946904"/>
            <a:ext cx="24505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0528" y="5010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AGT-SEC セキュリティ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10528" y="52943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JIT権限・失効判定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実行基盤: PrjOps = GitHub Actionsスケジュール実行 / DevOps = 常駐コンテナ（30秒間隔ヘルスチェック・毎分のJIT権限失効判定に対応）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主要機能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6つの中核機能で「集める・判断する・伝える・統制する」を自動化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084832"/>
          </a:xfrm>
          <a:prstGeom prst="roundRect">
            <a:avLst>
              <a:gd name="adj" fmla="val 394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9164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15" y="179624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7282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自動レポート生成・配信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286000"/>
            <a:ext cx="32095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5プロファイル×日英の自己完結HTMLレポートを自動生成し、Outlookメール・Teamsカードで配信。ダッシュボードへのディープリンク付き。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611880" cy="2084832"/>
          </a:xfrm>
          <a:prstGeom prst="roundRect">
            <a:avLst>
              <a:gd name="adj" fmla="val 394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8848" y="169164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455" y="1796247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02352" y="17282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Seven Keys 経営ダッシュボード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98848" y="2286000"/>
            <a:ext cx="32095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IBM由来の正典7キー（K1〜K7）をプロジェクト毎にRAG評価。月次PDCAスナップショットで前月比を追跡。データ欠落時は推測せず「未評価」を明示。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611880" cy="2084832"/>
          </a:xfrm>
          <a:prstGeom prst="roundRect">
            <a:avLst>
              <a:gd name="adj" fmla="val 394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47888" y="169164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495" y="179624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51392" y="17282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ページエージェント（対話UI）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47888" y="2286000"/>
            <a:ext cx="32095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見たい画面を自然文で指示すると表示を切替。AIの推論過程も折りたたみ表示。数値は本文で生成せずツール呼出しに限定。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611880" cy="2084832"/>
          </a:xfrm>
          <a:prstGeom prst="roundRect">
            <a:avLst>
              <a:gd name="adj" fmla="val 394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97764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15" y="4082247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53312" y="40142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Excel一括インポート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572000"/>
            <a:ext cx="32095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Issue・Project項目・マイルストーンをExcelから安全に一括登録。再実行しても重複しない冪等設計（詳細は後述）。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794760"/>
            <a:ext cx="3611880" cy="2084832"/>
          </a:xfrm>
          <a:prstGeom prst="roundRect">
            <a:avLst>
              <a:gd name="adj" fmla="val 394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8848" y="397764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455" y="4082247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02352" y="40142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DevOps自動化・DORA指標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98848" y="4572000"/>
            <a:ext cx="32095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デプロイ状態機械、リスクスコア、DORA 5指標の自動算出。CI失敗の分類とコード修正案の生成（読取専用ワークスペース）。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3611880" cy="2084832"/>
          </a:xfrm>
          <a:prstGeom prst="roundRect">
            <a:avLst>
              <a:gd name="adj" fmla="val 394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47888" y="397764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495" y="4082247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51392" y="40142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監査・トレーサビリティ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47888" y="4572000"/>
            <a:ext cx="32095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全操作を追記専用の監査ログに記録。仕様ID⇔実装⇔テストの相互参照をツールで機械検証（必須カテゴリ100%）。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いずれの機能も「数値はコード算出・AIは文章スロットのみ」の原則の上に実装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アーキテクチャ（仕様）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モノレポ6パッケージ構成と、Webhookからレポート配信までのデータフロー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パッケージ構成（論理分離を維持したモノレポ）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5623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shared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03120" y="183794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共通基盤: ID体系・営業日・監査ログ・秘密情報サニタイザ・外部APIクライアント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3288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prjops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103120" y="251460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PrjOps 7エージェント / 決定的ロジック / レポートテンプレート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954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devops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03120" y="319125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DevOps 7エージェント / DORA・リスク・状態機械 / PostgreSQLスキーマ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8620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server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03120" y="386791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常駐サーバ（Hono）: Webhook受信・スケジューラ・WebUIプロキシ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535424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6285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103120" y="454456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Next.js ダッシュボード: Entra ID認証・ペルソナ解決・ページエージェント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3951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traceability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103120" y="522122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仕様ID⇔実装⇔テストの相互参照検証ツール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データフロー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0" y="1828800"/>
            <a:ext cx="5212080" cy="713232"/>
          </a:xfrm>
          <a:prstGeom prst="roundRect">
            <a:avLst>
              <a:gd name="adj" fmla="val 1153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5392" y="19385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9999" y="2043135"/>
            <a:ext cx="266273" cy="266273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178040" y="1901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外部イベント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178040" y="219456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 / Teams / Outlook Webhook（署名検証）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006840" y="2542032"/>
            <a:ext cx="0" cy="12801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400800" y="2670048"/>
            <a:ext cx="5212080" cy="713232"/>
          </a:xfrm>
          <a:prstGeom prst="roundRect">
            <a:avLst>
              <a:gd name="adj" fmla="val 1153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65392" y="277977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999" y="2884383"/>
            <a:ext cx="266273" cy="266273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178040" y="2743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常駐サーバ（Hono）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7178040" y="303580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イベント正規化 → PostgreSQLへ永続化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9006840" y="3383280"/>
            <a:ext cx="0" cy="12801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6400800" y="3511296"/>
            <a:ext cx="5212080" cy="713232"/>
          </a:xfrm>
          <a:prstGeom prst="roundRect">
            <a:avLst>
              <a:gd name="adj" fmla="val 1153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565392" y="36210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999" y="3725631"/>
            <a:ext cx="266273" cy="266273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178040" y="3584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決定的ロジック（コード）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7178040" y="387705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時系列集計・RAG判定・DORA算出 ― AI非介在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9006840" y="4224528"/>
            <a:ext cx="0" cy="12801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2" name="Shape 37"/>
          <p:cNvSpPr/>
          <p:nvPr/>
        </p:nvSpPr>
        <p:spPr>
          <a:xfrm>
            <a:off x="6400800" y="4352544"/>
            <a:ext cx="5212080" cy="713232"/>
          </a:xfrm>
          <a:prstGeom prst="roundRect">
            <a:avLst>
              <a:gd name="adj" fmla="val 11538"/>
            </a:avLst>
          </a:prstGeom>
          <a:solidFill>
            <a:srgbClr val="FFF6E3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565392" y="4462272"/>
            <a:ext cx="475488" cy="475488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999" y="4566879"/>
            <a:ext cx="266273" cy="266273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7178040" y="44256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AI（文章スロットのみ）</a:t>
            </a:r>
            <a:endParaRPr lang="en-US" sz="1150" dirty="0"/>
          </a:p>
        </p:txBody>
      </p:sp>
      <p:sp>
        <p:nvSpPr>
          <p:cNvPr id="46" name="Text 40"/>
          <p:cNvSpPr/>
          <p:nvPr/>
        </p:nvSpPr>
        <p:spPr>
          <a:xfrm>
            <a:off x="7178040" y="471830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結論文・要約文を生成 → コードが数値を注入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9006840" y="5065776"/>
            <a:ext cx="0" cy="12801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8" name="Shape 42"/>
          <p:cNvSpPr/>
          <p:nvPr/>
        </p:nvSpPr>
        <p:spPr>
          <a:xfrm>
            <a:off x="6400800" y="5193792"/>
            <a:ext cx="5212080" cy="713232"/>
          </a:xfrm>
          <a:prstGeom prst="roundRect">
            <a:avLst>
              <a:gd name="adj" fmla="val 1153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6565392" y="530352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999" y="5408127"/>
            <a:ext cx="266273" cy="266273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7178040" y="52669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出力</a:t>
            </a:r>
            <a:endParaRPr lang="en-US" sz="1150" dirty="0"/>
          </a:p>
        </p:txBody>
      </p:sp>
      <p:sp>
        <p:nvSpPr>
          <p:cNvPr id="52" name="Text 45"/>
          <p:cNvSpPr/>
          <p:nvPr/>
        </p:nvSpPr>
        <p:spPr>
          <a:xfrm>
            <a:off x="7178040" y="55595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WebUIダッシュボード / Outlookメール / Teamsカード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ガバナンス設計原則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AIの誤り・情報漏えい・不正操作を「構造」で防ぐ ― レビューで差戻し対象となる強制規約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89372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099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ロジックとAIの物理分離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203911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判定・スコアリング・状態遷移はAIに依存しない純粋関数として実装。AIの非決定性から独立してテストでき、正しさを実測で保証。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62" y="189372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099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数値・色・表はコード算出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132320" y="203911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AIに数値を生成させない。レポートの数字は決定的関数が算出し、AIは結論文・要約文のみ。幻覚（もっともらしい誤り）が数字に混入しない。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48640" y="3081528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2644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337505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19125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秘密情報の3層サニタイズ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17320" y="352044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外部から受けたテキストは ①DB保存前 ②AI入力前 ③ログ・出力前 の3箇所で必ず秘密情報を除去。CIでも混入を検査。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6263640" y="3081528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32644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162" y="337505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19125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監査ログは追記専用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32320" y="352044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監査ログのUPDATE/DELETEはコード・DB権限の両面で禁止。ステータス上書き等の重要操作は理由の記載が必須。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548640" y="4562856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1520" y="47457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" y="4856378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6725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権限フィルタはデータ取得側で強制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417320" y="500176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レポート・API応答は権限フィルタを必ず経由。表示層での後付けマスキングは禁止。配信先の有効判定はリクエスト毎に実施。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6263640" y="4562856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46520" y="47457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162" y="4856378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6725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AI成果物は人間が承認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132320" y="500176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AIが生成するPRは専用ラベル付きで自動マージ禁止（人間レビュアーのみ）。経営・投資家向けレポートはマネージャー承認後に配信。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これらは開発規約（AGENTS.md）とADRに明文化され、CI・トレーサビリティ検証で機械的に担保される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ペルソナ別ユースケース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6つの役割ごとに「見えるもの・できること」を権限フィルタで制御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6172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ペルソナ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主なユースケース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閲覧範囲（権限制御）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PRF-01 メンバー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Teamsコマンドで進捗を報告。担当課題と督促を自動で受け取り、報告漏れを防止。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2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自プロジェクトの担当範囲のみ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PRF-02 リーダー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チームの進捗・課題レポートを定期受領。未回答メンバーへの督促はエージェントが代行。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2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担当プロジェクトの詳細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PRF-03 マネージャー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バーンダウン・DORA指標で複数プロジェクトを横断管理。経営・投資家向けレポートの配信前承認、論理削除等の管理操作。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2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担当スコープ全体+承認権限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PRF-04 経営陣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Seven Keys RAGマトリクスでポートフォリオ全体を点検。月次PDCAで前月比の改善・悪化キーを把握。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2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全社閲覧（操作コマンドは不可）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PRF-05 投資家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ILPA準拠のKPI（売上・EBITDA・マイルストーン遅延・高重大度リスク）のみ閲覧。内部リスクメモや運営コメントは非表示。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2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投資先KPIに限定（最小開示）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DevOps 運用管理者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AIコーディングエージェントの稼働状況、CI/CD・インシデント・JIT権限の状態をダッシュボードで監視。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2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運用系（PRF-M/L/G）スコープ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例: 経営陣は毎月第1営業日にSeven Keysスナップショットを受領 ― 「どのプロジェクトの、どのキーが、前月から悪化したか」を一目で確認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Excelインポート機能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既存のExcel運用資産から、Issue・Project項目・マイルストーンを安全に一括登録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1600200"/>
          </a:xfrm>
          <a:prstGeom prst="roundRect">
            <a:avLst>
              <a:gd name="adj" fmla="val 514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73736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テンプレート取得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API / CLIで標準テンプレートを入手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2212848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88920" y="1554480"/>
            <a:ext cx="2103120" cy="1600200"/>
          </a:xfrm>
          <a:prstGeom prst="roundRect">
            <a:avLst>
              <a:gd name="adj" fmla="val 514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6080" y="16916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29260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10712" y="173736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記入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926080" y="221284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3シートに記入（次頁のフォーマット参照）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212848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029200" y="1554480"/>
            <a:ext cx="2103120" cy="1600200"/>
          </a:xfrm>
          <a:prstGeom prst="roundRect">
            <a:avLst>
              <a:gd name="adj" fmla="val 514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66360" y="16916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51663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650992" y="173736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dry-run 検証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166360" y="221284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実行前にシート・行・列単位でエラーを検出</a:t>
            </a:r>
            <a:endParaRPr lang="en-US" sz="9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2212848"/>
            <a:ext cx="18288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269480" y="1554480"/>
            <a:ext cx="2103120" cy="1600200"/>
          </a:xfrm>
          <a:prstGeom prst="roundRect">
            <a:avLst>
              <a:gd name="adj" fmla="val 514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06640" y="16916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74066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7891272" y="173736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7406640" y="221284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確認ヘッダ必須。GitHubへジョブキューで登録</a:t>
            </a:r>
            <a:endParaRPr lang="en-US" sz="9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212848"/>
            <a:ext cx="182880" cy="1828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509760" y="1554480"/>
            <a:ext cx="2103120" cy="1600200"/>
          </a:xfrm>
          <a:prstGeom prst="roundRect">
            <a:avLst>
              <a:gd name="adj" fmla="val 514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646920" y="16916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4"/>
          <p:cNvSpPr/>
          <p:nvPr/>
        </p:nvSpPr>
        <p:spPr>
          <a:xfrm>
            <a:off x="96469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10131552" y="173736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結果確認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646920" y="221284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登録 / スキップ / 失敗を行単位でレポート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安全設計のポイント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548640" y="3840480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48640" y="3840480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FFFFF">
              <a:alpha val="0"/>
            </a:srgbClr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94944" y="3986784"/>
            <a:ext cx="438912" cy="438912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05" y="4083345"/>
            <a:ext cx="245791" cy="245791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280160" y="3931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冪等性（再実行安全）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1280160" y="422452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各行の source_key とインポート台帳で同一行を判定。再実行しても重複登録されない。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6263640" y="3840480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263640" y="3840480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FFFFF">
              <a:alpha val="0"/>
            </a:srgbClr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6409944" y="3986784"/>
            <a:ext cx="438912" cy="438912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6505" y="4083345"/>
            <a:ext cx="245791" cy="245791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995160" y="3931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GitHub制限に配慮したジョブキュー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6995160" y="422452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コンテンツ生成80件/分・500件/時の制限を前提に進捗制御。大量登録でも失敗しにくい。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548640" y="5010912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548640" y="5010912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FFFFF">
              <a:alpha val="0"/>
            </a:srgbClr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694944" y="5157216"/>
            <a:ext cx="438912" cy="438912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505" y="5253777"/>
            <a:ext cx="245791" cy="245791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280160" y="5102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安全なライブラリ選定</a:t>
            </a:r>
            <a:endParaRPr lang="en-US" sz="1150" dirty="0"/>
          </a:p>
        </p:txBody>
      </p:sp>
      <p:sp>
        <p:nvSpPr>
          <p:cNvPr id="51" name="Text 42"/>
          <p:cNvSpPr/>
          <p:nvPr/>
        </p:nvSpPr>
        <p:spPr>
          <a:xfrm>
            <a:off x="1280160" y="5394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既知脆弱性（CVE-2024-22363）が未修正のnpm xlsxを回避し、exceljsを採用。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6263640" y="5010912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6263640" y="5010912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FFFFF">
              <a:alpha val="0"/>
            </a:srgbClr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6409944" y="5157216"/>
            <a:ext cx="438912" cy="438912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6505" y="5253777"/>
            <a:ext cx="245791" cy="245791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6995160" y="5102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3層サニタイズ</a:t>
            </a:r>
            <a:endParaRPr lang="en-US" sz="1150" dirty="0"/>
          </a:p>
        </p:txBody>
      </p:sp>
      <p:sp>
        <p:nvSpPr>
          <p:cNvPr id="57" name="Text 47"/>
          <p:cNvSpPr/>
          <p:nvPr/>
        </p:nvSpPr>
        <p:spPr>
          <a:xfrm>
            <a:off x="6995160" y="5394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取り込みテキストは保存前・GitHub送信前・レポート表示前に秘密情報を除去。</a:t>
            </a:r>
            <a:endParaRPr lang="en-US" sz="950" dirty="0"/>
          </a:p>
        </p:txBody>
      </p:sp>
      <p:sp>
        <p:nvSpPr>
          <p:cNvPr id="58" name="Text 4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対象はデータ登録物（Issue / Project項目 / マイルストーン）に限定。PRはレビュー・CIの監査性を守るため対象外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Excelインポート ― フォーマット事例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標準テンプレートは3シート構成。source_key（安定キー）が再実行安全性の要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420624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シート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必須列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任意列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issues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GitHub Issueの一括作成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source_key, title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body, labels, milestone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project_items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Project v2項目の追加・フィールド更新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source_key, project_node_id, content_node_id, field_node_id, field_type, value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milestones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マイルストーンの作成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source_key, title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due_on（YYYY-MM-DD）, description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記入イメージ（issuesシート）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7498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19202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source_key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title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labels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milestone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PRJA-REQ-001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要件定義書のレビュー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priority:high, docs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Phase 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PRJA-REQ-002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API仕様の確定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api, design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Phase 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PRJA-DEV-001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認証基盤の実装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backend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Phase 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321040" y="397764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FFF6E3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503920" y="4160520"/>
            <a:ext cx="438912" cy="438912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0481" y="4257081"/>
            <a:ext cx="245791" cy="2457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98280" y="4224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再実行の挙動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503920" y="4617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 source_key の行はインポート台帳により自動スキップ。dry-runは「重複キー・必須値欠落・不明な列」を行番号付きで指摘。</a:t>
            </a:r>
            <a:endParaRPr lang="en-US" sz="980" dirty="0"/>
          </a:p>
        </p:txBody>
      </p:sp>
      <p:sp>
        <p:nvSpPr>
          <p:cNvPr id="12" name="Text 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よくある検証エラー: シート欠落 / 列名の相違 / 必須値の欠落 / source_key重複 ― いずれも実行前のdry-runで検出可能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品質・検証状況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「何を検証済みで、何が未検証か」を偽らず開示 ― 検証結果報告書より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051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750件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468880" y="16824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ユニットテスト全件合格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68880" y="201168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判定・集計・テンプレート等の決定的ロジックを実測。開発過程で実装バグ3件以上を検出・修正済み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918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31638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必須仕様IDの参照率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8880" y="3493008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仕様⇔実装⇔テストを機械検証。テスト名にも仕様IDを明記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48640" y="4517136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7731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実HTTP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68880" y="4645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Webの実起動検証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4974336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ログイン200 / ヘルス200、未認証時はダッシュボード307・API 401を実通信で確認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263640" y="148132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誠実な開示 ― 検証区分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187452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AF5EE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05740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7104" y="2157984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040880" y="2103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検証済み（verified-integration）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92240" y="251460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決定的ロジック全般 / レポートテンプレート / サーバ経路の統合テスト136件 / Webの実起動・認証ガード / 標準報告スキーマ検証CLI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63640" y="393192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DF0EE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46520" y="41148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4215384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040880" y="4160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実環境が必要（requires-real-env）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92240" y="457200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実PostgreSQL / GitHub App・Webhook / Microsoft 365テナント（Teams・Outlook） / 実LLM呼び出し / 認証済みダッシュボードのE2E ― 手順はランブックに整備済み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方針: モックや開発モードでの確認をE2Eと呼ばない。検証水準の混同を排し、意思決定に足る情報を提供する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754880"/>
            <a:ext cx="3840480" cy="3840480"/>
          </a:xfrm>
          <a:prstGeom prst="ellipse">
            <a:avLst/>
          </a:prstGeom>
          <a:solidFill>
            <a:srgbClr val="2E3A8C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残課題と依頼事項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実装は完了。実環境検証フェーズへの移行判断をお願いしたい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40680" cy="3840480"/>
          </a:xfrm>
          <a:prstGeom prst="roundRect">
            <a:avLst>
              <a:gd name="adj" fmla="val 2143"/>
            </a:avLst>
          </a:prstGeom>
          <a:solidFill>
            <a:srgbClr val="2E3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残課題（次フェーズで実施）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実環境E2E検証: 実DB・GitHub App・Teams/Outlook・実LLMを結合した通し検証（ランブック整備済み）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PrjOps本番データプロバイダの結線（現状は一部インメモリ実装）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ペルソナ切替UI（複数役割保持者向け）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Excelインポートの実環境検証（検証用リポジトリ・台帳DB）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Seven Keys閾値の運用実績に基づく校正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212080" cy="38404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部門長・上長への依頼事項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246888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検証環境リソースの承認: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 Organization / Microsoft 365テナント / Anthropic APIキー / PostgreSQL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パイロット案件の選定: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2〜3プロジェクトで実データ運用を開始し、閾値・運用ルールを校正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承認フローの合意: </a:t>
            </a:r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経営・投資家向けレポートの承認者、AI PRのレビュー体制の確定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費用面の注記: 外部リソースの概算費用は元資料（DOC-06/07等）参照。契約前に一次情報で最新価格の再確認が必要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2026-07-11T05:07:30Z</dcterms:created>
  <dcterms:modified xsi:type="dcterms:W3CDTF">2026-07-11T05:07:30Z</dcterms:modified>
</cp:coreProperties>
</file>