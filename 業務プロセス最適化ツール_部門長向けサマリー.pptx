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pic>
        <p:nvPicPr>
          <p:cNvPr id="2" name="Image 0" descr="/home/claude/bpo_summary/icons/workflow_ice.png">    </p:cNvPr>
          <p:cNvPicPr>
            <a:picLocks noChangeAspect="1"/>
          </p:cNvPicPr>
          <p:nvPr/>
        </p:nvPicPr>
        <p:blipFill>
          <a:blip r:embed="rId1">
            <a:alphaModFix amt="12000"/>
          </a:blip>
          <a:stretch>
            <a:fillRect/>
          </a:stretch>
        </p:blipFill>
        <p:spPr>
          <a:xfrm>
            <a:off x="8229600" y="1371600"/>
            <a:ext cx="4114800" cy="4114800"/>
          </a:xfrm>
          <a:prstGeom prst="rect">
            <a:avLst/>
          </a:prstGeom>
        </p:spPr>
      </p:pic>
      <p:sp>
        <p:nvSpPr>
          <p:cNvPr id="3" name="Text 0"/>
          <p:cNvSpPr/>
          <p:nvPr/>
        </p:nvSpPr>
        <p:spPr>
          <a:xfrm>
            <a:off x="822960" y="685800"/>
            <a:ext cx="8229600" cy="320040"/>
          </a:xfrm>
          <a:prstGeom prst="rect">
            <a:avLst/>
          </a:prstGeom>
          <a:noFill/>
          <a:ln/>
        </p:spPr>
        <p:txBody>
          <a:bodyPr wrap="square" lIns="0" tIns="0" rIns="0" bIns="0" rtlCol="0" anchor="ctr"/>
          <a:lstStyle/>
          <a:p>
            <a:pPr indent="0" marL="0">
              <a:buNone/>
            </a:pPr>
            <a:r>
              <a:rPr lang="en-US" sz="1300" dirty="0">
                <a:solidFill>
                  <a:srgbClr val="CADCFC"/>
                </a:solidFill>
                <a:latin typeface="Yu Gothic" pitchFamily="34" charset="0"/>
                <a:ea typeface="Yu Gothic" pitchFamily="34" charset="-122"/>
                <a:cs typeface="Yu Gothic" pitchFamily="34" charset="-120"/>
              </a:rPr>
              <a:t>部門長・上長向けサマリー   |   2026年7月16日</a:t>
            </a:r>
            <a:endParaRPr lang="en-US" sz="1300" dirty="0"/>
          </a:p>
        </p:txBody>
      </p:sp>
      <p:sp>
        <p:nvSpPr>
          <p:cNvPr id="4" name="Text 1"/>
          <p:cNvSpPr/>
          <p:nvPr/>
        </p:nvSpPr>
        <p:spPr>
          <a:xfrm>
            <a:off x="822960" y="1965960"/>
            <a:ext cx="10607040" cy="777240"/>
          </a:xfrm>
          <a:prstGeom prst="rect">
            <a:avLst/>
          </a:prstGeom>
          <a:noFill/>
          <a:ln/>
        </p:spPr>
        <p:txBody>
          <a:bodyPr wrap="square" lIns="0" tIns="0" rIns="0" bIns="0" rtlCol="0" anchor="ctr"/>
          <a:lstStyle/>
          <a:p>
            <a:pPr indent="0" marL="0">
              <a:buNone/>
            </a:pPr>
            <a:r>
              <a:rPr lang="en-US" sz="4000" b="1" dirty="0">
                <a:solidFill>
                  <a:srgbClr val="FFFFFF"/>
                </a:solidFill>
                <a:latin typeface="Yu Gothic" pitchFamily="34" charset="0"/>
                <a:ea typeface="Yu Gothic" pitchFamily="34" charset="-122"/>
                <a:cs typeface="Yu Gothic" pitchFamily="34" charset="-120"/>
              </a:rPr>
              <a:t>業務プロセス最適化ツール(BPO)</a:t>
            </a:r>
            <a:endParaRPr lang="en-US" sz="4000" dirty="0"/>
          </a:p>
        </p:txBody>
      </p:sp>
      <p:sp>
        <p:nvSpPr>
          <p:cNvPr id="5" name="Text 2"/>
          <p:cNvSpPr/>
          <p:nvPr/>
        </p:nvSpPr>
        <p:spPr>
          <a:xfrm>
            <a:off x="822960" y="2834640"/>
            <a:ext cx="10058400" cy="868680"/>
          </a:xfrm>
          <a:prstGeom prst="rect">
            <a:avLst/>
          </a:prstGeom>
          <a:noFill/>
          <a:ln/>
        </p:spPr>
        <p:txBody>
          <a:bodyPr wrap="square" lIns="0" tIns="0" rIns="0" bIns="0" rtlCol="0" anchor="ctr"/>
          <a:lstStyle/>
          <a:p>
            <a:pPr indent="0" marL="0">
              <a:lnSpc>
                <a:spcPct val="125000"/>
              </a:lnSpc>
              <a:buNone/>
            </a:pPr>
            <a:r>
              <a:rPr lang="en-US" sz="1800" dirty="0">
                <a:solidFill>
                  <a:srgbClr val="CADCFC"/>
                </a:solidFill>
                <a:latin typeface="Yu Gothic" pitchFamily="34" charset="0"/>
                <a:ea typeface="Yu Gothic" pitchFamily="34" charset="-122"/>
                <a:cs typeface="Yu Gothic" pitchFamily="34" charset="-120"/>
              </a:rPr>
              <a:t>現場の業務手順を、AIエージェントが実行できる業務プロセスへ</a:t>
            </a:r>
            <a:endParaRPr lang="en-US" sz="1800" dirty="0"/>
          </a:p>
          <a:p>
            <a:pPr indent="0" marL="0">
              <a:lnSpc>
                <a:spcPct val="125000"/>
              </a:lnSpc>
              <a:buNone/>
            </a:pPr>
            <a:r>
              <a:rPr lang="en-US" sz="1800" dirty="0">
                <a:solidFill>
                  <a:srgbClr val="CADCFC"/>
                </a:solidFill>
                <a:latin typeface="Yu Gothic" pitchFamily="34" charset="0"/>
                <a:ea typeface="Yu Gothic" pitchFamily="34" charset="-122"/>
                <a:cs typeface="Yu Gothic" pitchFamily="34" charset="-120"/>
              </a:rPr>
              <a:t>― Excel 1枚からの自動変換 ―</a:t>
            </a:r>
            <a:endParaRPr lang="en-US" sz="1800" dirty="0"/>
          </a:p>
        </p:txBody>
      </p:sp>
      <p:sp>
        <p:nvSpPr>
          <p:cNvPr id="6" name="Shape 3"/>
          <p:cNvSpPr/>
          <p:nvPr/>
        </p:nvSpPr>
        <p:spPr>
          <a:xfrm>
            <a:off x="822960" y="4251960"/>
            <a:ext cx="2743200" cy="566928"/>
          </a:xfrm>
          <a:prstGeom prst="roundRect">
            <a:avLst>
              <a:gd name="adj" fmla="val 14516"/>
            </a:avLst>
          </a:prstGeom>
          <a:solidFill>
            <a:srgbClr val="1E2761"/>
          </a:solidFill>
          <a:ln w="12700">
            <a:solidFill>
              <a:srgbClr val="CADCFC"/>
            </a:solidFill>
            <a:prstDash val="solid"/>
          </a:ln>
        </p:spPr>
      </p:sp>
      <p:sp>
        <p:nvSpPr>
          <p:cNvPr id="7" name="Text 4"/>
          <p:cNvSpPr/>
          <p:nvPr/>
        </p:nvSpPr>
        <p:spPr>
          <a:xfrm>
            <a:off x="822960" y="4251960"/>
            <a:ext cx="2743200" cy="566928"/>
          </a:xfrm>
          <a:prstGeom prst="rect">
            <a:avLst/>
          </a:prstGeom>
          <a:noFill/>
          <a:ln/>
        </p:spPr>
        <p:txBody>
          <a:bodyPr wrap="square" lIns="0" tIns="0" rIns="0" bIns="0" rtlCol="0" anchor="ctr"/>
          <a:lstStyle/>
          <a:p>
            <a:pPr algn="ctr" indent="0" marL="0">
              <a:buNone/>
            </a:pPr>
            <a:r>
              <a:rPr lang="en-US" sz="1300" dirty="0">
                <a:solidFill>
                  <a:srgbClr val="FFFFFF"/>
                </a:solidFill>
                <a:latin typeface="Yu Gothic" pitchFamily="34" charset="0"/>
                <a:ea typeface="Yu Gothic" pitchFamily="34" charset="-122"/>
                <a:cs typeface="Yu Gothic" pitchFamily="34" charset="-120"/>
              </a:rPr>
              <a:t>現場が業務をExcelに記入</a:t>
            </a:r>
            <a:endParaRPr lang="en-US" sz="1300" dirty="0"/>
          </a:p>
        </p:txBody>
      </p:sp>
      <p:sp>
        <p:nvSpPr>
          <p:cNvPr id="8" name="Shape 5"/>
          <p:cNvSpPr/>
          <p:nvPr/>
        </p:nvSpPr>
        <p:spPr>
          <a:xfrm>
            <a:off x="3621024" y="4407408"/>
            <a:ext cx="292608" cy="256032"/>
          </a:xfrm>
          <a:prstGeom prst="rightArrow">
            <a:avLst/>
          </a:prstGeom>
          <a:solidFill>
            <a:srgbClr val="CADCFC"/>
          </a:solidFill>
          <a:ln/>
        </p:spPr>
      </p:sp>
      <p:sp>
        <p:nvSpPr>
          <p:cNvPr id="9" name="Shape 6"/>
          <p:cNvSpPr/>
          <p:nvPr/>
        </p:nvSpPr>
        <p:spPr>
          <a:xfrm>
            <a:off x="3968496" y="4251960"/>
            <a:ext cx="2743200" cy="566928"/>
          </a:xfrm>
          <a:prstGeom prst="roundRect">
            <a:avLst>
              <a:gd name="adj" fmla="val 14516"/>
            </a:avLst>
          </a:prstGeom>
          <a:solidFill>
            <a:srgbClr val="1E2761"/>
          </a:solidFill>
          <a:ln w="12700">
            <a:solidFill>
              <a:srgbClr val="CADCFC"/>
            </a:solidFill>
            <a:prstDash val="solid"/>
          </a:ln>
        </p:spPr>
      </p:sp>
      <p:sp>
        <p:nvSpPr>
          <p:cNvPr id="10" name="Text 7"/>
          <p:cNvSpPr/>
          <p:nvPr/>
        </p:nvSpPr>
        <p:spPr>
          <a:xfrm>
            <a:off x="3968496" y="4251960"/>
            <a:ext cx="2743200" cy="566928"/>
          </a:xfrm>
          <a:prstGeom prst="rect">
            <a:avLst/>
          </a:prstGeom>
          <a:noFill/>
          <a:ln/>
        </p:spPr>
        <p:txBody>
          <a:bodyPr wrap="square" lIns="0" tIns="0" rIns="0" bIns="0" rtlCol="0" anchor="ctr"/>
          <a:lstStyle/>
          <a:p>
            <a:pPr algn="ctr" indent="0" marL="0">
              <a:buNone/>
            </a:pPr>
            <a:r>
              <a:rPr lang="en-US" sz="1300" dirty="0">
                <a:solidFill>
                  <a:srgbClr val="FFFFFF"/>
                </a:solidFill>
                <a:latin typeface="Yu Gothic" pitchFamily="34" charset="0"/>
                <a:ea typeface="Yu Gothic" pitchFamily="34" charset="-122"/>
                <a:cs typeface="Yu Gothic" pitchFamily="34" charset="-120"/>
              </a:rPr>
              <a:t>検証条件付きの自動変換</a:t>
            </a:r>
            <a:endParaRPr lang="en-US" sz="1300" dirty="0"/>
          </a:p>
        </p:txBody>
      </p:sp>
      <p:sp>
        <p:nvSpPr>
          <p:cNvPr id="11" name="Shape 8"/>
          <p:cNvSpPr/>
          <p:nvPr/>
        </p:nvSpPr>
        <p:spPr>
          <a:xfrm>
            <a:off x="6766560" y="4407408"/>
            <a:ext cx="292608" cy="256032"/>
          </a:xfrm>
          <a:prstGeom prst="rightArrow">
            <a:avLst/>
          </a:prstGeom>
          <a:solidFill>
            <a:srgbClr val="CADCFC"/>
          </a:solidFill>
          <a:ln/>
        </p:spPr>
      </p:sp>
      <p:sp>
        <p:nvSpPr>
          <p:cNvPr id="12" name="Shape 9"/>
          <p:cNvSpPr/>
          <p:nvPr/>
        </p:nvSpPr>
        <p:spPr>
          <a:xfrm>
            <a:off x="7114032" y="4251960"/>
            <a:ext cx="3017520" cy="566928"/>
          </a:xfrm>
          <a:prstGeom prst="roundRect">
            <a:avLst>
              <a:gd name="adj" fmla="val 14516"/>
            </a:avLst>
          </a:prstGeom>
          <a:solidFill>
            <a:srgbClr val="1E2761"/>
          </a:solidFill>
          <a:ln w="12700">
            <a:solidFill>
              <a:srgbClr val="CADCFC"/>
            </a:solidFill>
            <a:prstDash val="solid"/>
          </a:ln>
        </p:spPr>
      </p:sp>
      <p:sp>
        <p:nvSpPr>
          <p:cNvPr id="13" name="Text 10"/>
          <p:cNvSpPr/>
          <p:nvPr/>
        </p:nvSpPr>
        <p:spPr>
          <a:xfrm>
            <a:off x="7114032" y="4251960"/>
            <a:ext cx="3017520" cy="566928"/>
          </a:xfrm>
          <a:prstGeom prst="rect">
            <a:avLst/>
          </a:prstGeom>
          <a:noFill/>
          <a:ln/>
        </p:spPr>
        <p:txBody>
          <a:bodyPr wrap="square" lIns="0" tIns="0" rIns="0" bIns="0" rtlCol="0" anchor="ctr"/>
          <a:lstStyle/>
          <a:p>
            <a:pPr algn="ctr" indent="0" marL="0">
              <a:buNone/>
            </a:pPr>
            <a:r>
              <a:rPr lang="en-US" sz="1300" dirty="0">
                <a:solidFill>
                  <a:srgbClr val="FFFFFF"/>
                </a:solidFill>
                <a:latin typeface="Yu Gothic" pitchFamily="34" charset="0"/>
                <a:ea typeface="Yu Gothic" pitchFamily="34" charset="-122"/>
                <a:cs typeface="Yu Gothic" pitchFamily="34" charset="-120"/>
              </a:rPr>
              <a:t>AIが実行可能な業務プロセス</a:t>
            </a:r>
            <a:endParaRPr lang="en-US" sz="1300" dirty="0"/>
          </a:p>
        </p:txBody>
      </p:sp>
      <p:sp>
        <p:nvSpPr>
          <p:cNvPr id="14" name="Text 11"/>
          <p:cNvSpPr/>
          <p:nvPr/>
        </p:nvSpPr>
        <p:spPr>
          <a:xfrm>
            <a:off x="822960" y="6263640"/>
            <a:ext cx="8229600" cy="274320"/>
          </a:xfrm>
          <a:prstGeom prst="rect">
            <a:avLst/>
          </a:prstGeom>
          <a:noFill/>
          <a:ln/>
        </p:spPr>
        <p:txBody>
          <a:bodyPr wrap="square" lIns="0" tIns="0" rIns="0" bIns="0" rtlCol="0" anchor="ctr"/>
          <a:lstStyle/>
          <a:p>
            <a:pPr indent="0" marL="0">
              <a:buNone/>
            </a:pPr>
            <a:r>
              <a:rPr lang="en-US" sz="1050" dirty="0">
                <a:solidFill>
                  <a:srgbClr val="8FA3D9"/>
                </a:solidFill>
                <a:latin typeface="Yu Gothic" pitchFamily="34" charset="0"/>
                <a:ea typeface="Yu Gothic" pitchFamily="34" charset="-122"/>
                <a:cs typeface="Yu Gothic" pitchFamily="34" charset="-120"/>
              </a:rPr>
              <a:t>出典:業務プロセス最適化ツール 開発計画書 第2版(2026-07-16)より要約</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566928"/>
          </a:xfrm>
          <a:prstGeom prst="rect">
            <a:avLst/>
          </a:prstGeom>
          <a:noFill/>
          <a:ln/>
        </p:spPr>
        <p:txBody>
          <a:bodyPr wrap="square" lIns="0" tIns="0" rIns="0" bIns="0" rtlCol="0" anchor="ctr"/>
          <a:lstStyle/>
          <a:p>
            <a:pPr algn="l" indent="0" marL="0">
              <a:buNone/>
            </a:pPr>
            <a:r>
              <a:rPr lang="en-US" sz="2600" b="1" dirty="0">
                <a:solidFill>
                  <a:srgbClr val="1E2761"/>
                </a:solidFill>
                <a:latin typeface="Yu Gothic" pitchFamily="34" charset="0"/>
                <a:ea typeface="Yu Gothic" pitchFamily="34" charset="-122"/>
                <a:cs typeface="Yu Gothic" pitchFamily="34" charset="-120"/>
              </a:rPr>
              <a:t>エグゼクティブサマリー</a:t>
            </a:r>
            <a:endParaRPr lang="en-US" sz="2600" dirty="0"/>
          </a:p>
        </p:txBody>
      </p:sp>
      <p:sp>
        <p:nvSpPr>
          <p:cNvPr id="3" name="Shape 1"/>
          <p:cNvSpPr/>
          <p:nvPr/>
        </p:nvSpPr>
        <p:spPr>
          <a:xfrm>
            <a:off x="548640" y="1188720"/>
            <a:ext cx="11091672" cy="1371600"/>
          </a:xfrm>
          <a:prstGeom prst="roundRect">
            <a:avLst>
              <a:gd name="adj" fmla="val 5333"/>
            </a:avLst>
          </a:prstGeom>
          <a:solidFill>
            <a:srgbClr val="EEF3FB"/>
          </a:solidFill>
          <a:ln/>
        </p:spPr>
      </p:sp>
      <p:sp>
        <p:nvSpPr>
          <p:cNvPr id="4" name="Text 2"/>
          <p:cNvSpPr/>
          <p:nvPr/>
        </p:nvSpPr>
        <p:spPr>
          <a:xfrm>
            <a:off x="868680" y="1463040"/>
            <a:ext cx="914400" cy="822960"/>
          </a:xfrm>
          <a:prstGeom prst="rect">
            <a:avLst/>
          </a:prstGeom>
          <a:noFill/>
          <a:ln/>
        </p:spPr>
        <p:txBody>
          <a:bodyPr wrap="square" lIns="0" tIns="0" rIns="0" bIns="0" rtlCol="0" anchor="ctr"/>
          <a:lstStyle/>
          <a:p>
            <a:pPr indent="0" marL="0">
              <a:buNone/>
            </a:pPr>
            <a:r>
              <a:rPr lang="en-US" sz="4000" b="1" dirty="0">
                <a:solidFill>
                  <a:srgbClr val="CADCFC"/>
                </a:solidFill>
                <a:latin typeface="Arial" pitchFamily="34" charset="0"/>
                <a:ea typeface="Arial" pitchFamily="34" charset="-122"/>
                <a:cs typeface="Arial" pitchFamily="34" charset="-120"/>
              </a:rPr>
              <a:t>01</a:t>
            </a:r>
            <a:endParaRPr lang="en-US" sz="4000" dirty="0"/>
          </a:p>
        </p:txBody>
      </p:sp>
      <p:sp>
        <p:nvSpPr>
          <p:cNvPr id="5" name="Text 3"/>
          <p:cNvSpPr/>
          <p:nvPr/>
        </p:nvSpPr>
        <p:spPr>
          <a:xfrm>
            <a:off x="2011680" y="1353312"/>
            <a:ext cx="9052560" cy="384048"/>
          </a:xfrm>
          <a:prstGeom prst="rect">
            <a:avLst/>
          </a:prstGeom>
          <a:noFill/>
          <a:ln/>
        </p:spPr>
        <p:txBody>
          <a:bodyPr wrap="square" lIns="0" tIns="0" rIns="0" bIns="0" rtlCol="0" anchor="ctr"/>
          <a:lstStyle/>
          <a:p>
            <a:pPr indent="0" marL="0">
              <a:buNone/>
            </a:pPr>
            <a:r>
              <a:rPr lang="en-US" sz="1600" b="1" dirty="0">
                <a:solidFill>
                  <a:srgbClr val="1E2761"/>
                </a:solidFill>
                <a:latin typeface="Yu Gothic" pitchFamily="34" charset="0"/>
                <a:ea typeface="Yu Gothic" pitchFamily="34" charset="-122"/>
                <a:cs typeface="Yu Gothic" pitchFamily="34" charset="-120"/>
              </a:rPr>
              <a:t>何をつくるか</a:t>
            </a:r>
            <a:endParaRPr lang="en-US" sz="1600" dirty="0"/>
          </a:p>
        </p:txBody>
      </p:sp>
      <p:sp>
        <p:nvSpPr>
          <p:cNvPr id="6" name="Text 4"/>
          <p:cNvSpPr/>
          <p:nvPr/>
        </p:nvSpPr>
        <p:spPr>
          <a:xfrm>
            <a:off x="2011680" y="1737360"/>
            <a:ext cx="9281160" cy="749808"/>
          </a:xfrm>
          <a:prstGeom prst="rect">
            <a:avLst/>
          </a:prstGeom>
          <a:noFill/>
          <a:ln/>
        </p:spPr>
        <p:txBody>
          <a:bodyPr wrap="square" lIns="0" tIns="0" rIns="0" bIns="0" rtlCol="0" anchor="t"/>
          <a:lstStyle/>
          <a:p>
            <a:pPr indent="0" marL="0">
              <a:lnSpc>
                <a:spcPct val="118000"/>
              </a:lnSpc>
              <a:buNone/>
            </a:pPr>
            <a:r>
              <a:rPr lang="en-US" sz="1200" dirty="0">
                <a:solidFill>
                  <a:srgbClr val="1F2540"/>
                </a:solidFill>
                <a:latin typeface="Yu Gothic" pitchFamily="34" charset="0"/>
                <a:ea typeface="Yu Gothic" pitchFamily="34" charset="-122"/>
                <a:cs typeface="Yu Gothic" pitchFamily="34" charset="-120"/>
              </a:rPr>
              <a:t>現場がExcelテンプレートに業務手順を書き出すだけで、AIエージェントが実行できる業務プロセス一式(実行手順・実行役/検証役・統制ルール)を自動生成する変換ツール。</a:t>
            </a:r>
            <a:endParaRPr lang="en-US" sz="1200" dirty="0"/>
          </a:p>
        </p:txBody>
      </p:sp>
      <p:sp>
        <p:nvSpPr>
          <p:cNvPr id="7" name="Shape 5"/>
          <p:cNvSpPr/>
          <p:nvPr/>
        </p:nvSpPr>
        <p:spPr>
          <a:xfrm>
            <a:off x="548640" y="2761488"/>
            <a:ext cx="11091672" cy="1371600"/>
          </a:xfrm>
          <a:prstGeom prst="roundRect">
            <a:avLst>
              <a:gd name="adj" fmla="val 5333"/>
            </a:avLst>
          </a:prstGeom>
          <a:solidFill>
            <a:srgbClr val="EEF3FB"/>
          </a:solidFill>
          <a:ln/>
        </p:spPr>
      </p:sp>
      <p:sp>
        <p:nvSpPr>
          <p:cNvPr id="8" name="Text 6"/>
          <p:cNvSpPr/>
          <p:nvPr/>
        </p:nvSpPr>
        <p:spPr>
          <a:xfrm>
            <a:off x="868680" y="3035808"/>
            <a:ext cx="914400" cy="822960"/>
          </a:xfrm>
          <a:prstGeom prst="rect">
            <a:avLst/>
          </a:prstGeom>
          <a:noFill/>
          <a:ln/>
        </p:spPr>
        <p:txBody>
          <a:bodyPr wrap="square" lIns="0" tIns="0" rIns="0" bIns="0" rtlCol="0" anchor="ctr"/>
          <a:lstStyle/>
          <a:p>
            <a:pPr indent="0" marL="0">
              <a:buNone/>
            </a:pPr>
            <a:r>
              <a:rPr lang="en-US" sz="4000" b="1" dirty="0">
                <a:solidFill>
                  <a:srgbClr val="CADCFC"/>
                </a:solidFill>
                <a:latin typeface="Arial" pitchFamily="34" charset="0"/>
                <a:ea typeface="Arial" pitchFamily="34" charset="-122"/>
                <a:cs typeface="Arial" pitchFamily="34" charset="-120"/>
              </a:rPr>
              <a:t>02</a:t>
            </a:r>
            <a:endParaRPr lang="en-US" sz="4000" dirty="0"/>
          </a:p>
        </p:txBody>
      </p:sp>
      <p:sp>
        <p:nvSpPr>
          <p:cNvPr id="9" name="Text 7"/>
          <p:cNvSpPr/>
          <p:nvPr/>
        </p:nvSpPr>
        <p:spPr>
          <a:xfrm>
            <a:off x="2011680" y="2926080"/>
            <a:ext cx="9052560" cy="384048"/>
          </a:xfrm>
          <a:prstGeom prst="rect">
            <a:avLst/>
          </a:prstGeom>
          <a:noFill/>
          <a:ln/>
        </p:spPr>
        <p:txBody>
          <a:bodyPr wrap="square" lIns="0" tIns="0" rIns="0" bIns="0" rtlCol="0" anchor="ctr"/>
          <a:lstStyle/>
          <a:p>
            <a:pPr indent="0" marL="0">
              <a:buNone/>
            </a:pPr>
            <a:r>
              <a:rPr lang="en-US" sz="1600" b="1" dirty="0">
                <a:solidFill>
                  <a:srgbClr val="1E2761"/>
                </a:solidFill>
                <a:latin typeface="Yu Gothic" pitchFamily="34" charset="0"/>
                <a:ea typeface="Yu Gothic" pitchFamily="34" charset="-122"/>
                <a:cs typeface="Yu Gothic" pitchFamily="34" charset="-120"/>
              </a:rPr>
              <a:t>なぜ価値があるか</a:t>
            </a:r>
            <a:endParaRPr lang="en-US" sz="1600" dirty="0"/>
          </a:p>
        </p:txBody>
      </p:sp>
      <p:sp>
        <p:nvSpPr>
          <p:cNvPr id="10" name="Text 8"/>
          <p:cNvSpPr/>
          <p:nvPr/>
        </p:nvSpPr>
        <p:spPr>
          <a:xfrm>
            <a:off x="2011680" y="3310128"/>
            <a:ext cx="9281160" cy="749808"/>
          </a:xfrm>
          <a:prstGeom prst="rect">
            <a:avLst/>
          </a:prstGeom>
          <a:noFill/>
          <a:ln/>
        </p:spPr>
        <p:txBody>
          <a:bodyPr wrap="square" lIns="0" tIns="0" rIns="0" bIns="0" rtlCol="0" anchor="t"/>
          <a:lstStyle/>
          <a:p>
            <a:pPr indent="0" marL="0">
              <a:lnSpc>
                <a:spcPct val="118000"/>
              </a:lnSpc>
              <a:buNone/>
            </a:pPr>
            <a:r>
              <a:rPr lang="en-US" sz="1200" dirty="0">
                <a:solidFill>
                  <a:srgbClr val="1F2540"/>
                </a:solidFill>
                <a:latin typeface="Yu Gothic" pitchFamily="34" charset="0"/>
                <a:ea typeface="Yu Gothic" pitchFamily="34" charset="-122"/>
                <a:cs typeface="Yu Gothic" pitchFamily="34" charset="-120"/>
              </a:rPr>
              <a:t>価値は2つ。① 暗黙知の形式知化 ― 属人化した業務を「書き切る」ためのExcel化方法論ごと提供。② AI主体への再設計 ― 手順の写しではなく、作業はAIが担い、人は判断・承認に集中する業務へ最適化。</a:t>
            </a:r>
            <a:endParaRPr lang="en-US" sz="1200" dirty="0"/>
          </a:p>
        </p:txBody>
      </p:sp>
      <p:sp>
        <p:nvSpPr>
          <p:cNvPr id="11" name="Shape 9"/>
          <p:cNvSpPr/>
          <p:nvPr/>
        </p:nvSpPr>
        <p:spPr>
          <a:xfrm>
            <a:off x="548640" y="4334256"/>
            <a:ext cx="11091672" cy="1371600"/>
          </a:xfrm>
          <a:prstGeom prst="roundRect">
            <a:avLst>
              <a:gd name="adj" fmla="val 5333"/>
            </a:avLst>
          </a:prstGeom>
          <a:solidFill>
            <a:srgbClr val="EEF3FB"/>
          </a:solidFill>
          <a:ln/>
        </p:spPr>
      </p:sp>
      <p:sp>
        <p:nvSpPr>
          <p:cNvPr id="12" name="Text 10"/>
          <p:cNvSpPr/>
          <p:nvPr/>
        </p:nvSpPr>
        <p:spPr>
          <a:xfrm>
            <a:off x="868680" y="4608576"/>
            <a:ext cx="914400" cy="822960"/>
          </a:xfrm>
          <a:prstGeom prst="rect">
            <a:avLst/>
          </a:prstGeom>
          <a:noFill/>
          <a:ln/>
        </p:spPr>
        <p:txBody>
          <a:bodyPr wrap="square" lIns="0" tIns="0" rIns="0" bIns="0" rtlCol="0" anchor="ctr"/>
          <a:lstStyle/>
          <a:p>
            <a:pPr indent="0" marL="0">
              <a:buNone/>
            </a:pPr>
            <a:r>
              <a:rPr lang="en-US" sz="4000" b="1" dirty="0">
                <a:solidFill>
                  <a:srgbClr val="CADCFC"/>
                </a:solidFill>
                <a:latin typeface="Arial" pitchFamily="34" charset="0"/>
                <a:ea typeface="Arial" pitchFamily="34" charset="-122"/>
                <a:cs typeface="Arial" pitchFamily="34" charset="-120"/>
              </a:rPr>
              <a:t>03</a:t>
            </a:r>
            <a:endParaRPr lang="en-US" sz="4000" dirty="0"/>
          </a:p>
        </p:txBody>
      </p:sp>
      <p:sp>
        <p:nvSpPr>
          <p:cNvPr id="13" name="Text 11"/>
          <p:cNvSpPr/>
          <p:nvPr/>
        </p:nvSpPr>
        <p:spPr>
          <a:xfrm>
            <a:off x="2011680" y="4498848"/>
            <a:ext cx="9052560" cy="384048"/>
          </a:xfrm>
          <a:prstGeom prst="rect">
            <a:avLst/>
          </a:prstGeom>
          <a:noFill/>
          <a:ln/>
        </p:spPr>
        <p:txBody>
          <a:bodyPr wrap="square" lIns="0" tIns="0" rIns="0" bIns="0" rtlCol="0" anchor="ctr"/>
          <a:lstStyle/>
          <a:p>
            <a:pPr indent="0" marL="0">
              <a:buNone/>
            </a:pPr>
            <a:r>
              <a:rPr lang="en-US" sz="1600" b="1" dirty="0">
                <a:solidFill>
                  <a:srgbClr val="1E2761"/>
                </a:solidFill>
                <a:latin typeface="Yu Gothic" pitchFamily="34" charset="0"/>
                <a:ea typeface="Yu Gothic" pitchFamily="34" charset="-122"/>
                <a:cs typeface="Yu Gothic" pitchFamily="34" charset="-120"/>
              </a:rPr>
              <a:t>ご判断いただきたいこと</a:t>
            </a:r>
            <a:endParaRPr lang="en-US" sz="1600" dirty="0"/>
          </a:p>
        </p:txBody>
      </p:sp>
      <p:sp>
        <p:nvSpPr>
          <p:cNvPr id="14" name="Text 12"/>
          <p:cNvSpPr/>
          <p:nvPr/>
        </p:nvSpPr>
        <p:spPr>
          <a:xfrm>
            <a:off x="2011680" y="4882896"/>
            <a:ext cx="9281160" cy="749808"/>
          </a:xfrm>
          <a:prstGeom prst="rect">
            <a:avLst/>
          </a:prstGeom>
          <a:noFill/>
          <a:ln/>
        </p:spPr>
        <p:txBody>
          <a:bodyPr wrap="square" lIns="0" tIns="0" rIns="0" bIns="0" rtlCol="0" anchor="t"/>
          <a:lstStyle/>
          <a:p>
            <a:pPr indent="0" marL="0">
              <a:lnSpc>
                <a:spcPct val="118000"/>
              </a:lnSpc>
              <a:buNone/>
            </a:pPr>
            <a:r>
              <a:rPr lang="en-US" sz="1200" dirty="0">
                <a:solidFill>
                  <a:srgbClr val="1F2540"/>
                </a:solidFill>
                <a:latin typeface="Yu Gothic" pitchFamily="34" charset="0"/>
                <a:ea typeface="Yu Gothic" pitchFamily="34" charset="-122"/>
                <a:cs typeface="Yu Gothic" pitchFamily="34" charset="-120"/>
              </a:rPr>
              <a:t>「どこまでAIに任せるか」の基準(承認・判断の自動化範囲)の設定と、先行適用する業務の選定。これは技術ではなく、組織の意思決定として必要。</a:t>
            </a:r>
            <a:endParaRPr lang="en-US" sz="1200" dirty="0"/>
          </a:p>
        </p:txBody>
      </p:sp>
      <p:sp>
        <p:nvSpPr>
          <p:cNvPr id="15" name="Text 13"/>
          <p:cNvSpPr/>
          <p:nvPr/>
        </p:nvSpPr>
        <p:spPr>
          <a:xfrm>
            <a:off x="548640" y="6053328"/>
            <a:ext cx="11091672" cy="411480"/>
          </a:xfrm>
          <a:prstGeom prst="rect">
            <a:avLst/>
          </a:prstGeom>
          <a:noFill/>
          <a:ln/>
        </p:spPr>
        <p:txBody>
          <a:bodyPr wrap="square" lIns="0" tIns="0" rIns="0" bIns="0" rtlCol="0" anchor="ctr"/>
          <a:lstStyle/>
          <a:p>
            <a:pPr indent="0" marL="0">
              <a:buNone/>
            </a:pPr>
            <a:r>
              <a:rPr lang="en-US" sz="1150" b="1" dirty="0">
                <a:solidFill>
                  <a:srgbClr val="1E2761"/>
                </a:solidFill>
                <a:latin typeface="Yu Gothic" pitchFamily="34" charset="0"/>
                <a:ea typeface="Yu Gothic" pitchFamily="34" charset="-122"/>
                <a:cs typeface="Yu Gothic" pitchFamily="34" charset="-120"/>
              </a:rPr>
              <a:t>本ツールの範囲: </a:t>
            </a:r>
            <a:pPr indent="0" marL="0">
              <a:buNone/>
            </a:pPr>
            <a:r>
              <a:rPr lang="en-US" sz="1150" dirty="0">
                <a:solidFill>
                  <a:srgbClr val="5B6478"/>
                </a:solidFill>
                <a:latin typeface="Yu Gothic" pitchFamily="34" charset="0"/>
                <a:ea typeface="Yu Gothic" pitchFamily="34" charset="-122"/>
                <a:cs typeface="Yu Gothic" pitchFamily="34" charset="-120"/>
              </a:rPr>
              <a:t>業務の変換・生成物の出力まで。生成物を実際に実行するAIエージェント基盤(PRODUCT 02)は別プロダクトとして開発。</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566928"/>
          </a:xfrm>
          <a:prstGeom prst="rect">
            <a:avLst/>
          </a:prstGeom>
          <a:noFill/>
          <a:ln/>
        </p:spPr>
        <p:txBody>
          <a:bodyPr wrap="square" lIns="0" tIns="0" rIns="0" bIns="0" rtlCol="0" anchor="ctr"/>
          <a:lstStyle/>
          <a:p>
            <a:pPr algn="l" indent="0" marL="0">
              <a:buNone/>
            </a:pPr>
            <a:r>
              <a:rPr lang="en-US" sz="2600" b="1" dirty="0">
                <a:solidFill>
                  <a:srgbClr val="1E2761"/>
                </a:solidFill>
                <a:latin typeface="Yu Gothic" pitchFamily="34" charset="0"/>
                <a:ea typeface="Yu Gothic" pitchFamily="34" charset="-122"/>
                <a:cs typeface="Yu Gothic" pitchFamily="34" charset="-120"/>
              </a:rPr>
              <a:t>背景:なぜ、業務にAIが入っていかないのか</a:t>
            </a:r>
            <a:endParaRPr lang="en-US" sz="2600" dirty="0"/>
          </a:p>
        </p:txBody>
      </p:sp>
      <p:sp>
        <p:nvSpPr>
          <p:cNvPr id="3" name="Shape 1"/>
          <p:cNvSpPr/>
          <p:nvPr/>
        </p:nvSpPr>
        <p:spPr>
          <a:xfrm>
            <a:off x="548640" y="1463040"/>
            <a:ext cx="658368" cy="658368"/>
          </a:xfrm>
          <a:prstGeom prst="ellipse">
            <a:avLst/>
          </a:prstGeom>
          <a:solidFill>
            <a:srgbClr val="EEF3FB"/>
          </a:solidFill>
          <a:ln/>
        </p:spPr>
      </p:sp>
      <p:pic>
        <p:nvPicPr>
          <p:cNvPr id="4" name="Image 0" descr="/home/claude/bpo_summary/icons/brain_navy.png">    </p:cNvPr>
          <p:cNvPicPr>
            <a:picLocks noChangeAspect="1"/>
          </p:cNvPicPr>
          <p:nvPr/>
        </p:nvPicPr>
        <p:blipFill>
          <a:blip r:embed="rId1"/>
          <a:stretch>
            <a:fillRect/>
          </a:stretch>
        </p:blipFill>
        <p:spPr>
          <a:xfrm>
            <a:off x="706648" y="1621048"/>
            <a:ext cx="342351" cy="342351"/>
          </a:xfrm>
          <a:prstGeom prst="rect">
            <a:avLst/>
          </a:prstGeom>
        </p:spPr>
      </p:pic>
      <p:sp>
        <p:nvSpPr>
          <p:cNvPr id="5" name="Text 2"/>
          <p:cNvSpPr/>
          <p:nvPr/>
        </p:nvSpPr>
        <p:spPr>
          <a:xfrm>
            <a:off x="1417320" y="1417320"/>
            <a:ext cx="5852160" cy="365760"/>
          </a:xfrm>
          <a:prstGeom prst="rect">
            <a:avLst/>
          </a:prstGeom>
          <a:noFill/>
          <a:ln/>
        </p:spPr>
        <p:txBody>
          <a:bodyPr wrap="square" lIns="0" tIns="0" rIns="0" bIns="0" rtlCol="0" anchor="ctr"/>
          <a:lstStyle/>
          <a:p>
            <a:pPr indent="0" marL="0">
              <a:buNone/>
            </a:pPr>
            <a:r>
              <a:rPr lang="en-US" sz="1550" b="1" dirty="0">
                <a:solidFill>
                  <a:srgbClr val="1F2540"/>
                </a:solidFill>
                <a:latin typeface="Yu Gothic" pitchFamily="34" charset="0"/>
                <a:ea typeface="Yu Gothic" pitchFamily="34" charset="-122"/>
                <a:cs typeface="Yu Gothic" pitchFamily="34" charset="-120"/>
              </a:rPr>
              <a:t>業務が「人」に貼り付いている</a:t>
            </a:r>
            <a:endParaRPr lang="en-US" sz="1550" dirty="0"/>
          </a:p>
        </p:txBody>
      </p:sp>
      <p:sp>
        <p:nvSpPr>
          <p:cNvPr id="6" name="Text 3"/>
          <p:cNvSpPr/>
          <p:nvPr/>
        </p:nvSpPr>
        <p:spPr>
          <a:xfrm>
            <a:off x="1417320" y="1801368"/>
            <a:ext cx="5852160" cy="960120"/>
          </a:xfrm>
          <a:prstGeom prst="rect">
            <a:avLst/>
          </a:prstGeom>
          <a:noFill/>
          <a:ln/>
        </p:spPr>
        <p:txBody>
          <a:bodyPr wrap="square" lIns="0" tIns="0" rIns="0" bIns="0" rtlCol="0" anchor="t"/>
          <a:lstStyle/>
          <a:p>
            <a:pPr indent="0" marL="0">
              <a:lnSpc>
                <a:spcPct val="120000"/>
              </a:lnSpc>
              <a:buNone/>
            </a:pPr>
            <a:r>
              <a:rPr lang="en-US" sz="1150" dirty="0">
                <a:solidFill>
                  <a:srgbClr val="5B6478"/>
                </a:solidFill>
                <a:latin typeface="Yu Gothic" pitchFamily="34" charset="0"/>
                <a:ea typeface="Yu Gothic" pitchFamily="34" charset="-122"/>
                <a:cs typeface="Yu Gothic" pitchFamily="34" charset="-120"/>
              </a:rPr>
              <a:t>手順や判断基準がベテランの頭の中にあり、文書として残っていない。異動・退職とともに、業務の知見そのものが失われていく。</a:t>
            </a:r>
            <a:endParaRPr lang="en-US" sz="1150" dirty="0"/>
          </a:p>
        </p:txBody>
      </p:sp>
      <p:sp>
        <p:nvSpPr>
          <p:cNvPr id="7" name="Shape 4"/>
          <p:cNvSpPr/>
          <p:nvPr/>
        </p:nvSpPr>
        <p:spPr>
          <a:xfrm>
            <a:off x="548640" y="3200400"/>
            <a:ext cx="658368" cy="658368"/>
          </a:xfrm>
          <a:prstGeom prst="ellipse">
            <a:avLst/>
          </a:prstGeom>
          <a:solidFill>
            <a:srgbClr val="EEF3FB"/>
          </a:solidFill>
          <a:ln/>
        </p:spPr>
      </p:sp>
      <p:pic>
        <p:nvPicPr>
          <p:cNvPr id="8" name="Image 1" descr="/home/claude/bpo_summary/icons/filequestion_navy.png">    </p:cNvPr>
          <p:cNvPicPr>
            <a:picLocks noChangeAspect="1"/>
          </p:cNvPicPr>
          <p:nvPr/>
        </p:nvPicPr>
        <p:blipFill>
          <a:blip r:embed="rId2"/>
          <a:stretch>
            <a:fillRect/>
          </a:stretch>
        </p:blipFill>
        <p:spPr>
          <a:xfrm>
            <a:off x="706648" y="3358408"/>
            <a:ext cx="342351" cy="342351"/>
          </a:xfrm>
          <a:prstGeom prst="rect">
            <a:avLst/>
          </a:prstGeom>
        </p:spPr>
      </p:pic>
      <p:sp>
        <p:nvSpPr>
          <p:cNvPr id="9" name="Text 5"/>
          <p:cNvSpPr/>
          <p:nvPr/>
        </p:nvSpPr>
        <p:spPr>
          <a:xfrm>
            <a:off x="1417320" y="3154680"/>
            <a:ext cx="5852160" cy="365760"/>
          </a:xfrm>
          <a:prstGeom prst="rect">
            <a:avLst/>
          </a:prstGeom>
          <a:noFill/>
          <a:ln/>
        </p:spPr>
        <p:txBody>
          <a:bodyPr wrap="square" lIns="0" tIns="0" rIns="0" bIns="0" rtlCol="0" anchor="ctr"/>
          <a:lstStyle/>
          <a:p>
            <a:pPr indent="0" marL="0">
              <a:buNone/>
            </a:pPr>
            <a:r>
              <a:rPr lang="en-US" sz="1550" b="1" dirty="0">
                <a:solidFill>
                  <a:srgbClr val="1F2540"/>
                </a:solidFill>
                <a:latin typeface="Yu Gothic" pitchFamily="34" charset="0"/>
                <a:ea typeface="Yu Gothic" pitchFamily="34" charset="-122"/>
                <a:cs typeface="Yu Gothic" pitchFamily="34" charset="-120"/>
              </a:rPr>
              <a:t>手順書があっても、AIは読めない</a:t>
            </a:r>
            <a:endParaRPr lang="en-US" sz="1550" dirty="0"/>
          </a:p>
        </p:txBody>
      </p:sp>
      <p:sp>
        <p:nvSpPr>
          <p:cNvPr id="10" name="Text 6"/>
          <p:cNvSpPr/>
          <p:nvPr/>
        </p:nvSpPr>
        <p:spPr>
          <a:xfrm>
            <a:off x="1417320" y="3538728"/>
            <a:ext cx="5852160" cy="960120"/>
          </a:xfrm>
          <a:prstGeom prst="rect">
            <a:avLst/>
          </a:prstGeom>
          <a:noFill/>
          <a:ln/>
        </p:spPr>
        <p:txBody>
          <a:bodyPr wrap="square" lIns="0" tIns="0" rIns="0" bIns="0" rtlCol="0" anchor="t"/>
          <a:lstStyle/>
          <a:p>
            <a:pPr indent="0" marL="0">
              <a:lnSpc>
                <a:spcPct val="120000"/>
              </a:lnSpc>
              <a:buNone/>
            </a:pPr>
            <a:r>
              <a:rPr lang="en-US" sz="1150" dirty="0">
                <a:solidFill>
                  <a:srgbClr val="5B6478"/>
                </a:solidFill>
                <a:latin typeface="Yu Gothic" pitchFamily="34" charset="0"/>
                <a:ea typeface="Yu Gothic" pitchFamily="34" charset="-122"/>
                <a:cs typeface="Yu Gothic" pitchFamily="34" charset="-120"/>
              </a:rPr>
              <a:t>人間向けの文書は「いつも通り」「適宜対応」といった曖昧さと暗黙の前提を含み、AIに直接実行させられる形式になっていない。</a:t>
            </a:r>
            <a:endParaRPr lang="en-US" sz="1150" dirty="0"/>
          </a:p>
        </p:txBody>
      </p:sp>
      <p:sp>
        <p:nvSpPr>
          <p:cNvPr id="11" name="Shape 7"/>
          <p:cNvSpPr/>
          <p:nvPr/>
        </p:nvSpPr>
        <p:spPr>
          <a:xfrm>
            <a:off x="548640" y="4937760"/>
            <a:ext cx="658368" cy="658368"/>
          </a:xfrm>
          <a:prstGeom prst="ellipse">
            <a:avLst/>
          </a:prstGeom>
          <a:solidFill>
            <a:srgbClr val="EEF3FB"/>
          </a:solidFill>
          <a:ln/>
        </p:spPr>
      </p:sp>
      <p:pic>
        <p:nvPicPr>
          <p:cNvPr id="12" name="Image 2" descr="/home/claude/bpo_summary/icons/shieldalert_navy.png">    </p:cNvPr>
          <p:cNvPicPr>
            <a:picLocks noChangeAspect="1"/>
          </p:cNvPicPr>
          <p:nvPr/>
        </p:nvPicPr>
        <p:blipFill>
          <a:blip r:embed="rId3"/>
          <a:stretch>
            <a:fillRect/>
          </a:stretch>
        </p:blipFill>
        <p:spPr>
          <a:xfrm>
            <a:off x="706648" y="5095768"/>
            <a:ext cx="342351" cy="342351"/>
          </a:xfrm>
          <a:prstGeom prst="rect">
            <a:avLst/>
          </a:prstGeom>
        </p:spPr>
      </p:pic>
      <p:sp>
        <p:nvSpPr>
          <p:cNvPr id="13" name="Text 8"/>
          <p:cNvSpPr/>
          <p:nvPr/>
        </p:nvSpPr>
        <p:spPr>
          <a:xfrm>
            <a:off x="1417320" y="4892040"/>
            <a:ext cx="5852160" cy="365760"/>
          </a:xfrm>
          <a:prstGeom prst="rect">
            <a:avLst/>
          </a:prstGeom>
          <a:noFill/>
          <a:ln/>
        </p:spPr>
        <p:txBody>
          <a:bodyPr wrap="square" lIns="0" tIns="0" rIns="0" bIns="0" rtlCol="0" anchor="ctr"/>
          <a:lstStyle/>
          <a:p>
            <a:pPr indent="0" marL="0">
              <a:buNone/>
            </a:pPr>
            <a:r>
              <a:rPr lang="en-US" sz="1550" b="1" dirty="0">
                <a:solidFill>
                  <a:srgbClr val="1F2540"/>
                </a:solidFill>
                <a:latin typeface="Yu Gothic" pitchFamily="34" charset="0"/>
                <a:ea typeface="Yu Gothic" pitchFamily="34" charset="-122"/>
                <a:cs typeface="Yu Gothic" pitchFamily="34" charset="-120"/>
              </a:rPr>
              <a:t>場当たり的なAI化は、統制が崩れる</a:t>
            </a:r>
            <a:endParaRPr lang="en-US" sz="1550" dirty="0"/>
          </a:p>
        </p:txBody>
      </p:sp>
      <p:sp>
        <p:nvSpPr>
          <p:cNvPr id="14" name="Text 9"/>
          <p:cNvSpPr/>
          <p:nvPr/>
        </p:nvSpPr>
        <p:spPr>
          <a:xfrm>
            <a:off x="1417320" y="5276088"/>
            <a:ext cx="5852160" cy="960120"/>
          </a:xfrm>
          <a:prstGeom prst="rect">
            <a:avLst/>
          </a:prstGeom>
          <a:noFill/>
          <a:ln/>
        </p:spPr>
        <p:txBody>
          <a:bodyPr wrap="square" lIns="0" tIns="0" rIns="0" bIns="0" rtlCol="0" anchor="t"/>
          <a:lstStyle/>
          <a:p>
            <a:pPr indent="0" marL="0">
              <a:lnSpc>
                <a:spcPct val="120000"/>
              </a:lnSpc>
              <a:buNone/>
            </a:pPr>
            <a:r>
              <a:rPr lang="en-US" sz="1150" dirty="0">
                <a:solidFill>
                  <a:srgbClr val="5B6478"/>
                </a:solidFill>
                <a:latin typeface="Yu Gothic" pitchFamily="34" charset="0"/>
                <a:ea typeface="Yu Gothic" pitchFamily="34" charset="-122"/>
                <a:cs typeface="Yu Gothic" pitchFamily="34" charset="-120"/>
              </a:rPr>
              <a:t>部署ごとにバラバラにAIを使うと、権限管理・操作記録・品質保証を組織として担保できず、監査に耐えられない。</a:t>
            </a:r>
            <a:endParaRPr lang="en-US" sz="1150" dirty="0"/>
          </a:p>
        </p:txBody>
      </p:sp>
      <p:sp>
        <p:nvSpPr>
          <p:cNvPr id="15" name="Shape 10"/>
          <p:cNvSpPr/>
          <p:nvPr/>
        </p:nvSpPr>
        <p:spPr>
          <a:xfrm>
            <a:off x="7772400" y="1325880"/>
            <a:ext cx="3867912" cy="4800600"/>
          </a:xfrm>
          <a:prstGeom prst="roundRect">
            <a:avLst>
              <a:gd name="adj" fmla="val 2364"/>
            </a:avLst>
          </a:prstGeom>
          <a:solidFill>
            <a:srgbClr val="1E2761"/>
          </a:solidFill>
          <a:ln/>
        </p:spPr>
      </p:sp>
      <p:sp>
        <p:nvSpPr>
          <p:cNvPr id="16" name="Text 11"/>
          <p:cNvSpPr/>
          <p:nvPr/>
        </p:nvSpPr>
        <p:spPr>
          <a:xfrm>
            <a:off x="8138160" y="1783080"/>
            <a:ext cx="3200400" cy="640080"/>
          </a:xfrm>
          <a:prstGeom prst="rect">
            <a:avLst/>
          </a:prstGeom>
          <a:noFill/>
          <a:ln/>
        </p:spPr>
        <p:txBody>
          <a:bodyPr wrap="square" lIns="0" tIns="0" rIns="0" bIns="0" rtlCol="0" anchor="ctr"/>
          <a:lstStyle/>
          <a:p>
            <a:pPr indent="0" marL="0">
              <a:buNone/>
            </a:pPr>
            <a:r>
              <a:rPr lang="en-US" sz="1300" dirty="0">
                <a:solidFill>
                  <a:srgbClr val="CADCFC"/>
                </a:solidFill>
                <a:latin typeface="Yu Gothic" pitchFamily="34" charset="0"/>
                <a:ea typeface="Yu Gothic" pitchFamily="34" charset="-122"/>
                <a:cs typeface="Yu Gothic" pitchFamily="34" charset="-120"/>
              </a:rPr>
              <a:t>必要なのは、個々のAI活用ではなく</a:t>
            </a:r>
            <a:endParaRPr lang="en-US" sz="1300" dirty="0"/>
          </a:p>
        </p:txBody>
      </p:sp>
      <p:sp>
        <p:nvSpPr>
          <p:cNvPr id="17" name="Text 12"/>
          <p:cNvSpPr/>
          <p:nvPr/>
        </p:nvSpPr>
        <p:spPr>
          <a:xfrm>
            <a:off x="8138160" y="2468880"/>
            <a:ext cx="3200400" cy="2011680"/>
          </a:xfrm>
          <a:prstGeom prst="rect">
            <a:avLst/>
          </a:prstGeom>
          <a:noFill/>
          <a:ln/>
        </p:spPr>
        <p:txBody>
          <a:bodyPr wrap="square" lIns="0" tIns="0" rIns="0" bIns="0" rtlCol="0" anchor="ctr"/>
          <a:lstStyle/>
          <a:p>
            <a:pPr indent="0" marL="0">
              <a:lnSpc>
                <a:spcPct val="130000"/>
              </a:lnSpc>
              <a:buNone/>
            </a:pPr>
            <a:r>
              <a:rPr lang="en-US" sz="1900" b="1" dirty="0">
                <a:solidFill>
                  <a:srgbClr val="FFFFFF"/>
                </a:solidFill>
                <a:latin typeface="Yu Gothic" pitchFamily="34" charset="0"/>
                <a:ea typeface="Yu Gothic" pitchFamily="34" charset="-122"/>
                <a:cs typeface="Yu Gothic" pitchFamily="34" charset="-120"/>
              </a:rPr>
              <a:t>業務を「AIが読み、</a:t>
            </a:r>
            <a:endParaRPr lang="en-US" sz="1900" dirty="0"/>
          </a:p>
          <a:p>
            <a:pPr indent="0" marL="0">
              <a:lnSpc>
                <a:spcPct val="130000"/>
              </a:lnSpc>
              <a:buNone/>
            </a:pPr>
            <a:r>
              <a:rPr lang="en-US" sz="1900" b="1" dirty="0">
                <a:solidFill>
                  <a:srgbClr val="FFFFFF"/>
                </a:solidFill>
                <a:latin typeface="Yu Gothic" pitchFamily="34" charset="0"/>
                <a:ea typeface="Yu Gothic" pitchFamily="34" charset="-122"/>
                <a:cs typeface="Yu Gothic" pitchFamily="34" charset="-120"/>
              </a:rPr>
              <a:t>実行できる形式」へ</a:t>
            </a:r>
            <a:endParaRPr lang="en-US" sz="1900" dirty="0"/>
          </a:p>
          <a:p>
            <a:pPr indent="0" marL="0">
              <a:lnSpc>
                <a:spcPct val="130000"/>
              </a:lnSpc>
              <a:buNone/>
            </a:pPr>
            <a:r>
              <a:rPr lang="en-US" sz="1900" b="1" dirty="0">
                <a:solidFill>
                  <a:srgbClr val="FFFFFF"/>
                </a:solidFill>
                <a:latin typeface="Yu Gothic" pitchFamily="34" charset="0"/>
                <a:ea typeface="Yu Gothic" pitchFamily="34" charset="-122"/>
                <a:cs typeface="Yu Gothic" pitchFamily="34" charset="-120"/>
              </a:rPr>
              <a:t>変換する共通の仕組み</a:t>
            </a:r>
            <a:endParaRPr lang="en-US" sz="1900" dirty="0"/>
          </a:p>
        </p:txBody>
      </p:sp>
      <p:sp>
        <p:nvSpPr>
          <p:cNvPr id="18" name="Text 13"/>
          <p:cNvSpPr/>
          <p:nvPr/>
        </p:nvSpPr>
        <p:spPr>
          <a:xfrm>
            <a:off x="8138160" y="5120640"/>
            <a:ext cx="3200400" cy="548640"/>
          </a:xfrm>
          <a:prstGeom prst="rect">
            <a:avLst/>
          </a:prstGeom>
          <a:noFill/>
          <a:ln/>
        </p:spPr>
        <p:txBody>
          <a:bodyPr wrap="square" lIns="0" tIns="0" rIns="0" bIns="0" rtlCol="0" anchor="ctr"/>
          <a:lstStyle/>
          <a:p>
            <a:pPr indent="0" marL="0">
              <a:buNone/>
            </a:pPr>
            <a:r>
              <a:rPr lang="en-US" sz="1250" dirty="0">
                <a:solidFill>
                  <a:srgbClr val="CADCFC"/>
                </a:solidFill>
                <a:latin typeface="Yu Gothic" pitchFamily="34" charset="0"/>
                <a:ea typeface="Yu Gothic" pitchFamily="34" charset="-122"/>
                <a:cs typeface="Yu Gothic" pitchFamily="34" charset="-120"/>
              </a:rPr>
              <a:t>それが本ツール(BPO)の役割です。</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566928"/>
          </a:xfrm>
          <a:prstGeom prst="rect">
            <a:avLst/>
          </a:prstGeom>
          <a:noFill/>
          <a:ln/>
        </p:spPr>
        <p:txBody>
          <a:bodyPr wrap="square" lIns="0" tIns="0" rIns="0" bIns="0" rtlCol="0" anchor="ctr"/>
          <a:lstStyle/>
          <a:p>
            <a:pPr algn="l" indent="0" marL="0">
              <a:buNone/>
            </a:pPr>
            <a:r>
              <a:rPr lang="en-US" sz="2600" b="1" dirty="0">
                <a:solidFill>
                  <a:srgbClr val="1E2761"/>
                </a:solidFill>
                <a:latin typeface="Yu Gothic" pitchFamily="34" charset="0"/>
                <a:ea typeface="Yu Gothic" pitchFamily="34" charset="-122"/>
                <a:cs typeface="Yu Gothic" pitchFamily="34" charset="-120"/>
              </a:rPr>
              <a:t>全体像:Excel 1枚から、AI実行可能な業務プロセスへ</a:t>
            </a:r>
            <a:endParaRPr lang="en-US" sz="2600" dirty="0"/>
          </a:p>
        </p:txBody>
      </p:sp>
      <p:sp>
        <p:nvSpPr>
          <p:cNvPr id="3" name="Shape 1"/>
          <p:cNvSpPr/>
          <p:nvPr/>
        </p:nvSpPr>
        <p:spPr>
          <a:xfrm>
            <a:off x="548640" y="1554480"/>
            <a:ext cx="2331720" cy="3566160"/>
          </a:xfrm>
          <a:prstGeom prst="roundRect">
            <a:avLst>
              <a:gd name="adj" fmla="val 3922"/>
            </a:avLst>
          </a:prstGeom>
          <a:solidFill>
            <a:srgbClr val="EEF3FB"/>
          </a:solidFill>
          <a:ln/>
        </p:spPr>
      </p:sp>
      <p:sp>
        <p:nvSpPr>
          <p:cNvPr id="4" name="Shape 2"/>
          <p:cNvSpPr/>
          <p:nvPr/>
        </p:nvSpPr>
        <p:spPr>
          <a:xfrm>
            <a:off x="1399032" y="1874520"/>
            <a:ext cx="640080" cy="640080"/>
          </a:xfrm>
          <a:prstGeom prst="ellipse">
            <a:avLst/>
          </a:prstGeom>
          <a:solidFill>
            <a:srgbClr val="1E2761"/>
          </a:solidFill>
          <a:ln/>
        </p:spPr>
      </p:sp>
      <p:pic>
        <p:nvPicPr>
          <p:cNvPr id="5" name="Image 0" descr="/home/claude/bpo_summary/icons/pencil_white.png">    </p:cNvPr>
          <p:cNvPicPr>
            <a:picLocks noChangeAspect="1"/>
          </p:cNvPicPr>
          <p:nvPr/>
        </p:nvPicPr>
        <p:blipFill>
          <a:blip r:embed="rId1"/>
          <a:stretch>
            <a:fillRect/>
          </a:stretch>
        </p:blipFill>
        <p:spPr>
          <a:xfrm>
            <a:off x="1552651" y="2028139"/>
            <a:ext cx="332842" cy="332842"/>
          </a:xfrm>
          <a:prstGeom prst="rect">
            <a:avLst/>
          </a:prstGeom>
        </p:spPr>
      </p:pic>
      <p:sp>
        <p:nvSpPr>
          <p:cNvPr id="6" name="Text 3"/>
          <p:cNvSpPr/>
          <p:nvPr/>
        </p:nvSpPr>
        <p:spPr>
          <a:xfrm>
            <a:off x="640080" y="2651760"/>
            <a:ext cx="2148840" cy="365760"/>
          </a:xfrm>
          <a:prstGeom prst="rect">
            <a:avLst/>
          </a:prstGeom>
          <a:noFill/>
          <a:ln/>
        </p:spPr>
        <p:txBody>
          <a:bodyPr wrap="square" lIns="0" tIns="0" rIns="0" bIns="0" rtlCol="0" anchor="ctr"/>
          <a:lstStyle/>
          <a:p>
            <a:pPr algn="ctr" indent="0" marL="0">
              <a:buNone/>
            </a:pPr>
            <a:r>
              <a:rPr lang="en-US" sz="1400" b="1" dirty="0">
                <a:solidFill>
                  <a:srgbClr val="1E2761"/>
                </a:solidFill>
                <a:latin typeface="Yu Gothic" pitchFamily="34" charset="0"/>
                <a:ea typeface="Yu Gothic" pitchFamily="34" charset="-122"/>
                <a:cs typeface="Yu Gothic" pitchFamily="34" charset="-120"/>
              </a:rPr>
              <a:t>現場(人)</a:t>
            </a:r>
            <a:endParaRPr lang="en-US" sz="1400" dirty="0"/>
          </a:p>
        </p:txBody>
      </p:sp>
      <p:sp>
        <p:nvSpPr>
          <p:cNvPr id="7" name="Text 4"/>
          <p:cNvSpPr/>
          <p:nvPr/>
        </p:nvSpPr>
        <p:spPr>
          <a:xfrm>
            <a:off x="640080" y="3063240"/>
            <a:ext cx="2148840" cy="1188720"/>
          </a:xfrm>
          <a:prstGeom prst="rect">
            <a:avLst/>
          </a:prstGeom>
          <a:noFill/>
          <a:ln/>
        </p:spPr>
        <p:txBody>
          <a:bodyPr wrap="square" lIns="0" tIns="0" rIns="0" bIns="0" rtlCol="0" anchor="ctr"/>
          <a:lstStyle/>
          <a:p>
            <a:pPr algn="ctr" indent="0" marL="0">
              <a:lnSpc>
                <a:spcPct val="125000"/>
              </a:lnSpc>
              <a:buNone/>
            </a:pPr>
            <a:r>
              <a:rPr lang="en-US" sz="1200" dirty="0">
                <a:solidFill>
                  <a:srgbClr val="1F2540"/>
                </a:solidFill>
                <a:latin typeface="Yu Gothic" pitchFamily="34" charset="0"/>
                <a:ea typeface="Yu Gothic" pitchFamily="34" charset="-122"/>
                <a:cs typeface="Yu Gothic" pitchFamily="34" charset="-120"/>
              </a:rPr>
              <a:t>業務手順を</a:t>
            </a:r>
            <a:endParaRPr lang="en-US" sz="1200" dirty="0"/>
          </a:p>
          <a:p>
            <a:pPr algn="ctr" indent="0" marL="0">
              <a:lnSpc>
                <a:spcPct val="125000"/>
              </a:lnSpc>
              <a:buNone/>
            </a:pPr>
            <a:r>
              <a:rPr lang="en-US" sz="1200" dirty="0">
                <a:solidFill>
                  <a:srgbClr val="1F2540"/>
                </a:solidFill>
                <a:latin typeface="Yu Gothic" pitchFamily="34" charset="0"/>
                <a:ea typeface="Yu Gothic" pitchFamily="34" charset="-122"/>
                <a:cs typeface="Yu Gothic" pitchFamily="34" charset="-120"/>
              </a:rPr>
              <a:t>テンプレートExcelに</a:t>
            </a:r>
            <a:endParaRPr lang="en-US" sz="1200" dirty="0"/>
          </a:p>
          <a:p>
            <a:pPr algn="ctr" indent="0" marL="0">
              <a:lnSpc>
                <a:spcPct val="125000"/>
              </a:lnSpc>
              <a:buNone/>
            </a:pPr>
            <a:r>
              <a:rPr lang="en-US" sz="1200" dirty="0">
                <a:solidFill>
                  <a:srgbClr val="1F2540"/>
                </a:solidFill>
                <a:latin typeface="Yu Gothic" pitchFamily="34" charset="0"/>
                <a:ea typeface="Yu Gothic" pitchFamily="34" charset="-122"/>
                <a:cs typeface="Yu Gothic" pitchFamily="34" charset="-120"/>
              </a:rPr>
              <a:t>記入する</a:t>
            </a:r>
            <a:endParaRPr lang="en-US" sz="1200" dirty="0"/>
          </a:p>
        </p:txBody>
      </p:sp>
      <p:sp>
        <p:nvSpPr>
          <p:cNvPr id="8" name="Text 5"/>
          <p:cNvSpPr/>
          <p:nvPr/>
        </p:nvSpPr>
        <p:spPr>
          <a:xfrm>
            <a:off x="640080" y="4434840"/>
            <a:ext cx="2148840" cy="365760"/>
          </a:xfrm>
          <a:prstGeom prst="rect">
            <a:avLst/>
          </a:prstGeom>
          <a:noFill/>
          <a:ln/>
        </p:spPr>
        <p:txBody>
          <a:bodyPr wrap="square" lIns="0" tIns="0" rIns="0" bIns="0" rtlCol="0" anchor="ctr"/>
          <a:lstStyle/>
          <a:p>
            <a:pPr algn="ctr" indent="0" marL="0">
              <a:buNone/>
            </a:pPr>
            <a:r>
              <a:rPr lang="en-US" sz="1050" i="1" dirty="0">
                <a:solidFill>
                  <a:srgbClr val="5B6478"/>
                </a:solidFill>
                <a:latin typeface="Yu Gothic" pitchFamily="34" charset="0"/>
                <a:ea typeface="Yu Gothic" pitchFamily="34" charset="-122"/>
                <a:cs typeface="Yu Gothic" pitchFamily="34" charset="-120"/>
              </a:rPr>
              <a:t>現場の作業はここだけ</a:t>
            </a:r>
            <a:endParaRPr lang="en-US" sz="1050" dirty="0"/>
          </a:p>
        </p:txBody>
      </p:sp>
      <p:sp>
        <p:nvSpPr>
          <p:cNvPr id="9" name="Shape 6"/>
          <p:cNvSpPr/>
          <p:nvPr/>
        </p:nvSpPr>
        <p:spPr>
          <a:xfrm>
            <a:off x="2944368" y="3191256"/>
            <a:ext cx="329184" cy="292608"/>
          </a:xfrm>
          <a:prstGeom prst="rightArrow">
            <a:avLst/>
          </a:prstGeom>
          <a:solidFill>
            <a:srgbClr val="CADCFC"/>
          </a:solidFill>
          <a:ln/>
        </p:spPr>
      </p:sp>
      <p:sp>
        <p:nvSpPr>
          <p:cNvPr id="10" name="Shape 7"/>
          <p:cNvSpPr/>
          <p:nvPr/>
        </p:nvSpPr>
        <p:spPr>
          <a:xfrm>
            <a:off x="3337560" y="1325880"/>
            <a:ext cx="3246120" cy="4023360"/>
          </a:xfrm>
          <a:prstGeom prst="roundRect">
            <a:avLst>
              <a:gd name="adj" fmla="val 2817"/>
            </a:avLst>
          </a:prstGeom>
          <a:solidFill>
            <a:srgbClr val="1E2761"/>
          </a:solidFill>
          <a:ln/>
          <a:effectLst>
            <a:outerShdw sx="100000" sy="100000" kx="0" ky="0" algn="bl" rotWithShape="0" blurRad="101600" dist="38100" dir="5400000">
              <a:srgbClr val="9AA7C7">
                <a:alpha val="40000"/>
              </a:srgbClr>
            </a:outerShdw>
          </a:effectLst>
        </p:spPr>
      </p:sp>
      <p:sp>
        <p:nvSpPr>
          <p:cNvPr id="11" name="Shape 8"/>
          <p:cNvSpPr/>
          <p:nvPr/>
        </p:nvSpPr>
        <p:spPr>
          <a:xfrm>
            <a:off x="4645152" y="1691640"/>
            <a:ext cx="640080" cy="640080"/>
          </a:xfrm>
          <a:prstGeom prst="ellipse">
            <a:avLst/>
          </a:prstGeom>
          <a:solidFill>
            <a:srgbClr val="161D4A"/>
          </a:solidFill>
          <a:ln/>
        </p:spPr>
      </p:sp>
      <p:pic>
        <p:nvPicPr>
          <p:cNvPr id="12" name="Image 1" descr="/home/claude/bpo_summary/icons/cog_white.png">    </p:cNvPr>
          <p:cNvPicPr>
            <a:picLocks noChangeAspect="1"/>
          </p:cNvPicPr>
          <p:nvPr/>
        </p:nvPicPr>
        <p:blipFill>
          <a:blip r:embed="rId2"/>
          <a:stretch>
            <a:fillRect/>
          </a:stretch>
        </p:blipFill>
        <p:spPr>
          <a:xfrm>
            <a:off x="4798771" y="1845259"/>
            <a:ext cx="332842" cy="332842"/>
          </a:xfrm>
          <a:prstGeom prst="rect">
            <a:avLst/>
          </a:prstGeom>
        </p:spPr>
      </p:pic>
      <p:sp>
        <p:nvSpPr>
          <p:cNvPr id="13" name="Text 9"/>
          <p:cNvSpPr/>
          <p:nvPr/>
        </p:nvSpPr>
        <p:spPr>
          <a:xfrm>
            <a:off x="3474720" y="2468880"/>
            <a:ext cx="2971800" cy="685800"/>
          </a:xfrm>
          <a:prstGeom prst="rect">
            <a:avLst/>
          </a:prstGeom>
          <a:noFill/>
          <a:ln/>
        </p:spPr>
        <p:txBody>
          <a:bodyPr wrap="square" lIns="0" tIns="0" rIns="0" bIns="0" rtlCol="0" anchor="ctr"/>
          <a:lstStyle/>
          <a:p>
            <a:pPr algn="ctr" indent="0" marL="0">
              <a:lnSpc>
                <a:spcPct val="115000"/>
              </a:lnSpc>
              <a:buNone/>
            </a:pPr>
            <a:r>
              <a:rPr lang="en-US" sz="1400" b="1" dirty="0">
                <a:solidFill>
                  <a:srgbClr val="FFFFFF"/>
                </a:solidFill>
                <a:latin typeface="Yu Gothic" pitchFamily="34" charset="0"/>
                <a:ea typeface="Yu Gothic" pitchFamily="34" charset="-122"/>
                <a:cs typeface="Yu Gothic" pitchFamily="34" charset="-120"/>
              </a:rPr>
              <a:t>自動変換・最適化エンジン</a:t>
            </a:r>
            <a:endParaRPr lang="en-US" sz="1400" dirty="0"/>
          </a:p>
          <a:p>
            <a:pPr algn="ctr" indent="0" marL="0">
              <a:lnSpc>
                <a:spcPct val="115000"/>
              </a:lnSpc>
              <a:buNone/>
            </a:pPr>
            <a:r>
              <a:rPr lang="en-US" sz="1400" b="1" dirty="0">
                <a:solidFill>
                  <a:srgbClr val="FFFFFF"/>
                </a:solidFill>
                <a:latin typeface="Yu Gothic" pitchFamily="34" charset="0"/>
                <a:ea typeface="Yu Gothic" pitchFamily="34" charset="-122"/>
                <a:cs typeface="Yu Gothic" pitchFamily="34" charset="-120"/>
              </a:rPr>
              <a:t>(本ツール)</a:t>
            </a:r>
            <a:endParaRPr lang="en-US" sz="1400" dirty="0"/>
          </a:p>
        </p:txBody>
      </p:sp>
      <p:sp>
        <p:nvSpPr>
          <p:cNvPr id="14" name="Text 10"/>
          <p:cNvSpPr/>
          <p:nvPr/>
        </p:nvSpPr>
        <p:spPr>
          <a:xfrm>
            <a:off x="3474720" y="3246120"/>
            <a:ext cx="2971800" cy="1005840"/>
          </a:xfrm>
          <a:prstGeom prst="rect">
            <a:avLst/>
          </a:prstGeom>
          <a:noFill/>
          <a:ln/>
        </p:spPr>
        <p:txBody>
          <a:bodyPr wrap="square" lIns="0" tIns="0" rIns="0" bIns="0" rtlCol="0" anchor="ctr"/>
          <a:lstStyle/>
          <a:p>
            <a:pPr algn="ctr" indent="0" marL="0">
              <a:lnSpc>
                <a:spcPct val="125000"/>
              </a:lnSpc>
              <a:buNone/>
            </a:pPr>
            <a:r>
              <a:rPr lang="en-US" sz="1150" dirty="0">
                <a:solidFill>
                  <a:srgbClr val="CADCFC"/>
                </a:solidFill>
                <a:latin typeface="Yu Gothic" pitchFamily="34" charset="0"/>
                <a:ea typeface="Yu Gothic" pitchFamily="34" charset="-122"/>
                <a:cs typeface="Yu Gothic" pitchFamily="34" charset="-120"/>
              </a:rPr>
              <a:t>Excelの読み取り・構造化から</a:t>
            </a:r>
            <a:endParaRPr lang="en-US" sz="1150" dirty="0"/>
          </a:p>
          <a:p>
            <a:pPr algn="ctr" indent="0" marL="0">
              <a:lnSpc>
                <a:spcPct val="125000"/>
              </a:lnSpc>
              <a:buNone/>
            </a:pPr>
            <a:r>
              <a:rPr lang="en-US" sz="1150" dirty="0">
                <a:solidFill>
                  <a:srgbClr val="CADCFC"/>
                </a:solidFill>
                <a:latin typeface="Yu Gothic" pitchFamily="34" charset="0"/>
                <a:ea typeface="Yu Gothic" pitchFamily="34" charset="-122"/>
                <a:cs typeface="Yu Gothic" pitchFamily="34" charset="-120"/>
              </a:rPr>
              <a:t>AIエージェント主体の</a:t>
            </a:r>
            <a:endParaRPr lang="en-US" sz="1150" dirty="0"/>
          </a:p>
          <a:p>
            <a:pPr algn="ctr" indent="0" marL="0">
              <a:lnSpc>
                <a:spcPct val="125000"/>
              </a:lnSpc>
              <a:buNone/>
            </a:pPr>
            <a:r>
              <a:rPr lang="en-US" sz="1150" dirty="0">
                <a:solidFill>
                  <a:srgbClr val="CADCFC"/>
                </a:solidFill>
                <a:latin typeface="Yu Gothic" pitchFamily="34" charset="0"/>
                <a:ea typeface="Yu Gothic" pitchFamily="34" charset="-122"/>
                <a:cs typeface="Yu Gothic" pitchFamily="34" charset="-120"/>
              </a:rPr>
              <a:t>プロセスへの最適化まで自動</a:t>
            </a:r>
            <a:endParaRPr lang="en-US" sz="1150" dirty="0"/>
          </a:p>
        </p:txBody>
      </p:sp>
      <p:sp>
        <p:nvSpPr>
          <p:cNvPr id="15" name="Shape 11"/>
          <p:cNvSpPr/>
          <p:nvPr/>
        </p:nvSpPr>
        <p:spPr>
          <a:xfrm>
            <a:off x="3657600" y="4389120"/>
            <a:ext cx="2606040" cy="731520"/>
          </a:xfrm>
          <a:prstGeom prst="roundRect">
            <a:avLst>
              <a:gd name="adj" fmla="val 10000"/>
            </a:avLst>
          </a:prstGeom>
          <a:solidFill>
            <a:srgbClr val="161D4A"/>
          </a:solidFill>
          <a:ln w="12700">
            <a:solidFill>
              <a:srgbClr val="CADCFC"/>
            </a:solidFill>
            <a:prstDash val="solid"/>
          </a:ln>
        </p:spPr>
      </p:sp>
      <p:sp>
        <p:nvSpPr>
          <p:cNvPr id="16" name="Text 12"/>
          <p:cNvSpPr/>
          <p:nvPr/>
        </p:nvSpPr>
        <p:spPr>
          <a:xfrm>
            <a:off x="3657600" y="4389120"/>
            <a:ext cx="2606040" cy="731520"/>
          </a:xfrm>
          <a:prstGeom prst="rect">
            <a:avLst/>
          </a:prstGeom>
          <a:noFill/>
          <a:ln/>
        </p:spPr>
        <p:txBody>
          <a:bodyPr wrap="square" lIns="0" tIns="0" rIns="0" bIns="0" rtlCol="0" anchor="ctr"/>
          <a:lstStyle/>
          <a:p>
            <a:pPr algn="ctr" indent="0" marL="0">
              <a:lnSpc>
                <a:spcPct val="115000"/>
              </a:lnSpc>
              <a:buNone/>
            </a:pPr>
            <a:r>
              <a:rPr lang="en-US" sz="1100" b="1" dirty="0">
                <a:solidFill>
                  <a:srgbClr val="FFFFFF"/>
                </a:solidFill>
                <a:latin typeface="Yu Gothic" pitchFamily="34" charset="0"/>
                <a:ea typeface="Yu Gothic" pitchFamily="34" charset="-122"/>
                <a:cs typeface="Yu Gothic" pitchFamily="34" charset="-120"/>
              </a:rPr>
              <a:t>全段階に検証条件</a:t>
            </a:r>
            <a:endParaRPr lang="en-US" sz="1100" dirty="0"/>
          </a:p>
          <a:p>
            <a:pPr algn="ctr" indent="0" marL="0">
              <a:lnSpc>
                <a:spcPct val="115000"/>
              </a:lnSpc>
              <a:buNone/>
            </a:pPr>
            <a:r>
              <a:rPr lang="en-US" sz="1100" b="1" dirty="0">
                <a:solidFill>
                  <a:srgbClr val="FFFFFF"/>
                </a:solidFill>
                <a:latin typeface="Yu Gothic" pitchFamily="34" charset="0"/>
                <a:ea typeface="Yu Gothic" pitchFamily="34" charset="-122"/>
                <a:cs typeface="Yu Gothic" pitchFamily="34" charset="-120"/>
              </a:rPr>
              <a:t>= 変換ミスを早期検知</a:t>
            </a:r>
            <a:endParaRPr lang="en-US" sz="1100" dirty="0"/>
          </a:p>
        </p:txBody>
      </p:sp>
      <p:sp>
        <p:nvSpPr>
          <p:cNvPr id="17" name="Shape 13"/>
          <p:cNvSpPr/>
          <p:nvPr/>
        </p:nvSpPr>
        <p:spPr>
          <a:xfrm>
            <a:off x="6656832" y="3191256"/>
            <a:ext cx="329184" cy="292608"/>
          </a:xfrm>
          <a:prstGeom prst="rightArrow">
            <a:avLst/>
          </a:prstGeom>
          <a:solidFill>
            <a:srgbClr val="CADCFC"/>
          </a:solidFill>
          <a:ln/>
        </p:spPr>
      </p:sp>
      <p:sp>
        <p:nvSpPr>
          <p:cNvPr id="18" name="Shape 14"/>
          <p:cNvSpPr/>
          <p:nvPr/>
        </p:nvSpPr>
        <p:spPr>
          <a:xfrm>
            <a:off x="7059168" y="1554480"/>
            <a:ext cx="2651760" cy="3566160"/>
          </a:xfrm>
          <a:prstGeom prst="roundRect">
            <a:avLst>
              <a:gd name="adj" fmla="val 3448"/>
            </a:avLst>
          </a:prstGeom>
          <a:solidFill>
            <a:srgbClr val="E3F4F1"/>
          </a:solidFill>
          <a:ln/>
        </p:spPr>
      </p:sp>
      <p:sp>
        <p:nvSpPr>
          <p:cNvPr id="19" name="Shape 15"/>
          <p:cNvSpPr/>
          <p:nvPr/>
        </p:nvSpPr>
        <p:spPr>
          <a:xfrm>
            <a:off x="8065008" y="1828800"/>
            <a:ext cx="640080" cy="640080"/>
          </a:xfrm>
          <a:prstGeom prst="ellipse">
            <a:avLst/>
          </a:prstGeom>
          <a:solidFill>
            <a:srgbClr val="0E8C7F"/>
          </a:solidFill>
          <a:ln/>
        </p:spPr>
      </p:sp>
      <p:pic>
        <p:nvPicPr>
          <p:cNvPr id="20" name="Image 2" descr="/home/claude/bpo_summary/icons/package_white.png">    </p:cNvPr>
          <p:cNvPicPr>
            <a:picLocks noChangeAspect="1"/>
          </p:cNvPicPr>
          <p:nvPr/>
        </p:nvPicPr>
        <p:blipFill>
          <a:blip r:embed="rId3"/>
          <a:stretch>
            <a:fillRect/>
          </a:stretch>
        </p:blipFill>
        <p:spPr>
          <a:xfrm>
            <a:off x="8218627" y="1982419"/>
            <a:ext cx="332842" cy="332842"/>
          </a:xfrm>
          <a:prstGeom prst="rect">
            <a:avLst/>
          </a:prstGeom>
        </p:spPr>
      </p:pic>
      <p:sp>
        <p:nvSpPr>
          <p:cNvPr id="21" name="Text 16"/>
          <p:cNvSpPr/>
          <p:nvPr/>
        </p:nvSpPr>
        <p:spPr>
          <a:xfrm>
            <a:off x="7150608" y="2560320"/>
            <a:ext cx="2468880" cy="365760"/>
          </a:xfrm>
          <a:prstGeom prst="rect">
            <a:avLst/>
          </a:prstGeom>
          <a:noFill/>
          <a:ln/>
        </p:spPr>
        <p:txBody>
          <a:bodyPr wrap="square" lIns="0" tIns="0" rIns="0" bIns="0" rtlCol="0" anchor="ctr"/>
          <a:lstStyle/>
          <a:p>
            <a:pPr algn="ctr" indent="0" marL="0">
              <a:buNone/>
            </a:pPr>
            <a:r>
              <a:rPr lang="en-US" sz="1400" b="1" dirty="0">
                <a:solidFill>
                  <a:srgbClr val="0E8C7F"/>
                </a:solidFill>
                <a:latin typeface="Yu Gothic" pitchFamily="34" charset="0"/>
                <a:ea typeface="Yu Gothic" pitchFamily="34" charset="-122"/>
                <a:cs typeface="Yu Gothic" pitchFamily="34" charset="-120"/>
              </a:rPr>
              <a:t>生成物(5種)</a:t>
            </a:r>
            <a:endParaRPr lang="en-US" sz="1400" dirty="0"/>
          </a:p>
        </p:txBody>
      </p:sp>
      <p:sp>
        <p:nvSpPr>
          <p:cNvPr id="22" name="Text 17"/>
          <p:cNvSpPr/>
          <p:nvPr/>
        </p:nvSpPr>
        <p:spPr>
          <a:xfrm>
            <a:off x="7315200" y="2971800"/>
            <a:ext cx="2240280" cy="2011680"/>
          </a:xfrm>
          <a:prstGeom prst="rect">
            <a:avLst/>
          </a:prstGeom>
          <a:noFill/>
          <a:ln/>
        </p:spPr>
        <p:txBody>
          <a:bodyPr wrap="square" lIns="0" tIns="0" rIns="0" bIns="0" rtlCol="0" anchor="t"/>
          <a:lstStyle/>
          <a:p>
            <a:pPr indent="0" marL="0">
              <a:lnSpc>
                <a:spcPct val="130000"/>
              </a:lnSpc>
              <a:buNone/>
            </a:pPr>
            <a:r>
              <a:rPr lang="en-US" sz="1050" b="1" dirty="0">
                <a:solidFill>
                  <a:srgbClr val="1F2540"/>
                </a:solidFill>
                <a:latin typeface="Yu Gothic" pitchFamily="34" charset="0"/>
                <a:ea typeface="Yu Gothic" pitchFamily="34" charset="-122"/>
                <a:cs typeface="Yu Gothic" pitchFamily="34" charset="-120"/>
              </a:rPr>
              <a:t>SKILL</a:t>
            </a:r>
            <a:pPr indent="0" marL="0">
              <a:lnSpc>
                <a:spcPct val="130000"/>
              </a:lnSpc>
              <a:buNone/>
            </a:pPr>
            <a:r>
              <a:rPr lang="en-US" sz="1050" dirty="0">
                <a:solidFill>
                  <a:srgbClr val="1F2540"/>
                </a:solidFill>
                <a:latin typeface="Yu Gothic" pitchFamily="34" charset="0"/>
                <a:ea typeface="Yu Gothic" pitchFamily="34" charset="-122"/>
                <a:cs typeface="Yu Gothic" pitchFamily="34" charset="-120"/>
              </a:rPr>
              <a:t>  AI向け実行手順書
</a:t>
            </a:r>
            <a:pPr indent="0" marL="0">
              <a:lnSpc>
                <a:spcPct val="130000"/>
              </a:lnSpc>
              <a:buNone/>
            </a:pPr>
            <a:r>
              <a:rPr lang="en-US" sz="1050" b="1" dirty="0">
                <a:solidFill>
                  <a:srgbClr val="1F2540"/>
                </a:solidFill>
                <a:latin typeface="Yu Gothic" pitchFamily="34" charset="0"/>
                <a:ea typeface="Yu Gothic" pitchFamily="34" charset="-122"/>
                <a:cs typeface="Yu Gothic" pitchFamily="34" charset="-120"/>
              </a:rPr>
              <a:t>Sub-agent</a:t>
            </a:r>
            <a:pPr indent="0" marL="0">
              <a:lnSpc>
                <a:spcPct val="130000"/>
              </a:lnSpc>
              <a:buNone/>
            </a:pPr>
            <a:r>
              <a:rPr lang="en-US" sz="1050" dirty="0">
                <a:solidFill>
                  <a:srgbClr val="1F2540"/>
                </a:solidFill>
                <a:latin typeface="Yu Gothic" pitchFamily="34" charset="0"/>
                <a:ea typeface="Yu Gothic" pitchFamily="34" charset="-122"/>
                <a:cs typeface="Yu Gothic" pitchFamily="34" charset="-120"/>
              </a:rPr>
              <a:t>  実行役と検証役
</a:t>
            </a:r>
            <a:pPr indent="0" marL="0">
              <a:lnSpc>
                <a:spcPct val="130000"/>
              </a:lnSpc>
              <a:buNone/>
            </a:pPr>
            <a:r>
              <a:rPr lang="en-US" sz="1050" b="1" dirty="0">
                <a:solidFill>
                  <a:srgbClr val="1F2540"/>
                </a:solidFill>
                <a:latin typeface="Yu Gothic" pitchFamily="34" charset="0"/>
                <a:ea typeface="Yu Gothic" pitchFamily="34" charset="-122"/>
                <a:cs typeface="Yu Gothic" pitchFamily="34" charset="-120"/>
              </a:rPr>
              <a:t>Hooks</a:t>
            </a:r>
            <a:pPr indent="0" marL="0">
              <a:lnSpc>
                <a:spcPct val="130000"/>
              </a:lnSpc>
              <a:buNone/>
            </a:pPr>
            <a:r>
              <a:rPr lang="en-US" sz="1050" dirty="0">
                <a:solidFill>
                  <a:srgbClr val="1F2540"/>
                </a:solidFill>
                <a:latin typeface="Yu Gothic" pitchFamily="34" charset="0"/>
                <a:ea typeface="Yu Gothic" pitchFamily="34" charset="-122"/>
                <a:cs typeface="Yu Gothic" pitchFamily="34" charset="-120"/>
              </a:rPr>
              <a:t>  操作の強制統制
</a:t>
            </a:r>
            <a:pPr indent="0" marL="0">
              <a:lnSpc>
                <a:spcPct val="130000"/>
              </a:lnSpc>
              <a:buNone/>
            </a:pPr>
            <a:r>
              <a:rPr lang="en-US" sz="1050" b="1" dirty="0">
                <a:solidFill>
                  <a:srgbClr val="1F2540"/>
                </a:solidFill>
                <a:latin typeface="Yu Gothic" pitchFamily="34" charset="0"/>
                <a:ea typeface="Yu Gothic" pitchFamily="34" charset="-122"/>
                <a:cs typeface="Yu Gothic" pitchFamily="34" charset="-120"/>
              </a:rPr>
              <a:t>Rules</a:t>
            </a:r>
            <a:pPr indent="0" marL="0">
              <a:lnSpc>
                <a:spcPct val="130000"/>
              </a:lnSpc>
              <a:buNone/>
            </a:pPr>
            <a:r>
              <a:rPr lang="en-US" sz="1050" dirty="0">
                <a:solidFill>
                  <a:srgbClr val="1F2540"/>
                </a:solidFill>
                <a:latin typeface="Yu Gothic" pitchFamily="34" charset="0"/>
                <a:ea typeface="Yu Gothic" pitchFamily="34" charset="-122"/>
                <a:cs typeface="Yu Gothic" pitchFamily="34" charset="-120"/>
              </a:rPr>
              <a:t>  遵守事項の定義
</a:t>
            </a:r>
            <a:pPr indent="0" marL="0">
              <a:lnSpc>
                <a:spcPct val="130000"/>
              </a:lnSpc>
              <a:buNone/>
            </a:pPr>
            <a:r>
              <a:rPr lang="en-US" sz="1050" b="1" dirty="0">
                <a:solidFill>
                  <a:srgbClr val="1F2540"/>
                </a:solidFill>
                <a:latin typeface="Yu Gothic" pitchFamily="34" charset="0"/>
                <a:ea typeface="Yu Gothic" pitchFamily="34" charset="-122"/>
                <a:cs typeface="Yu Gothic" pitchFamily="34" charset="-120"/>
              </a:rPr>
              <a:t>ハーネス定義</a:t>
            </a:r>
            <a:pPr indent="0" marL="0">
              <a:lnSpc>
                <a:spcPct val="130000"/>
              </a:lnSpc>
              <a:buNone/>
            </a:pPr>
            <a:r>
              <a:rPr lang="en-US" sz="1050" dirty="0">
                <a:solidFill>
                  <a:srgbClr val="1F2540"/>
                </a:solidFill>
                <a:latin typeface="Yu Gothic" pitchFamily="34" charset="0"/>
                <a:ea typeface="Yu Gothic" pitchFamily="34" charset="-122"/>
                <a:cs typeface="Yu Gothic" pitchFamily="34" charset="-120"/>
              </a:rPr>
              <a:t>  完了基準と</a:t>
            </a:r>
            <a:endParaRPr lang="en-US" sz="1050" dirty="0"/>
          </a:p>
          <a:p>
            <a:pPr indent="0" marL="0">
              <a:lnSpc>
                <a:spcPct val="130000"/>
              </a:lnSpc>
              <a:buNone/>
            </a:pPr>
            <a:r>
              <a:rPr lang="en-US" sz="1050" dirty="0">
                <a:solidFill>
                  <a:srgbClr val="1F2540"/>
                </a:solidFill>
                <a:latin typeface="Yu Gothic" pitchFamily="34" charset="0"/>
                <a:ea typeface="Yu Gothic" pitchFamily="34" charset="-122"/>
                <a:cs typeface="Yu Gothic" pitchFamily="34" charset="-120"/>
              </a:rPr>
              <a:t>進捗・引き継ぎの管理様式</a:t>
            </a:r>
            <a:endParaRPr lang="en-US" sz="1050" dirty="0"/>
          </a:p>
        </p:txBody>
      </p:sp>
      <p:sp>
        <p:nvSpPr>
          <p:cNvPr id="23" name="Shape 18"/>
          <p:cNvSpPr/>
          <p:nvPr/>
        </p:nvSpPr>
        <p:spPr>
          <a:xfrm>
            <a:off x="9774936" y="3191256"/>
            <a:ext cx="329184" cy="292608"/>
          </a:xfrm>
          <a:prstGeom prst="rightArrow">
            <a:avLst/>
          </a:prstGeom>
          <a:solidFill>
            <a:srgbClr val="CADCFC"/>
          </a:solidFill>
          <a:ln/>
        </p:spPr>
      </p:sp>
      <p:sp>
        <p:nvSpPr>
          <p:cNvPr id="24" name="Shape 19"/>
          <p:cNvSpPr/>
          <p:nvPr/>
        </p:nvSpPr>
        <p:spPr>
          <a:xfrm>
            <a:off x="10177272" y="1554480"/>
            <a:ext cx="1463040" cy="3566160"/>
          </a:xfrm>
          <a:prstGeom prst="roundRect">
            <a:avLst>
              <a:gd name="adj" fmla="val 6250"/>
            </a:avLst>
          </a:prstGeom>
          <a:solidFill>
            <a:srgbClr val="F5F6F9"/>
          </a:solidFill>
          <a:ln w="12700">
            <a:solidFill>
              <a:srgbClr val="AEB6C8"/>
            </a:solidFill>
            <a:prstDash val="dash"/>
          </a:ln>
        </p:spPr>
      </p:sp>
      <p:pic>
        <p:nvPicPr>
          <p:cNvPr id="25" name="Image 3" descr="/home/claude/bpo_summary/icons/bot_gray.png">    </p:cNvPr>
          <p:cNvPicPr>
            <a:picLocks noChangeAspect="1"/>
          </p:cNvPicPr>
          <p:nvPr/>
        </p:nvPicPr>
        <p:blipFill>
          <a:blip r:embed="rId4"/>
          <a:stretch>
            <a:fillRect/>
          </a:stretch>
        </p:blipFill>
        <p:spPr>
          <a:xfrm>
            <a:off x="10543032" y="1965960"/>
            <a:ext cx="731520" cy="731520"/>
          </a:xfrm>
          <a:prstGeom prst="rect">
            <a:avLst/>
          </a:prstGeom>
        </p:spPr>
      </p:pic>
      <p:sp>
        <p:nvSpPr>
          <p:cNvPr id="26" name="Text 20"/>
          <p:cNvSpPr/>
          <p:nvPr/>
        </p:nvSpPr>
        <p:spPr>
          <a:xfrm>
            <a:off x="10222992" y="2880360"/>
            <a:ext cx="1371600" cy="731520"/>
          </a:xfrm>
          <a:prstGeom prst="rect">
            <a:avLst/>
          </a:prstGeom>
          <a:noFill/>
          <a:ln/>
        </p:spPr>
        <p:txBody>
          <a:bodyPr wrap="square" lIns="0" tIns="0" rIns="0" bIns="0" rtlCol="0" anchor="ctr"/>
          <a:lstStyle/>
          <a:p>
            <a:pPr algn="ctr" indent="0" marL="0">
              <a:lnSpc>
                <a:spcPct val="120000"/>
              </a:lnSpc>
              <a:buNone/>
            </a:pPr>
            <a:r>
              <a:rPr lang="en-US" sz="1100" b="1" dirty="0">
                <a:solidFill>
                  <a:srgbClr val="5B6478"/>
                </a:solidFill>
                <a:latin typeface="Yu Gothic" pitchFamily="34" charset="0"/>
                <a:ea typeface="Yu Gothic" pitchFamily="34" charset="-122"/>
                <a:cs typeface="Yu Gothic" pitchFamily="34" charset="-120"/>
              </a:rPr>
              <a:t>AIエージェント</a:t>
            </a:r>
            <a:endParaRPr lang="en-US" sz="1100" dirty="0"/>
          </a:p>
          <a:p>
            <a:pPr algn="ctr" indent="0" marL="0">
              <a:lnSpc>
                <a:spcPct val="120000"/>
              </a:lnSpc>
              <a:buNone/>
            </a:pPr>
            <a:r>
              <a:rPr lang="en-US" sz="1100" b="1" dirty="0">
                <a:solidFill>
                  <a:srgbClr val="5B6478"/>
                </a:solidFill>
                <a:latin typeface="Yu Gothic" pitchFamily="34" charset="0"/>
                <a:ea typeface="Yu Gothic" pitchFamily="34" charset="-122"/>
                <a:cs typeface="Yu Gothic" pitchFamily="34" charset="-120"/>
              </a:rPr>
              <a:t>基盤で実行</a:t>
            </a:r>
            <a:endParaRPr lang="en-US" sz="1100" dirty="0"/>
          </a:p>
        </p:txBody>
      </p:sp>
      <p:sp>
        <p:nvSpPr>
          <p:cNvPr id="27" name="Text 21"/>
          <p:cNvSpPr/>
          <p:nvPr/>
        </p:nvSpPr>
        <p:spPr>
          <a:xfrm>
            <a:off x="10222992" y="3749040"/>
            <a:ext cx="1371600" cy="1005840"/>
          </a:xfrm>
          <a:prstGeom prst="rect">
            <a:avLst/>
          </a:prstGeom>
          <a:noFill/>
          <a:ln/>
        </p:spPr>
        <p:txBody>
          <a:bodyPr wrap="square" lIns="0" tIns="0" rIns="0" bIns="0" rtlCol="0" anchor="ctr"/>
          <a:lstStyle/>
          <a:p>
            <a:pPr algn="ctr" indent="0" marL="0">
              <a:lnSpc>
                <a:spcPct val="120000"/>
              </a:lnSpc>
              <a:buNone/>
            </a:pPr>
            <a:r>
              <a:rPr lang="en-US" sz="950" dirty="0">
                <a:solidFill>
                  <a:srgbClr val="5B6478"/>
                </a:solidFill>
                <a:latin typeface="Yu Gothic" pitchFamily="34" charset="0"/>
                <a:ea typeface="Yu Gothic" pitchFamily="34" charset="-122"/>
                <a:cs typeface="Yu Gothic" pitchFamily="34" charset="-120"/>
              </a:rPr>
              <a:t>PRODUCT 02</a:t>
            </a:r>
            <a:endParaRPr lang="en-US" sz="950" dirty="0"/>
          </a:p>
          <a:p>
            <a:pPr algn="ctr" indent="0" marL="0">
              <a:lnSpc>
                <a:spcPct val="120000"/>
              </a:lnSpc>
              <a:buNone/>
            </a:pPr>
            <a:r>
              <a:rPr lang="en-US" sz="950" dirty="0">
                <a:solidFill>
                  <a:srgbClr val="5B6478"/>
                </a:solidFill>
                <a:latin typeface="Yu Gothic" pitchFamily="34" charset="0"/>
                <a:ea typeface="Yu Gothic" pitchFamily="34" charset="-122"/>
                <a:cs typeface="Yu Gothic" pitchFamily="34" charset="-120"/>
              </a:rPr>
              <a:t>(本ツールの</a:t>
            </a:r>
            <a:endParaRPr lang="en-US" sz="950" dirty="0"/>
          </a:p>
          <a:p>
            <a:pPr algn="ctr" indent="0" marL="0">
              <a:lnSpc>
                <a:spcPct val="120000"/>
              </a:lnSpc>
              <a:buNone/>
            </a:pPr>
            <a:r>
              <a:rPr lang="en-US" sz="950" dirty="0">
                <a:solidFill>
                  <a:srgbClr val="5B6478"/>
                </a:solidFill>
                <a:latin typeface="Yu Gothic" pitchFamily="34" charset="0"/>
                <a:ea typeface="Yu Gothic" pitchFamily="34" charset="-122"/>
                <a:cs typeface="Yu Gothic" pitchFamily="34" charset="-120"/>
              </a:rPr>
              <a:t>範囲外)</a:t>
            </a:r>
            <a:endParaRPr lang="en-US" sz="950" dirty="0"/>
          </a:p>
        </p:txBody>
      </p:sp>
      <p:sp>
        <p:nvSpPr>
          <p:cNvPr id="28" name="Text 22"/>
          <p:cNvSpPr/>
          <p:nvPr/>
        </p:nvSpPr>
        <p:spPr>
          <a:xfrm>
            <a:off x="548640" y="5897880"/>
            <a:ext cx="11091672" cy="457200"/>
          </a:xfrm>
          <a:prstGeom prst="rect">
            <a:avLst/>
          </a:prstGeom>
          <a:noFill/>
          <a:ln/>
        </p:spPr>
        <p:txBody>
          <a:bodyPr wrap="square" lIns="0" tIns="0" rIns="0" bIns="0" rtlCol="0" anchor="ctr"/>
          <a:lstStyle/>
          <a:p>
            <a:pPr algn="ctr" indent="0" marL="0">
              <a:buNone/>
            </a:pPr>
            <a:r>
              <a:rPr lang="en-US" sz="1400" b="1" dirty="0">
                <a:solidFill>
                  <a:srgbClr val="1E2761"/>
                </a:solidFill>
                <a:latin typeface="Yu Gothic" pitchFamily="34" charset="0"/>
                <a:ea typeface="Yu Gothic" pitchFamily="34" charset="-122"/>
                <a:cs typeface="Yu Gothic" pitchFamily="34" charset="-120"/>
              </a:rPr>
              <a:t>現場に求めるのは「書くこと」だけ。</a:t>
            </a:r>
            <a:pPr algn="ctr" indent="0" marL="0">
              <a:buNone/>
            </a:pPr>
            <a:r>
              <a:rPr lang="en-US" sz="1400" dirty="0">
                <a:solidFill>
                  <a:srgbClr val="1F2540"/>
                </a:solidFill>
                <a:latin typeface="Yu Gothic" pitchFamily="34" charset="0"/>
                <a:ea typeface="Yu Gothic" pitchFamily="34" charset="-122"/>
                <a:cs typeface="Yu Gothic" pitchFamily="34" charset="-120"/>
              </a:rPr>
              <a:t> 書けば、AIが実行可能な形式まで検証付きで自動変換される。</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566928"/>
          </a:xfrm>
          <a:prstGeom prst="rect">
            <a:avLst/>
          </a:prstGeom>
          <a:noFill/>
          <a:ln/>
        </p:spPr>
        <p:txBody>
          <a:bodyPr wrap="square" lIns="0" tIns="0" rIns="0" bIns="0" rtlCol="0" anchor="ctr"/>
          <a:lstStyle/>
          <a:p>
            <a:pPr algn="l" indent="0" marL="0">
              <a:buNone/>
            </a:pPr>
            <a:r>
              <a:rPr lang="en-US" sz="2600" b="1" dirty="0">
                <a:solidFill>
                  <a:srgbClr val="1E2761"/>
                </a:solidFill>
                <a:latin typeface="Yu Gothic" pitchFamily="34" charset="0"/>
                <a:ea typeface="Yu Gothic" pitchFamily="34" charset="-122"/>
                <a:cs typeface="Yu Gothic" pitchFamily="34" charset="-120"/>
              </a:rPr>
              <a:t>価値①  業務の「Excel化」 ― 暗黙知を組織の資産へ</a:t>
            </a:r>
            <a:endParaRPr lang="en-US" sz="2600" dirty="0"/>
          </a:p>
        </p:txBody>
      </p:sp>
      <p:sp>
        <p:nvSpPr>
          <p:cNvPr id="3" name="Text 1"/>
          <p:cNvSpPr/>
          <p:nvPr/>
        </p:nvSpPr>
        <p:spPr>
          <a:xfrm>
            <a:off x="548640" y="960120"/>
            <a:ext cx="11064240" cy="365760"/>
          </a:xfrm>
          <a:prstGeom prst="rect">
            <a:avLst/>
          </a:prstGeom>
          <a:noFill/>
          <a:ln/>
        </p:spPr>
        <p:txBody>
          <a:bodyPr wrap="square" lIns="0" tIns="0" rIns="0" bIns="0" rtlCol="0" anchor="ctr"/>
          <a:lstStyle/>
          <a:p>
            <a:pPr indent="0" marL="0">
              <a:buNone/>
            </a:pPr>
            <a:r>
              <a:rPr lang="en-US" sz="1300" dirty="0">
                <a:solidFill>
                  <a:srgbClr val="5B6478"/>
                </a:solidFill>
                <a:latin typeface="Yu Gothic" pitchFamily="34" charset="0"/>
                <a:ea typeface="Yu Gothic" pitchFamily="34" charset="-122"/>
                <a:cs typeface="Yu Gothic" pitchFamily="34" charset="-120"/>
              </a:rPr>
              <a:t>単なる入力様式ではなく、業務を書き切るための方法論ごと提供する。</a:t>
            </a:r>
            <a:endParaRPr lang="en-US" sz="1300" dirty="0"/>
          </a:p>
        </p:txBody>
      </p:sp>
      <p:sp>
        <p:nvSpPr>
          <p:cNvPr id="4" name="Shape 2"/>
          <p:cNvSpPr/>
          <p:nvPr/>
        </p:nvSpPr>
        <p:spPr>
          <a:xfrm>
            <a:off x="548640" y="1508760"/>
            <a:ext cx="3566160" cy="2788920"/>
          </a:xfrm>
          <a:prstGeom prst="roundRect">
            <a:avLst>
              <a:gd name="adj" fmla="val 3279"/>
            </a:avLst>
          </a:prstGeom>
          <a:solidFill>
            <a:srgbClr val="EEF3FB"/>
          </a:solidFill>
          <a:ln/>
        </p:spPr>
      </p:sp>
      <p:sp>
        <p:nvSpPr>
          <p:cNvPr id="5" name="Shape 3"/>
          <p:cNvSpPr/>
          <p:nvPr/>
        </p:nvSpPr>
        <p:spPr>
          <a:xfrm>
            <a:off x="868680" y="1828800"/>
            <a:ext cx="658368" cy="658368"/>
          </a:xfrm>
          <a:prstGeom prst="ellipse">
            <a:avLst/>
          </a:prstGeom>
          <a:solidFill>
            <a:srgbClr val="1E2761"/>
          </a:solidFill>
          <a:ln/>
        </p:spPr>
      </p:sp>
      <p:pic>
        <p:nvPicPr>
          <p:cNvPr id="6" name="Image 0" descr="/home/claude/bpo_summary/icons/table_white.png">    </p:cNvPr>
          <p:cNvPicPr>
            <a:picLocks noChangeAspect="1"/>
          </p:cNvPicPr>
          <p:nvPr/>
        </p:nvPicPr>
        <p:blipFill>
          <a:blip r:embed="rId1"/>
          <a:stretch>
            <a:fillRect/>
          </a:stretch>
        </p:blipFill>
        <p:spPr>
          <a:xfrm>
            <a:off x="1026688" y="1986808"/>
            <a:ext cx="342351" cy="342351"/>
          </a:xfrm>
          <a:prstGeom prst="rect">
            <a:avLst/>
          </a:prstGeom>
        </p:spPr>
      </p:pic>
      <p:sp>
        <p:nvSpPr>
          <p:cNvPr id="7" name="Text 4"/>
          <p:cNvSpPr/>
          <p:nvPr/>
        </p:nvSpPr>
        <p:spPr>
          <a:xfrm>
            <a:off x="1737360" y="1828800"/>
            <a:ext cx="2240280" cy="777240"/>
          </a:xfrm>
          <a:prstGeom prst="rect">
            <a:avLst/>
          </a:prstGeom>
          <a:noFill/>
          <a:ln/>
        </p:spPr>
        <p:txBody>
          <a:bodyPr wrap="square" lIns="0" tIns="0" rIns="0" bIns="0" rtlCol="0" anchor="ctr"/>
          <a:lstStyle/>
          <a:p>
            <a:pPr indent="0" marL="0">
              <a:lnSpc>
                <a:spcPct val="115000"/>
              </a:lnSpc>
              <a:buNone/>
            </a:pPr>
            <a:r>
              <a:rPr lang="en-US" sz="1450" b="1" dirty="0">
                <a:solidFill>
                  <a:srgbClr val="1E2761"/>
                </a:solidFill>
                <a:latin typeface="Yu Gothic" pitchFamily="34" charset="0"/>
                <a:ea typeface="Yu Gothic" pitchFamily="34" charset="-122"/>
                <a:cs typeface="Yu Gothic" pitchFamily="34" charset="-120"/>
              </a:rPr>
              <a:t>製造業仕様の</a:t>
            </a:r>
            <a:endParaRPr lang="en-US" sz="1450" dirty="0"/>
          </a:p>
          <a:p>
            <a:pPr indent="0" marL="0">
              <a:lnSpc>
                <a:spcPct val="115000"/>
              </a:lnSpc>
              <a:buNone/>
            </a:pPr>
            <a:r>
              <a:rPr lang="en-US" sz="1450" b="1" dirty="0">
                <a:solidFill>
                  <a:srgbClr val="1E2761"/>
                </a:solidFill>
                <a:latin typeface="Yu Gothic" pitchFamily="34" charset="0"/>
                <a:ea typeface="Yu Gothic" pitchFamily="34" charset="-122"/>
                <a:cs typeface="Yu Gothic" pitchFamily="34" charset="-120"/>
              </a:rPr>
              <a:t>15列テンプレート</a:t>
            </a:r>
            <a:endParaRPr lang="en-US" sz="1450" dirty="0"/>
          </a:p>
        </p:txBody>
      </p:sp>
      <p:sp>
        <p:nvSpPr>
          <p:cNvPr id="8" name="Text 5"/>
          <p:cNvSpPr/>
          <p:nvPr/>
        </p:nvSpPr>
        <p:spPr>
          <a:xfrm>
            <a:off x="868680" y="2834640"/>
            <a:ext cx="2926080" cy="1325880"/>
          </a:xfrm>
          <a:prstGeom prst="rect">
            <a:avLst/>
          </a:prstGeom>
          <a:noFill/>
          <a:ln/>
        </p:spPr>
        <p:txBody>
          <a:bodyPr wrap="square" lIns="0" tIns="0" rIns="0" bIns="0" rtlCol="0" anchor="t"/>
          <a:lstStyle/>
          <a:p>
            <a:pPr indent="0" marL="0">
              <a:lnSpc>
                <a:spcPct val="130000"/>
              </a:lnSpc>
              <a:buNone/>
            </a:pPr>
            <a:r>
              <a:rPr lang="en-US" sz="1150" dirty="0">
                <a:solidFill>
                  <a:srgbClr val="1F2540"/>
                </a:solidFill>
                <a:latin typeface="Yu Gothic" pitchFamily="34" charset="0"/>
                <a:ea typeface="Yu Gothic" pitchFamily="34" charset="-122"/>
                <a:cs typeface="Yu Gothic" pitchFamily="34" charset="-120"/>
              </a:rPr>
              <a:t>使用設備・関連帳票・判断基準・差し戻し・人間確認まで、製造現場の実務をそのまま記述できる様式。</a:t>
            </a:r>
            <a:endParaRPr lang="en-US" sz="1150" dirty="0"/>
          </a:p>
        </p:txBody>
      </p:sp>
      <p:sp>
        <p:nvSpPr>
          <p:cNvPr id="9" name="Shape 6"/>
          <p:cNvSpPr/>
          <p:nvPr/>
        </p:nvSpPr>
        <p:spPr>
          <a:xfrm>
            <a:off x="4311396" y="1508760"/>
            <a:ext cx="3566160" cy="2788920"/>
          </a:xfrm>
          <a:prstGeom prst="roundRect">
            <a:avLst>
              <a:gd name="adj" fmla="val 3279"/>
            </a:avLst>
          </a:prstGeom>
          <a:solidFill>
            <a:srgbClr val="EEF3FB"/>
          </a:solidFill>
          <a:ln/>
        </p:spPr>
      </p:sp>
      <p:sp>
        <p:nvSpPr>
          <p:cNvPr id="10" name="Shape 7"/>
          <p:cNvSpPr/>
          <p:nvPr/>
        </p:nvSpPr>
        <p:spPr>
          <a:xfrm>
            <a:off x="4631436" y="1828800"/>
            <a:ext cx="658368" cy="658368"/>
          </a:xfrm>
          <a:prstGeom prst="ellipse">
            <a:avLst/>
          </a:prstGeom>
          <a:solidFill>
            <a:srgbClr val="1E2761"/>
          </a:solidFill>
          <a:ln/>
        </p:spPr>
      </p:sp>
      <p:pic>
        <p:nvPicPr>
          <p:cNvPr id="11" name="Image 1" descr="/home/claude/bpo_summary/icons/listchecks_white.png">    </p:cNvPr>
          <p:cNvPicPr>
            <a:picLocks noChangeAspect="1"/>
          </p:cNvPicPr>
          <p:nvPr/>
        </p:nvPicPr>
        <p:blipFill>
          <a:blip r:embed="rId2"/>
          <a:stretch>
            <a:fillRect/>
          </a:stretch>
        </p:blipFill>
        <p:spPr>
          <a:xfrm>
            <a:off x="4789444" y="1986808"/>
            <a:ext cx="342351" cy="342351"/>
          </a:xfrm>
          <a:prstGeom prst="rect">
            <a:avLst/>
          </a:prstGeom>
        </p:spPr>
      </p:pic>
      <p:sp>
        <p:nvSpPr>
          <p:cNvPr id="12" name="Text 8"/>
          <p:cNvSpPr/>
          <p:nvPr/>
        </p:nvSpPr>
        <p:spPr>
          <a:xfrm>
            <a:off x="5500116" y="1828800"/>
            <a:ext cx="2240280" cy="777240"/>
          </a:xfrm>
          <a:prstGeom prst="rect">
            <a:avLst/>
          </a:prstGeom>
          <a:noFill/>
          <a:ln/>
        </p:spPr>
        <p:txBody>
          <a:bodyPr wrap="square" lIns="0" tIns="0" rIns="0" bIns="0" rtlCol="0" anchor="ctr"/>
          <a:lstStyle/>
          <a:p>
            <a:pPr indent="0" marL="0">
              <a:lnSpc>
                <a:spcPct val="115000"/>
              </a:lnSpc>
              <a:buNone/>
            </a:pPr>
            <a:r>
              <a:rPr lang="en-US" sz="1450" b="1" dirty="0">
                <a:solidFill>
                  <a:srgbClr val="1E2761"/>
                </a:solidFill>
                <a:latin typeface="Yu Gothic" pitchFamily="34" charset="0"/>
                <a:ea typeface="Yu Gothic" pitchFamily="34" charset="-122"/>
                <a:cs typeface="Yu Gothic" pitchFamily="34" charset="-120"/>
              </a:rPr>
              <a:t>暗黙知を炙り出す</a:t>
            </a:r>
            <a:endParaRPr lang="en-US" sz="1450" dirty="0"/>
          </a:p>
          <a:p>
            <a:pPr indent="0" marL="0">
              <a:lnSpc>
                <a:spcPct val="115000"/>
              </a:lnSpc>
              <a:buNone/>
            </a:pPr>
            <a:r>
              <a:rPr lang="en-US" sz="1450" b="1" dirty="0">
                <a:solidFill>
                  <a:srgbClr val="1E2761"/>
                </a:solidFill>
                <a:latin typeface="Yu Gothic" pitchFamily="34" charset="0"/>
                <a:ea typeface="Yu Gothic" pitchFamily="34" charset="-122"/>
                <a:cs typeface="Yu Gothic" pitchFamily="34" charset="-120"/>
              </a:rPr>
              <a:t>記入方法論</a:t>
            </a:r>
            <a:endParaRPr lang="en-US" sz="1450" dirty="0"/>
          </a:p>
        </p:txBody>
      </p:sp>
      <p:sp>
        <p:nvSpPr>
          <p:cNvPr id="13" name="Text 9"/>
          <p:cNvSpPr/>
          <p:nvPr/>
        </p:nvSpPr>
        <p:spPr>
          <a:xfrm>
            <a:off x="4631436" y="2834640"/>
            <a:ext cx="2926080" cy="1325880"/>
          </a:xfrm>
          <a:prstGeom prst="rect">
            <a:avLst/>
          </a:prstGeom>
          <a:noFill/>
          <a:ln/>
        </p:spPr>
        <p:txBody>
          <a:bodyPr wrap="square" lIns="0" tIns="0" rIns="0" bIns="0" rtlCol="0" anchor="t"/>
          <a:lstStyle/>
          <a:p>
            <a:pPr indent="0" marL="0">
              <a:lnSpc>
                <a:spcPct val="130000"/>
              </a:lnSpc>
              <a:buNone/>
            </a:pPr>
            <a:r>
              <a:rPr lang="en-US" sz="1150" dirty="0">
                <a:solidFill>
                  <a:srgbClr val="1F2540"/>
                </a:solidFill>
                <a:latin typeface="Yu Gothic" pitchFamily="34" charset="0"/>
                <a:ea typeface="Yu Gothic" pitchFamily="34" charset="-122"/>
                <a:cs typeface="Yu Gothic" pitchFamily="34" charset="-120"/>
              </a:rPr>
              <a:t>記入要領、良い例と悪い例の対比、暗黙知顕在化チェックリスト10項目で、「いつも通り」で済ませてきた判断を言語化する。</a:t>
            </a:r>
            <a:endParaRPr lang="en-US" sz="1150" dirty="0"/>
          </a:p>
        </p:txBody>
      </p:sp>
      <p:sp>
        <p:nvSpPr>
          <p:cNvPr id="14" name="Shape 10"/>
          <p:cNvSpPr/>
          <p:nvPr/>
        </p:nvSpPr>
        <p:spPr>
          <a:xfrm>
            <a:off x="8074152" y="1508760"/>
            <a:ext cx="3566160" cy="2788920"/>
          </a:xfrm>
          <a:prstGeom prst="roundRect">
            <a:avLst>
              <a:gd name="adj" fmla="val 3279"/>
            </a:avLst>
          </a:prstGeom>
          <a:solidFill>
            <a:srgbClr val="EEF3FB"/>
          </a:solidFill>
          <a:ln/>
        </p:spPr>
      </p:sp>
      <p:sp>
        <p:nvSpPr>
          <p:cNvPr id="15" name="Shape 11"/>
          <p:cNvSpPr/>
          <p:nvPr/>
        </p:nvSpPr>
        <p:spPr>
          <a:xfrm>
            <a:off x="8394192" y="1828800"/>
            <a:ext cx="658368" cy="658368"/>
          </a:xfrm>
          <a:prstGeom prst="ellipse">
            <a:avLst/>
          </a:prstGeom>
          <a:solidFill>
            <a:srgbClr val="1E2761"/>
          </a:solidFill>
          <a:ln/>
        </p:spPr>
      </p:sp>
      <p:pic>
        <p:nvPicPr>
          <p:cNvPr id="16" name="Image 2" descr="/home/claude/bpo_summary/icons/alert_white.png">    </p:cNvPr>
          <p:cNvPicPr>
            <a:picLocks noChangeAspect="1"/>
          </p:cNvPicPr>
          <p:nvPr/>
        </p:nvPicPr>
        <p:blipFill>
          <a:blip r:embed="rId3"/>
          <a:stretch>
            <a:fillRect/>
          </a:stretch>
        </p:blipFill>
        <p:spPr>
          <a:xfrm>
            <a:off x="8552200" y="1986808"/>
            <a:ext cx="342351" cy="342351"/>
          </a:xfrm>
          <a:prstGeom prst="rect">
            <a:avLst/>
          </a:prstGeom>
        </p:spPr>
      </p:pic>
      <p:sp>
        <p:nvSpPr>
          <p:cNvPr id="17" name="Text 12"/>
          <p:cNvSpPr/>
          <p:nvPr/>
        </p:nvSpPr>
        <p:spPr>
          <a:xfrm>
            <a:off x="9262872" y="1828800"/>
            <a:ext cx="2240280" cy="777240"/>
          </a:xfrm>
          <a:prstGeom prst="rect">
            <a:avLst/>
          </a:prstGeom>
          <a:noFill/>
          <a:ln/>
        </p:spPr>
        <p:txBody>
          <a:bodyPr wrap="square" lIns="0" tIns="0" rIns="0" bIns="0" rtlCol="0" anchor="ctr"/>
          <a:lstStyle/>
          <a:p>
            <a:pPr indent="0" marL="0">
              <a:lnSpc>
                <a:spcPct val="115000"/>
              </a:lnSpc>
              <a:buNone/>
            </a:pPr>
            <a:r>
              <a:rPr lang="en-US" sz="1450" b="1" dirty="0">
                <a:solidFill>
                  <a:srgbClr val="1E2761"/>
                </a:solidFill>
                <a:latin typeface="Yu Gothic" pitchFamily="34" charset="0"/>
                <a:ea typeface="Yu Gothic" pitchFamily="34" charset="-122"/>
                <a:cs typeface="Yu Gothic" pitchFamily="34" charset="-120"/>
              </a:rPr>
              <a:t>曖昧な記載を</a:t>
            </a:r>
            <a:endParaRPr lang="en-US" sz="1450" dirty="0"/>
          </a:p>
          <a:p>
            <a:pPr indent="0" marL="0">
              <a:lnSpc>
                <a:spcPct val="115000"/>
              </a:lnSpc>
              <a:buNone/>
            </a:pPr>
            <a:r>
              <a:rPr lang="en-US" sz="1450" b="1" dirty="0">
                <a:solidFill>
                  <a:srgbClr val="1E2761"/>
                </a:solidFill>
                <a:latin typeface="Yu Gothic" pitchFamily="34" charset="0"/>
                <a:ea typeface="Yu Gothic" pitchFamily="34" charset="-122"/>
                <a:cs typeface="Yu Gothic" pitchFamily="34" charset="-120"/>
              </a:rPr>
              <a:t>自動警告</a:t>
            </a:r>
            <a:endParaRPr lang="en-US" sz="1450" dirty="0"/>
          </a:p>
        </p:txBody>
      </p:sp>
      <p:sp>
        <p:nvSpPr>
          <p:cNvPr id="18" name="Text 13"/>
          <p:cNvSpPr/>
          <p:nvPr/>
        </p:nvSpPr>
        <p:spPr>
          <a:xfrm>
            <a:off x="8394192" y="2834640"/>
            <a:ext cx="2926080" cy="1325880"/>
          </a:xfrm>
          <a:prstGeom prst="rect">
            <a:avLst/>
          </a:prstGeom>
          <a:noFill/>
          <a:ln/>
        </p:spPr>
        <p:txBody>
          <a:bodyPr wrap="square" lIns="0" tIns="0" rIns="0" bIns="0" rtlCol="0" anchor="t"/>
          <a:lstStyle/>
          <a:p>
            <a:pPr indent="0" marL="0">
              <a:lnSpc>
                <a:spcPct val="130000"/>
              </a:lnSpc>
              <a:buNone/>
            </a:pPr>
            <a:r>
              <a:rPr lang="en-US" sz="1150" dirty="0">
                <a:solidFill>
                  <a:srgbClr val="1F2540"/>
                </a:solidFill>
                <a:latin typeface="Yu Gothic" pitchFamily="34" charset="0"/>
                <a:ea typeface="Yu Gothic" pitchFamily="34" charset="-122"/>
                <a:cs typeface="Yu Gothic" pitchFamily="34" charset="-120"/>
              </a:rPr>
              <a:t>「対応する」「処理する」だけの粗い記述を機械的に検出。変換精度のばらつき(懸念事項)を入口で抑える。</a:t>
            </a:r>
            <a:endParaRPr lang="en-US" sz="1150" dirty="0"/>
          </a:p>
        </p:txBody>
      </p:sp>
      <p:sp>
        <p:nvSpPr>
          <p:cNvPr id="19" name="Shape 14"/>
          <p:cNvSpPr/>
          <p:nvPr/>
        </p:nvSpPr>
        <p:spPr>
          <a:xfrm>
            <a:off x="548640" y="4754880"/>
            <a:ext cx="11091672" cy="1417320"/>
          </a:xfrm>
          <a:prstGeom prst="roundRect">
            <a:avLst>
              <a:gd name="adj" fmla="val 6452"/>
            </a:avLst>
          </a:prstGeom>
          <a:solidFill>
            <a:srgbClr val="CADCFC"/>
          </a:solidFill>
          <a:ln/>
        </p:spPr>
      </p:sp>
      <p:sp>
        <p:nvSpPr>
          <p:cNvPr id="20" name="Shape 15"/>
          <p:cNvSpPr/>
          <p:nvPr/>
        </p:nvSpPr>
        <p:spPr>
          <a:xfrm>
            <a:off x="914400" y="5138928"/>
            <a:ext cx="658368" cy="658368"/>
          </a:xfrm>
          <a:prstGeom prst="ellipse">
            <a:avLst/>
          </a:prstGeom>
          <a:solidFill>
            <a:srgbClr val="FFFFFF"/>
          </a:solidFill>
          <a:ln/>
        </p:spPr>
      </p:sp>
      <p:pic>
        <p:nvPicPr>
          <p:cNvPr id="21" name="Image 3" descr="/home/claude/bpo_summary/icons/sparkles_navy.png">    </p:cNvPr>
          <p:cNvPicPr>
            <a:picLocks noChangeAspect="1"/>
          </p:cNvPicPr>
          <p:nvPr/>
        </p:nvPicPr>
        <p:blipFill>
          <a:blip r:embed="rId4"/>
          <a:stretch>
            <a:fillRect/>
          </a:stretch>
        </p:blipFill>
        <p:spPr>
          <a:xfrm>
            <a:off x="1072408" y="5296936"/>
            <a:ext cx="342351" cy="342351"/>
          </a:xfrm>
          <a:prstGeom prst="rect">
            <a:avLst/>
          </a:prstGeom>
        </p:spPr>
      </p:pic>
      <p:sp>
        <p:nvSpPr>
          <p:cNvPr id="22" name="Text 16"/>
          <p:cNvSpPr/>
          <p:nvPr/>
        </p:nvSpPr>
        <p:spPr>
          <a:xfrm>
            <a:off x="1828800" y="4983480"/>
            <a:ext cx="9509760" cy="960120"/>
          </a:xfrm>
          <a:prstGeom prst="rect">
            <a:avLst/>
          </a:prstGeom>
          <a:noFill/>
          <a:ln/>
        </p:spPr>
        <p:txBody>
          <a:bodyPr wrap="square" lIns="0" tIns="0" rIns="0" bIns="0" rtlCol="0" anchor="ctr"/>
          <a:lstStyle/>
          <a:p>
            <a:pPr indent="0" marL="0">
              <a:lnSpc>
                <a:spcPct val="130000"/>
              </a:lnSpc>
              <a:buNone/>
            </a:pPr>
            <a:r>
              <a:rPr lang="en-US" sz="1400" b="1" dirty="0">
                <a:solidFill>
                  <a:srgbClr val="1E2761"/>
                </a:solidFill>
                <a:latin typeface="Yu Gothic" pitchFamily="34" charset="0"/>
                <a:ea typeface="Yu Gothic" pitchFamily="34" charset="-122"/>
                <a:cs typeface="Yu Gothic" pitchFamily="34" charset="-120"/>
              </a:rPr>
              <a:t>AI化の前段階で、業務の見える化・標準化・引き継ぎ資料化が完了する。
</a:t>
            </a:r>
            <a:pPr indent="0" marL="0">
              <a:lnSpc>
                <a:spcPct val="130000"/>
              </a:lnSpc>
              <a:buNone/>
            </a:pPr>
            <a:r>
              <a:rPr lang="en-US" sz="1200" dirty="0">
                <a:solidFill>
                  <a:srgbClr val="1F2540"/>
                </a:solidFill>
                <a:latin typeface="Yu Gothic" pitchFamily="34" charset="0"/>
                <a:ea typeface="Yu Gothic" pitchFamily="34" charset="-122"/>
                <a:cs typeface="Yu Gothic" pitchFamily="34" charset="-120"/>
              </a:rPr>
              <a:t>仮にAIを使わなくても組織に残る資産 ― これが本ツールの中核価値の一つ。</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566928"/>
          </a:xfrm>
          <a:prstGeom prst="rect">
            <a:avLst/>
          </a:prstGeom>
          <a:noFill/>
          <a:ln/>
        </p:spPr>
        <p:txBody>
          <a:bodyPr wrap="square" lIns="0" tIns="0" rIns="0" bIns="0" rtlCol="0" anchor="ctr"/>
          <a:lstStyle/>
          <a:p>
            <a:pPr algn="l" indent="0" marL="0">
              <a:buNone/>
            </a:pPr>
            <a:r>
              <a:rPr lang="en-US" sz="2600" b="1" dirty="0">
                <a:solidFill>
                  <a:srgbClr val="1E2761"/>
                </a:solidFill>
                <a:latin typeface="Yu Gothic" pitchFamily="34" charset="0"/>
                <a:ea typeface="Yu Gothic" pitchFamily="34" charset="-122"/>
                <a:cs typeface="Yu Gothic" pitchFamily="34" charset="-120"/>
              </a:rPr>
              <a:t>業務はこう書く ― Excel記入イメージ(例:部品受入検査)</a:t>
            </a:r>
            <a:endParaRPr lang="en-US" sz="2600" dirty="0"/>
          </a:p>
        </p:txBody>
      </p:sp>
      <p:sp>
        <p:nvSpPr>
          <p:cNvPr id="3" name="Text 1"/>
          <p:cNvSpPr/>
          <p:nvPr/>
        </p:nvSpPr>
        <p:spPr>
          <a:xfrm>
            <a:off x="548640" y="932688"/>
            <a:ext cx="11064240" cy="320040"/>
          </a:xfrm>
          <a:prstGeom prst="rect">
            <a:avLst/>
          </a:prstGeom>
          <a:noFill/>
          <a:ln/>
        </p:spPr>
        <p:txBody>
          <a:bodyPr wrap="square" lIns="0" tIns="0" rIns="0" bIns="0" rtlCol="0" anchor="ctr"/>
          <a:lstStyle/>
          <a:p>
            <a:pPr indent="0" marL="0">
              <a:buNone/>
            </a:pPr>
            <a:r>
              <a:rPr lang="en-US" sz="1250" dirty="0">
                <a:solidFill>
                  <a:srgbClr val="5B6478"/>
                </a:solidFill>
                <a:latin typeface="Yu Gothic" pitchFamily="34" charset="0"/>
                <a:ea typeface="Yu Gothic" pitchFamily="34" charset="-122"/>
                <a:cs typeface="Yu Gothic" pitchFamily="34" charset="-120"/>
              </a:rPr>
              <a:t>電機・電子業種サンプルより。1行=1ステップ、15列テンプレートから主要列を抜粋して例示。</a:t>
            </a:r>
            <a:endParaRPr lang="en-US" sz="1250" dirty="0"/>
          </a:p>
        </p:txBody>
      </p:sp>
      <p:sp>
        <p:nvSpPr>
          <p:cNvPr id="4" name="Shape 2"/>
          <p:cNvSpPr/>
          <p:nvPr/>
        </p:nvSpPr>
        <p:spPr>
          <a:xfrm>
            <a:off x="548640" y="1353312"/>
            <a:ext cx="777240" cy="365760"/>
          </a:xfrm>
          <a:prstGeom prst="rect">
            <a:avLst/>
          </a:prstGeom>
          <a:solidFill>
            <a:srgbClr val="1D6F42"/>
          </a:solidFill>
          <a:ln w="9525">
            <a:solidFill>
              <a:srgbClr val="FFFFFF"/>
            </a:solidFill>
            <a:prstDash val="solid"/>
          </a:ln>
        </p:spPr>
      </p:sp>
      <p:sp>
        <p:nvSpPr>
          <p:cNvPr id="5" name="Text 3"/>
          <p:cNvSpPr/>
          <p:nvPr/>
        </p:nvSpPr>
        <p:spPr>
          <a:xfrm>
            <a:off x="548640" y="1353312"/>
            <a:ext cx="77724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ステップID</a:t>
            </a:r>
            <a:endParaRPr lang="en-US" sz="900" dirty="0"/>
          </a:p>
        </p:txBody>
      </p:sp>
      <p:sp>
        <p:nvSpPr>
          <p:cNvPr id="6" name="Shape 4"/>
          <p:cNvSpPr/>
          <p:nvPr/>
        </p:nvSpPr>
        <p:spPr>
          <a:xfrm>
            <a:off x="1325880" y="1353312"/>
            <a:ext cx="1188720" cy="365760"/>
          </a:xfrm>
          <a:prstGeom prst="rect">
            <a:avLst/>
          </a:prstGeom>
          <a:solidFill>
            <a:srgbClr val="1D6F42"/>
          </a:solidFill>
          <a:ln w="9525">
            <a:solidFill>
              <a:srgbClr val="FFFFFF"/>
            </a:solidFill>
            <a:prstDash val="solid"/>
          </a:ln>
        </p:spPr>
      </p:sp>
      <p:sp>
        <p:nvSpPr>
          <p:cNvPr id="7" name="Text 5"/>
          <p:cNvSpPr/>
          <p:nvPr/>
        </p:nvSpPr>
        <p:spPr>
          <a:xfrm>
            <a:off x="1325880" y="1353312"/>
            <a:ext cx="118872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ステップ名</a:t>
            </a:r>
            <a:endParaRPr lang="en-US" sz="900" dirty="0"/>
          </a:p>
        </p:txBody>
      </p:sp>
      <p:sp>
        <p:nvSpPr>
          <p:cNvPr id="8" name="Shape 6"/>
          <p:cNvSpPr/>
          <p:nvPr/>
        </p:nvSpPr>
        <p:spPr>
          <a:xfrm>
            <a:off x="2514600" y="1353312"/>
            <a:ext cx="2788920" cy="365760"/>
          </a:xfrm>
          <a:prstGeom prst="rect">
            <a:avLst/>
          </a:prstGeom>
          <a:solidFill>
            <a:srgbClr val="1D6F42"/>
          </a:solidFill>
          <a:ln w="9525">
            <a:solidFill>
              <a:srgbClr val="FFFFFF"/>
            </a:solidFill>
            <a:prstDash val="solid"/>
          </a:ln>
        </p:spPr>
      </p:sp>
      <p:sp>
        <p:nvSpPr>
          <p:cNvPr id="9" name="Text 7"/>
          <p:cNvSpPr/>
          <p:nvPr/>
        </p:nvSpPr>
        <p:spPr>
          <a:xfrm>
            <a:off x="2514600" y="1353312"/>
            <a:ext cx="278892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処理内容</a:t>
            </a:r>
            <a:endParaRPr lang="en-US" sz="900" dirty="0"/>
          </a:p>
        </p:txBody>
      </p:sp>
      <p:sp>
        <p:nvSpPr>
          <p:cNvPr id="10" name="Shape 8"/>
          <p:cNvSpPr/>
          <p:nvPr/>
        </p:nvSpPr>
        <p:spPr>
          <a:xfrm>
            <a:off x="5303520" y="1353312"/>
            <a:ext cx="731520" cy="365760"/>
          </a:xfrm>
          <a:prstGeom prst="rect">
            <a:avLst/>
          </a:prstGeom>
          <a:solidFill>
            <a:srgbClr val="1D6F42"/>
          </a:solidFill>
          <a:ln w="9525">
            <a:solidFill>
              <a:srgbClr val="FFFFFF"/>
            </a:solidFill>
            <a:prstDash val="solid"/>
          </a:ln>
        </p:spPr>
      </p:sp>
      <p:sp>
        <p:nvSpPr>
          <p:cNvPr id="11" name="Text 9"/>
          <p:cNvSpPr/>
          <p:nvPr/>
        </p:nvSpPr>
        <p:spPr>
          <a:xfrm>
            <a:off x="5303520" y="1353312"/>
            <a:ext cx="73152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実行主体</a:t>
            </a:r>
            <a:endParaRPr lang="en-US" sz="900" dirty="0"/>
          </a:p>
        </p:txBody>
      </p:sp>
      <p:sp>
        <p:nvSpPr>
          <p:cNvPr id="12" name="Shape 10"/>
          <p:cNvSpPr/>
          <p:nvPr/>
        </p:nvSpPr>
        <p:spPr>
          <a:xfrm>
            <a:off x="6035040" y="1353312"/>
            <a:ext cx="2240280" cy="365760"/>
          </a:xfrm>
          <a:prstGeom prst="rect">
            <a:avLst/>
          </a:prstGeom>
          <a:solidFill>
            <a:srgbClr val="1D6F42"/>
          </a:solidFill>
          <a:ln w="9525">
            <a:solidFill>
              <a:srgbClr val="FFFFFF"/>
            </a:solidFill>
            <a:prstDash val="solid"/>
          </a:ln>
        </p:spPr>
      </p:sp>
      <p:sp>
        <p:nvSpPr>
          <p:cNvPr id="13" name="Text 11"/>
          <p:cNvSpPr/>
          <p:nvPr/>
        </p:nvSpPr>
        <p:spPr>
          <a:xfrm>
            <a:off x="6035040" y="1353312"/>
            <a:ext cx="224028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判断基準</a:t>
            </a:r>
            <a:endParaRPr lang="en-US" sz="900" dirty="0"/>
          </a:p>
        </p:txBody>
      </p:sp>
      <p:sp>
        <p:nvSpPr>
          <p:cNvPr id="14" name="Shape 12"/>
          <p:cNvSpPr/>
          <p:nvPr/>
        </p:nvSpPr>
        <p:spPr>
          <a:xfrm>
            <a:off x="8275320" y="1353312"/>
            <a:ext cx="1874520" cy="365760"/>
          </a:xfrm>
          <a:prstGeom prst="rect">
            <a:avLst/>
          </a:prstGeom>
          <a:solidFill>
            <a:srgbClr val="1D6F42"/>
          </a:solidFill>
          <a:ln w="9525">
            <a:solidFill>
              <a:srgbClr val="FFFFFF"/>
            </a:solidFill>
            <a:prstDash val="solid"/>
          </a:ln>
        </p:spPr>
      </p:sp>
      <p:sp>
        <p:nvSpPr>
          <p:cNvPr id="15" name="Text 13"/>
          <p:cNvSpPr/>
          <p:nvPr/>
        </p:nvSpPr>
        <p:spPr>
          <a:xfrm>
            <a:off x="8275320" y="1353312"/>
            <a:ext cx="187452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完了判定条件</a:t>
            </a:r>
            <a:endParaRPr lang="en-US" sz="900" dirty="0"/>
          </a:p>
        </p:txBody>
      </p:sp>
      <p:sp>
        <p:nvSpPr>
          <p:cNvPr id="16" name="Shape 14"/>
          <p:cNvSpPr/>
          <p:nvPr/>
        </p:nvSpPr>
        <p:spPr>
          <a:xfrm>
            <a:off x="10149840" y="1353312"/>
            <a:ext cx="914400" cy="365760"/>
          </a:xfrm>
          <a:prstGeom prst="rect">
            <a:avLst/>
          </a:prstGeom>
          <a:solidFill>
            <a:srgbClr val="1D6F42"/>
          </a:solidFill>
          <a:ln w="9525">
            <a:solidFill>
              <a:srgbClr val="FFFFFF"/>
            </a:solidFill>
            <a:prstDash val="solid"/>
          </a:ln>
        </p:spPr>
      </p:sp>
      <p:sp>
        <p:nvSpPr>
          <p:cNvPr id="17" name="Text 15"/>
          <p:cNvSpPr/>
          <p:nvPr/>
        </p:nvSpPr>
        <p:spPr>
          <a:xfrm>
            <a:off x="10149840" y="1353312"/>
            <a:ext cx="91440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次ステップ</a:t>
            </a:r>
            <a:endParaRPr lang="en-US" sz="900" dirty="0"/>
          </a:p>
        </p:txBody>
      </p:sp>
      <p:sp>
        <p:nvSpPr>
          <p:cNvPr id="18" name="Shape 16"/>
          <p:cNvSpPr/>
          <p:nvPr/>
        </p:nvSpPr>
        <p:spPr>
          <a:xfrm>
            <a:off x="11064240" y="1353312"/>
            <a:ext cx="576072" cy="365760"/>
          </a:xfrm>
          <a:prstGeom prst="rect">
            <a:avLst/>
          </a:prstGeom>
          <a:solidFill>
            <a:srgbClr val="1D6F42"/>
          </a:solidFill>
          <a:ln w="9525">
            <a:solidFill>
              <a:srgbClr val="FFFFFF"/>
            </a:solidFill>
            <a:prstDash val="solid"/>
          </a:ln>
        </p:spPr>
      </p:sp>
      <p:sp>
        <p:nvSpPr>
          <p:cNvPr id="19" name="Text 17"/>
          <p:cNvSpPr/>
          <p:nvPr/>
        </p:nvSpPr>
        <p:spPr>
          <a:xfrm>
            <a:off x="11064240" y="1353312"/>
            <a:ext cx="576072"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人間確認</a:t>
            </a:r>
            <a:endParaRPr lang="en-US" sz="900" dirty="0"/>
          </a:p>
        </p:txBody>
      </p:sp>
      <p:sp>
        <p:nvSpPr>
          <p:cNvPr id="20" name="Shape 18"/>
          <p:cNvSpPr/>
          <p:nvPr/>
        </p:nvSpPr>
        <p:spPr>
          <a:xfrm>
            <a:off x="548640" y="1719072"/>
            <a:ext cx="777240" cy="841248"/>
          </a:xfrm>
          <a:prstGeom prst="rect">
            <a:avLst/>
          </a:prstGeom>
          <a:solidFill>
            <a:srgbClr val="FFFFFF"/>
          </a:solidFill>
          <a:ln w="9525">
            <a:solidFill>
              <a:srgbClr val="C9D2E0"/>
            </a:solidFill>
            <a:prstDash val="solid"/>
          </a:ln>
        </p:spPr>
      </p:sp>
      <p:sp>
        <p:nvSpPr>
          <p:cNvPr id="21" name="Text 19"/>
          <p:cNvSpPr/>
          <p:nvPr/>
        </p:nvSpPr>
        <p:spPr>
          <a:xfrm>
            <a:off x="585216" y="1719072"/>
            <a:ext cx="704088" cy="841248"/>
          </a:xfrm>
          <a:prstGeom prst="rect">
            <a:avLst/>
          </a:prstGeom>
          <a:noFill/>
          <a:ln/>
        </p:spPr>
        <p:txBody>
          <a:bodyPr wrap="square" lIns="0" tIns="0" rIns="0" bIns="0" rtlCol="0" anchor="ctr"/>
          <a:lstStyle/>
          <a:p>
            <a:pPr algn="ctr" indent="0" marL="0">
              <a:lnSpc>
                <a:spcPct val="112000"/>
              </a:lnSpc>
              <a:buNone/>
            </a:pPr>
            <a:r>
              <a:rPr lang="en-US" sz="800" b="1" dirty="0">
                <a:solidFill>
                  <a:srgbClr val="1F2540"/>
                </a:solidFill>
                <a:latin typeface="Yu Gothic" pitchFamily="34" charset="0"/>
                <a:ea typeface="Yu Gothic" pitchFamily="34" charset="-122"/>
                <a:cs typeface="Yu Gothic" pitchFamily="34" charset="-120"/>
              </a:rPr>
              <a:t>S02</a:t>
            </a:r>
            <a:endParaRPr lang="en-US" sz="800" dirty="0"/>
          </a:p>
        </p:txBody>
      </p:sp>
      <p:sp>
        <p:nvSpPr>
          <p:cNvPr id="22" name="Shape 20"/>
          <p:cNvSpPr/>
          <p:nvPr/>
        </p:nvSpPr>
        <p:spPr>
          <a:xfrm>
            <a:off x="1325880" y="1719072"/>
            <a:ext cx="1188720" cy="841248"/>
          </a:xfrm>
          <a:prstGeom prst="rect">
            <a:avLst/>
          </a:prstGeom>
          <a:solidFill>
            <a:srgbClr val="FFFFFF"/>
          </a:solidFill>
          <a:ln w="9525">
            <a:solidFill>
              <a:srgbClr val="C9D2E0"/>
            </a:solidFill>
            <a:prstDash val="solid"/>
          </a:ln>
        </p:spPr>
      </p:sp>
      <p:sp>
        <p:nvSpPr>
          <p:cNvPr id="23" name="Text 21"/>
          <p:cNvSpPr/>
          <p:nvPr/>
        </p:nvSpPr>
        <p:spPr>
          <a:xfrm>
            <a:off x="1362456" y="1719072"/>
            <a:ext cx="1115568" cy="841248"/>
          </a:xfrm>
          <a:prstGeom prst="rect">
            <a:avLst/>
          </a:prstGeom>
          <a:noFill/>
          <a:ln/>
        </p:spPr>
        <p:txBody>
          <a:bodyPr wrap="square" lIns="0" tIns="0" rIns="0" bIns="0" rtlCol="0" anchor="ctr"/>
          <a:lstStyle/>
          <a:p>
            <a:pPr algn="l" indent="0" marL="0">
              <a:lnSpc>
                <a:spcPct val="112000"/>
              </a:lnSpc>
              <a:buNone/>
            </a:pPr>
            <a:r>
              <a:rPr lang="en-US" sz="800" dirty="0">
                <a:solidFill>
                  <a:srgbClr val="1F2540"/>
                </a:solidFill>
                <a:latin typeface="Yu Gothic" pitchFamily="34" charset="0"/>
                <a:ea typeface="Yu Gothic" pitchFamily="34" charset="-122"/>
                <a:cs typeface="Yu Gothic" pitchFamily="34" charset="-120"/>
              </a:rPr>
              <a:t>抜取サンプリング</a:t>
            </a:r>
            <a:endParaRPr lang="en-US" sz="800" dirty="0"/>
          </a:p>
        </p:txBody>
      </p:sp>
      <p:sp>
        <p:nvSpPr>
          <p:cNvPr id="24" name="Shape 22"/>
          <p:cNvSpPr/>
          <p:nvPr/>
        </p:nvSpPr>
        <p:spPr>
          <a:xfrm>
            <a:off x="2514600" y="1719072"/>
            <a:ext cx="2788920" cy="841248"/>
          </a:xfrm>
          <a:prstGeom prst="rect">
            <a:avLst/>
          </a:prstGeom>
          <a:solidFill>
            <a:srgbClr val="FFFFFF"/>
          </a:solidFill>
          <a:ln w="9525">
            <a:solidFill>
              <a:srgbClr val="C9D2E0"/>
            </a:solidFill>
            <a:prstDash val="solid"/>
          </a:ln>
        </p:spPr>
      </p:sp>
      <p:sp>
        <p:nvSpPr>
          <p:cNvPr id="25" name="Text 23"/>
          <p:cNvSpPr/>
          <p:nvPr/>
        </p:nvSpPr>
        <p:spPr>
          <a:xfrm>
            <a:off x="2551176" y="1719072"/>
            <a:ext cx="2715768" cy="841248"/>
          </a:xfrm>
          <a:prstGeom prst="rect">
            <a:avLst/>
          </a:prstGeom>
          <a:noFill/>
          <a:ln/>
        </p:spPr>
        <p:txBody>
          <a:bodyPr wrap="square" lIns="0" tIns="0" rIns="0" bIns="0" rtlCol="0" anchor="ctr"/>
          <a:lstStyle/>
          <a:p>
            <a:pPr algn="l" indent="0" marL="0">
              <a:lnSpc>
                <a:spcPct val="112000"/>
              </a:lnSpc>
              <a:buNone/>
            </a:pPr>
            <a:r>
              <a:rPr lang="en-US" sz="800" dirty="0">
                <a:solidFill>
                  <a:srgbClr val="1F2540"/>
                </a:solidFill>
                <a:latin typeface="Yu Gothic" pitchFamily="34" charset="0"/>
                <a:ea typeface="Yu Gothic" pitchFamily="34" charset="-122"/>
                <a:cs typeface="Yu Gothic" pitchFamily="34" charset="-120"/>
              </a:rPr>
              <a:t>受入ロットからAQL抜取基準表に従いサンプルを抜き取り、現品票に数量を記録する</a:t>
            </a:r>
            <a:endParaRPr lang="en-US" sz="800" dirty="0"/>
          </a:p>
        </p:txBody>
      </p:sp>
      <p:sp>
        <p:nvSpPr>
          <p:cNvPr id="26" name="Shape 24"/>
          <p:cNvSpPr/>
          <p:nvPr/>
        </p:nvSpPr>
        <p:spPr>
          <a:xfrm>
            <a:off x="5303520" y="1719072"/>
            <a:ext cx="731520" cy="841248"/>
          </a:xfrm>
          <a:prstGeom prst="rect">
            <a:avLst/>
          </a:prstGeom>
          <a:solidFill>
            <a:srgbClr val="FFFFFF"/>
          </a:solidFill>
          <a:ln w="9525">
            <a:solidFill>
              <a:srgbClr val="C9D2E0"/>
            </a:solidFill>
            <a:prstDash val="solid"/>
          </a:ln>
        </p:spPr>
      </p:sp>
      <p:sp>
        <p:nvSpPr>
          <p:cNvPr id="27" name="Text 25"/>
          <p:cNvSpPr/>
          <p:nvPr/>
        </p:nvSpPr>
        <p:spPr>
          <a:xfrm>
            <a:off x="5340096" y="1719072"/>
            <a:ext cx="658368" cy="841248"/>
          </a:xfrm>
          <a:prstGeom prst="rect">
            <a:avLst/>
          </a:prstGeom>
          <a:noFill/>
          <a:ln/>
        </p:spPr>
        <p:txBody>
          <a:bodyPr wrap="square" lIns="0" tIns="0" rIns="0" bIns="0" rtlCol="0" anchor="ctr"/>
          <a:lstStyle/>
          <a:p>
            <a:pPr algn="ctr" indent="0" marL="0">
              <a:lnSpc>
                <a:spcPct val="112000"/>
              </a:lnSpc>
              <a:buNone/>
            </a:pPr>
            <a:r>
              <a:rPr lang="en-US" sz="800" dirty="0">
                <a:solidFill>
                  <a:srgbClr val="1F2540"/>
                </a:solidFill>
                <a:latin typeface="Yu Gothic" pitchFamily="34" charset="0"/>
                <a:ea typeface="Yu Gothic" pitchFamily="34" charset="-122"/>
                <a:cs typeface="Yu Gothic" pitchFamily="34" charset="-120"/>
              </a:rPr>
              <a:t>人</a:t>
            </a:r>
            <a:endParaRPr lang="en-US" sz="800" dirty="0"/>
          </a:p>
        </p:txBody>
      </p:sp>
      <p:sp>
        <p:nvSpPr>
          <p:cNvPr id="28" name="Shape 26"/>
          <p:cNvSpPr/>
          <p:nvPr/>
        </p:nvSpPr>
        <p:spPr>
          <a:xfrm>
            <a:off x="6035040" y="1719072"/>
            <a:ext cx="2240280" cy="841248"/>
          </a:xfrm>
          <a:prstGeom prst="rect">
            <a:avLst/>
          </a:prstGeom>
          <a:solidFill>
            <a:srgbClr val="FFFFFF"/>
          </a:solidFill>
          <a:ln w="9525">
            <a:solidFill>
              <a:srgbClr val="C9D2E0"/>
            </a:solidFill>
            <a:prstDash val="solid"/>
          </a:ln>
        </p:spPr>
      </p:sp>
      <p:sp>
        <p:nvSpPr>
          <p:cNvPr id="29" name="Text 27"/>
          <p:cNvSpPr/>
          <p:nvPr/>
        </p:nvSpPr>
        <p:spPr>
          <a:xfrm>
            <a:off x="6071616" y="1719072"/>
            <a:ext cx="2167128" cy="841248"/>
          </a:xfrm>
          <a:prstGeom prst="rect">
            <a:avLst/>
          </a:prstGeom>
          <a:noFill/>
          <a:ln/>
        </p:spPr>
        <p:txBody>
          <a:bodyPr wrap="square" lIns="0" tIns="0" rIns="0" bIns="0" rtlCol="0" anchor="ctr"/>
          <a:lstStyle/>
          <a:p>
            <a:pPr algn="l" indent="0" marL="0">
              <a:lnSpc>
                <a:spcPct val="112000"/>
              </a:lnSpc>
              <a:buNone/>
            </a:pPr>
            <a:r>
              <a:rPr lang="en-US" sz="800" dirty="0">
                <a:solidFill>
                  <a:srgbClr val="1F2540"/>
                </a:solidFill>
                <a:latin typeface="Yu Gothic" pitchFamily="34" charset="0"/>
                <a:ea typeface="Yu Gothic" pitchFamily="34" charset="-122"/>
                <a:cs typeface="Yu Gothic" pitchFamily="34" charset="-120"/>
              </a:rPr>
              <a:t>ロットサイズに応じた抜取数(AQL 1.0)</a:t>
            </a:r>
            <a:endParaRPr lang="en-US" sz="800" dirty="0"/>
          </a:p>
        </p:txBody>
      </p:sp>
      <p:sp>
        <p:nvSpPr>
          <p:cNvPr id="30" name="Shape 28"/>
          <p:cNvSpPr/>
          <p:nvPr/>
        </p:nvSpPr>
        <p:spPr>
          <a:xfrm>
            <a:off x="8275320" y="1719072"/>
            <a:ext cx="1874520" cy="841248"/>
          </a:xfrm>
          <a:prstGeom prst="rect">
            <a:avLst/>
          </a:prstGeom>
          <a:solidFill>
            <a:srgbClr val="FFFFFF"/>
          </a:solidFill>
          <a:ln w="9525">
            <a:solidFill>
              <a:srgbClr val="C9D2E0"/>
            </a:solidFill>
            <a:prstDash val="solid"/>
          </a:ln>
        </p:spPr>
      </p:sp>
      <p:sp>
        <p:nvSpPr>
          <p:cNvPr id="31" name="Text 29"/>
          <p:cNvSpPr/>
          <p:nvPr/>
        </p:nvSpPr>
        <p:spPr>
          <a:xfrm>
            <a:off x="8311896" y="1719072"/>
            <a:ext cx="1801368" cy="841248"/>
          </a:xfrm>
          <a:prstGeom prst="rect">
            <a:avLst/>
          </a:prstGeom>
          <a:noFill/>
          <a:ln/>
        </p:spPr>
        <p:txBody>
          <a:bodyPr wrap="square" lIns="0" tIns="0" rIns="0" bIns="0" rtlCol="0" anchor="ctr"/>
          <a:lstStyle/>
          <a:p>
            <a:pPr algn="l" indent="0" marL="0">
              <a:lnSpc>
                <a:spcPct val="112000"/>
              </a:lnSpc>
              <a:buNone/>
            </a:pPr>
            <a:r>
              <a:rPr lang="en-US" sz="800" dirty="0">
                <a:solidFill>
                  <a:srgbClr val="1F2540"/>
                </a:solidFill>
                <a:latin typeface="Yu Gothic" pitchFamily="34" charset="0"/>
                <a:ea typeface="Yu Gothic" pitchFamily="34" charset="-122"/>
                <a:cs typeface="Yu Gothic" pitchFamily="34" charset="-120"/>
              </a:rPr>
              <a:t>現品票に抜取数が記録済み</a:t>
            </a:r>
            <a:endParaRPr lang="en-US" sz="800" dirty="0"/>
          </a:p>
        </p:txBody>
      </p:sp>
      <p:sp>
        <p:nvSpPr>
          <p:cNvPr id="32" name="Shape 30"/>
          <p:cNvSpPr/>
          <p:nvPr/>
        </p:nvSpPr>
        <p:spPr>
          <a:xfrm>
            <a:off x="10149840" y="1719072"/>
            <a:ext cx="914400" cy="841248"/>
          </a:xfrm>
          <a:prstGeom prst="rect">
            <a:avLst/>
          </a:prstGeom>
          <a:solidFill>
            <a:srgbClr val="FFFFFF"/>
          </a:solidFill>
          <a:ln w="9525">
            <a:solidFill>
              <a:srgbClr val="C9D2E0"/>
            </a:solidFill>
            <a:prstDash val="solid"/>
          </a:ln>
        </p:spPr>
      </p:sp>
      <p:sp>
        <p:nvSpPr>
          <p:cNvPr id="33" name="Text 31"/>
          <p:cNvSpPr/>
          <p:nvPr/>
        </p:nvSpPr>
        <p:spPr>
          <a:xfrm>
            <a:off x="10186416" y="1719072"/>
            <a:ext cx="841248" cy="841248"/>
          </a:xfrm>
          <a:prstGeom prst="rect">
            <a:avLst/>
          </a:prstGeom>
          <a:noFill/>
          <a:ln/>
        </p:spPr>
        <p:txBody>
          <a:bodyPr wrap="square" lIns="0" tIns="0" rIns="0" bIns="0" rtlCol="0" anchor="ctr"/>
          <a:lstStyle/>
          <a:p>
            <a:pPr algn="ctr" indent="0" marL="0">
              <a:lnSpc>
                <a:spcPct val="112000"/>
              </a:lnSpc>
              <a:buNone/>
            </a:pPr>
            <a:r>
              <a:rPr lang="en-US" sz="800" dirty="0">
                <a:solidFill>
                  <a:srgbClr val="1F2540"/>
                </a:solidFill>
                <a:latin typeface="Yu Gothic" pitchFamily="34" charset="0"/>
                <a:ea typeface="Yu Gothic" pitchFamily="34" charset="-122"/>
                <a:cs typeface="Yu Gothic" pitchFamily="34" charset="-120"/>
              </a:rPr>
              <a:t>S03</a:t>
            </a:r>
            <a:endParaRPr lang="en-US" sz="800" dirty="0"/>
          </a:p>
        </p:txBody>
      </p:sp>
      <p:sp>
        <p:nvSpPr>
          <p:cNvPr id="34" name="Shape 32"/>
          <p:cNvSpPr/>
          <p:nvPr/>
        </p:nvSpPr>
        <p:spPr>
          <a:xfrm>
            <a:off x="11064240" y="1719072"/>
            <a:ext cx="576072" cy="841248"/>
          </a:xfrm>
          <a:prstGeom prst="rect">
            <a:avLst/>
          </a:prstGeom>
          <a:solidFill>
            <a:srgbClr val="FFFFFF"/>
          </a:solidFill>
          <a:ln w="9525">
            <a:solidFill>
              <a:srgbClr val="C9D2E0"/>
            </a:solidFill>
            <a:prstDash val="solid"/>
          </a:ln>
        </p:spPr>
      </p:sp>
      <p:sp>
        <p:nvSpPr>
          <p:cNvPr id="35" name="Text 33"/>
          <p:cNvSpPr/>
          <p:nvPr/>
        </p:nvSpPr>
        <p:spPr>
          <a:xfrm>
            <a:off x="11100816" y="1719072"/>
            <a:ext cx="502920" cy="841248"/>
          </a:xfrm>
          <a:prstGeom prst="rect">
            <a:avLst/>
          </a:prstGeom>
          <a:noFill/>
          <a:ln/>
        </p:spPr>
        <p:txBody>
          <a:bodyPr wrap="square" lIns="0" tIns="0" rIns="0" bIns="0" rtlCol="0" anchor="ctr"/>
          <a:lstStyle/>
          <a:p>
            <a:pPr algn="ctr" indent="0" marL="0">
              <a:lnSpc>
                <a:spcPct val="112000"/>
              </a:lnSpc>
              <a:buNone/>
            </a:pPr>
            <a:r>
              <a:rPr lang="en-US" sz="800" dirty="0">
                <a:solidFill>
                  <a:srgbClr val="1F2540"/>
                </a:solidFill>
                <a:latin typeface="Yu Gothic" pitchFamily="34" charset="0"/>
                <a:ea typeface="Yu Gothic" pitchFamily="34" charset="-122"/>
                <a:cs typeface="Yu Gothic" pitchFamily="34" charset="-120"/>
              </a:rPr>
              <a:t>FALSE</a:t>
            </a:r>
            <a:endParaRPr lang="en-US" sz="800" dirty="0"/>
          </a:p>
        </p:txBody>
      </p:sp>
      <p:sp>
        <p:nvSpPr>
          <p:cNvPr id="36" name="Shape 34"/>
          <p:cNvSpPr/>
          <p:nvPr/>
        </p:nvSpPr>
        <p:spPr>
          <a:xfrm>
            <a:off x="548640" y="2560320"/>
            <a:ext cx="777240" cy="841248"/>
          </a:xfrm>
          <a:prstGeom prst="rect">
            <a:avLst/>
          </a:prstGeom>
          <a:solidFill>
            <a:srgbClr val="F5F8FC"/>
          </a:solidFill>
          <a:ln w="9525">
            <a:solidFill>
              <a:srgbClr val="C9D2E0"/>
            </a:solidFill>
            <a:prstDash val="solid"/>
          </a:ln>
        </p:spPr>
      </p:sp>
      <p:sp>
        <p:nvSpPr>
          <p:cNvPr id="37" name="Text 35"/>
          <p:cNvSpPr/>
          <p:nvPr/>
        </p:nvSpPr>
        <p:spPr>
          <a:xfrm>
            <a:off x="585216" y="2560320"/>
            <a:ext cx="704088" cy="841248"/>
          </a:xfrm>
          <a:prstGeom prst="rect">
            <a:avLst/>
          </a:prstGeom>
          <a:noFill/>
          <a:ln/>
        </p:spPr>
        <p:txBody>
          <a:bodyPr wrap="square" lIns="0" tIns="0" rIns="0" bIns="0" rtlCol="0" anchor="ctr"/>
          <a:lstStyle/>
          <a:p>
            <a:pPr algn="ctr" indent="0" marL="0">
              <a:lnSpc>
                <a:spcPct val="112000"/>
              </a:lnSpc>
              <a:buNone/>
            </a:pPr>
            <a:r>
              <a:rPr lang="en-US" sz="800" b="1" dirty="0">
                <a:solidFill>
                  <a:srgbClr val="1F2540"/>
                </a:solidFill>
                <a:latin typeface="Yu Gothic" pitchFamily="34" charset="0"/>
                <a:ea typeface="Yu Gothic" pitchFamily="34" charset="-122"/>
                <a:cs typeface="Yu Gothic" pitchFamily="34" charset="-120"/>
              </a:rPr>
              <a:t>S03</a:t>
            </a:r>
            <a:endParaRPr lang="en-US" sz="800" dirty="0"/>
          </a:p>
        </p:txBody>
      </p:sp>
      <p:sp>
        <p:nvSpPr>
          <p:cNvPr id="38" name="Shape 36"/>
          <p:cNvSpPr/>
          <p:nvPr/>
        </p:nvSpPr>
        <p:spPr>
          <a:xfrm>
            <a:off x="1325880" y="2560320"/>
            <a:ext cx="1188720" cy="841248"/>
          </a:xfrm>
          <a:prstGeom prst="rect">
            <a:avLst/>
          </a:prstGeom>
          <a:solidFill>
            <a:srgbClr val="F5F8FC"/>
          </a:solidFill>
          <a:ln w="9525">
            <a:solidFill>
              <a:srgbClr val="C9D2E0"/>
            </a:solidFill>
            <a:prstDash val="solid"/>
          </a:ln>
        </p:spPr>
      </p:sp>
      <p:sp>
        <p:nvSpPr>
          <p:cNvPr id="39" name="Text 37"/>
          <p:cNvSpPr/>
          <p:nvPr/>
        </p:nvSpPr>
        <p:spPr>
          <a:xfrm>
            <a:off x="1362456" y="2560320"/>
            <a:ext cx="1115568" cy="841248"/>
          </a:xfrm>
          <a:prstGeom prst="rect">
            <a:avLst/>
          </a:prstGeom>
          <a:noFill/>
          <a:ln/>
        </p:spPr>
        <p:txBody>
          <a:bodyPr wrap="square" lIns="0" tIns="0" rIns="0" bIns="0" rtlCol="0" anchor="ctr"/>
          <a:lstStyle/>
          <a:p>
            <a:pPr algn="l" indent="0" marL="0">
              <a:lnSpc>
                <a:spcPct val="112000"/>
              </a:lnSpc>
              <a:buNone/>
            </a:pPr>
            <a:r>
              <a:rPr lang="en-US" sz="800" dirty="0">
                <a:solidFill>
                  <a:srgbClr val="1F2540"/>
                </a:solidFill>
                <a:latin typeface="Yu Gothic" pitchFamily="34" charset="0"/>
                <a:ea typeface="Yu Gothic" pitchFamily="34" charset="-122"/>
                <a:cs typeface="Yu Gothic" pitchFamily="34" charset="-120"/>
              </a:rPr>
              <a:t>受入検査(照合)</a:t>
            </a:r>
            <a:endParaRPr lang="en-US" sz="800" dirty="0"/>
          </a:p>
        </p:txBody>
      </p:sp>
      <p:sp>
        <p:nvSpPr>
          <p:cNvPr id="40" name="Shape 38"/>
          <p:cNvSpPr/>
          <p:nvPr/>
        </p:nvSpPr>
        <p:spPr>
          <a:xfrm>
            <a:off x="2514600" y="2560320"/>
            <a:ext cx="2788920" cy="841248"/>
          </a:xfrm>
          <a:prstGeom prst="rect">
            <a:avLst/>
          </a:prstGeom>
          <a:solidFill>
            <a:srgbClr val="F5F8FC"/>
          </a:solidFill>
          <a:ln w="9525">
            <a:solidFill>
              <a:srgbClr val="C9D2E0"/>
            </a:solidFill>
            <a:prstDash val="solid"/>
          </a:ln>
        </p:spPr>
      </p:sp>
      <p:sp>
        <p:nvSpPr>
          <p:cNvPr id="41" name="Text 39"/>
          <p:cNvSpPr/>
          <p:nvPr/>
        </p:nvSpPr>
        <p:spPr>
          <a:xfrm>
            <a:off x="2551176" y="2560320"/>
            <a:ext cx="2715768" cy="841248"/>
          </a:xfrm>
          <a:prstGeom prst="rect">
            <a:avLst/>
          </a:prstGeom>
          <a:noFill/>
          <a:ln/>
        </p:spPr>
        <p:txBody>
          <a:bodyPr wrap="square" lIns="0" tIns="0" rIns="0" bIns="0" rtlCol="0" anchor="ctr"/>
          <a:lstStyle/>
          <a:p>
            <a:pPr algn="l" indent="0" marL="0">
              <a:lnSpc>
                <a:spcPct val="112000"/>
              </a:lnSpc>
              <a:buNone/>
            </a:pPr>
            <a:r>
              <a:rPr lang="en-US" sz="800" dirty="0">
                <a:solidFill>
                  <a:srgbClr val="1F2540"/>
                </a:solidFill>
                <a:latin typeface="Yu Gothic" pitchFamily="34" charset="0"/>
                <a:ea typeface="Yu Gothic" pitchFamily="34" charset="-122"/>
                <a:cs typeface="Yu Gothic" pitchFamily="34" charset="-120"/>
              </a:rPr>
              <a:t>検査成績書の測定値を検査基準書の規格値と照合し、全項目の合否を記入する</a:t>
            </a:r>
            <a:endParaRPr lang="en-US" sz="800" dirty="0"/>
          </a:p>
        </p:txBody>
      </p:sp>
      <p:sp>
        <p:nvSpPr>
          <p:cNvPr id="42" name="Shape 40"/>
          <p:cNvSpPr/>
          <p:nvPr/>
        </p:nvSpPr>
        <p:spPr>
          <a:xfrm>
            <a:off x="5303520" y="2560320"/>
            <a:ext cx="731520" cy="841248"/>
          </a:xfrm>
          <a:prstGeom prst="rect">
            <a:avLst/>
          </a:prstGeom>
          <a:solidFill>
            <a:srgbClr val="F5F8FC"/>
          </a:solidFill>
          <a:ln w="9525">
            <a:solidFill>
              <a:srgbClr val="C9D2E0"/>
            </a:solidFill>
            <a:prstDash val="solid"/>
          </a:ln>
        </p:spPr>
      </p:sp>
      <p:sp>
        <p:nvSpPr>
          <p:cNvPr id="43" name="Text 41"/>
          <p:cNvSpPr/>
          <p:nvPr/>
        </p:nvSpPr>
        <p:spPr>
          <a:xfrm>
            <a:off x="5340096" y="2560320"/>
            <a:ext cx="658368" cy="841248"/>
          </a:xfrm>
          <a:prstGeom prst="rect">
            <a:avLst/>
          </a:prstGeom>
          <a:noFill/>
          <a:ln/>
        </p:spPr>
        <p:txBody>
          <a:bodyPr wrap="square" lIns="0" tIns="0" rIns="0" bIns="0" rtlCol="0" anchor="ctr"/>
          <a:lstStyle/>
          <a:p>
            <a:pPr algn="ctr" indent="0" marL="0">
              <a:lnSpc>
                <a:spcPct val="112000"/>
              </a:lnSpc>
              <a:buNone/>
            </a:pPr>
            <a:r>
              <a:rPr lang="en-US" sz="800" dirty="0">
                <a:solidFill>
                  <a:srgbClr val="1F2540"/>
                </a:solidFill>
                <a:latin typeface="Yu Gothic" pitchFamily="34" charset="0"/>
                <a:ea typeface="Yu Gothic" pitchFamily="34" charset="-122"/>
                <a:cs typeface="Yu Gothic" pitchFamily="34" charset="-120"/>
              </a:rPr>
              <a:t>人</a:t>
            </a:r>
            <a:endParaRPr lang="en-US" sz="800" dirty="0"/>
          </a:p>
        </p:txBody>
      </p:sp>
      <p:sp>
        <p:nvSpPr>
          <p:cNvPr id="44" name="Shape 42"/>
          <p:cNvSpPr/>
          <p:nvPr/>
        </p:nvSpPr>
        <p:spPr>
          <a:xfrm>
            <a:off x="6035040" y="2560320"/>
            <a:ext cx="2240280" cy="841248"/>
          </a:xfrm>
          <a:prstGeom prst="rect">
            <a:avLst/>
          </a:prstGeom>
          <a:solidFill>
            <a:srgbClr val="F5F8FC"/>
          </a:solidFill>
          <a:ln w="9525">
            <a:solidFill>
              <a:srgbClr val="C9D2E0"/>
            </a:solidFill>
            <a:prstDash val="solid"/>
          </a:ln>
        </p:spPr>
      </p:sp>
      <p:sp>
        <p:nvSpPr>
          <p:cNvPr id="45" name="Text 43"/>
          <p:cNvSpPr/>
          <p:nvPr/>
        </p:nvSpPr>
        <p:spPr>
          <a:xfrm>
            <a:off x="6071616" y="2560320"/>
            <a:ext cx="2167128" cy="841248"/>
          </a:xfrm>
          <a:prstGeom prst="rect">
            <a:avLst/>
          </a:prstGeom>
          <a:noFill/>
          <a:ln/>
        </p:spPr>
        <p:txBody>
          <a:bodyPr wrap="square" lIns="0" tIns="0" rIns="0" bIns="0" rtlCol="0" anchor="ctr"/>
          <a:lstStyle/>
          <a:p>
            <a:pPr algn="l" indent="0" marL="0">
              <a:lnSpc>
                <a:spcPct val="112000"/>
              </a:lnSpc>
              <a:buNone/>
            </a:pPr>
            <a:r>
              <a:rPr lang="en-US" sz="800" dirty="0">
                <a:solidFill>
                  <a:srgbClr val="1F2540"/>
                </a:solidFill>
                <a:latin typeface="Yu Gothic" pitchFamily="34" charset="0"/>
                <a:ea typeface="Yu Gothic" pitchFamily="34" charset="-122"/>
                <a:cs typeface="Yu Gothic" pitchFamily="34" charset="-120"/>
              </a:rPr>
              <a:t>全項目が規格値内=合格/1項目でも規格外=不合格</a:t>
            </a:r>
            <a:endParaRPr lang="en-US" sz="800" dirty="0"/>
          </a:p>
        </p:txBody>
      </p:sp>
      <p:sp>
        <p:nvSpPr>
          <p:cNvPr id="46" name="Shape 44"/>
          <p:cNvSpPr/>
          <p:nvPr/>
        </p:nvSpPr>
        <p:spPr>
          <a:xfrm>
            <a:off x="8275320" y="2560320"/>
            <a:ext cx="1874520" cy="841248"/>
          </a:xfrm>
          <a:prstGeom prst="rect">
            <a:avLst/>
          </a:prstGeom>
          <a:solidFill>
            <a:srgbClr val="F5F8FC"/>
          </a:solidFill>
          <a:ln w="9525">
            <a:solidFill>
              <a:srgbClr val="C9D2E0"/>
            </a:solidFill>
            <a:prstDash val="solid"/>
          </a:ln>
        </p:spPr>
      </p:sp>
      <p:sp>
        <p:nvSpPr>
          <p:cNvPr id="47" name="Text 45"/>
          <p:cNvSpPr/>
          <p:nvPr/>
        </p:nvSpPr>
        <p:spPr>
          <a:xfrm>
            <a:off x="8311896" y="2560320"/>
            <a:ext cx="1801368" cy="841248"/>
          </a:xfrm>
          <a:prstGeom prst="rect">
            <a:avLst/>
          </a:prstGeom>
          <a:noFill/>
          <a:ln/>
        </p:spPr>
        <p:txBody>
          <a:bodyPr wrap="square" lIns="0" tIns="0" rIns="0" bIns="0" rtlCol="0" anchor="ctr"/>
          <a:lstStyle/>
          <a:p>
            <a:pPr algn="l" indent="0" marL="0">
              <a:lnSpc>
                <a:spcPct val="112000"/>
              </a:lnSpc>
              <a:buNone/>
            </a:pPr>
            <a:r>
              <a:rPr lang="en-US" sz="800" dirty="0">
                <a:solidFill>
                  <a:srgbClr val="1F2540"/>
                </a:solidFill>
                <a:latin typeface="Yu Gothic" pitchFamily="34" charset="0"/>
                <a:ea typeface="Yu Gothic" pitchFamily="34" charset="-122"/>
                <a:cs typeface="Yu Gothic" pitchFamily="34" charset="-120"/>
              </a:rPr>
              <a:t>検査成績書に全項目の合否が記入済み</a:t>
            </a:r>
            <a:endParaRPr lang="en-US" sz="800" dirty="0"/>
          </a:p>
        </p:txBody>
      </p:sp>
      <p:sp>
        <p:nvSpPr>
          <p:cNvPr id="48" name="Shape 46"/>
          <p:cNvSpPr/>
          <p:nvPr/>
        </p:nvSpPr>
        <p:spPr>
          <a:xfrm>
            <a:off x="10149840" y="2560320"/>
            <a:ext cx="914400" cy="841248"/>
          </a:xfrm>
          <a:prstGeom prst="rect">
            <a:avLst/>
          </a:prstGeom>
          <a:solidFill>
            <a:srgbClr val="F5F8FC"/>
          </a:solidFill>
          <a:ln w="9525">
            <a:solidFill>
              <a:srgbClr val="C9D2E0"/>
            </a:solidFill>
            <a:prstDash val="solid"/>
          </a:ln>
        </p:spPr>
      </p:sp>
      <p:sp>
        <p:nvSpPr>
          <p:cNvPr id="49" name="Text 47"/>
          <p:cNvSpPr/>
          <p:nvPr/>
        </p:nvSpPr>
        <p:spPr>
          <a:xfrm>
            <a:off x="10186416" y="2560320"/>
            <a:ext cx="841248" cy="841248"/>
          </a:xfrm>
          <a:prstGeom prst="rect">
            <a:avLst/>
          </a:prstGeom>
          <a:noFill/>
          <a:ln/>
        </p:spPr>
        <p:txBody>
          <a:bodyPr wrap="square" lIns="0" tIns="0" rIns="0" bIns="0" rtlCol="0" anchor="ctr"/>
          <a:lstStyle/>
          <a:p>
            <a:pPr algn="ctr" indent="0" marL="0">
              <a:lnSpc>
                <a:spcPct val="112000"/>
              </a:lnSpc>
              <a:buNone/>
            </a:pPr>
            <a:r>
              <a:rPr lang="en-US" sz="800" dirty="0">
                <a:solidFill>
                  <a:srgbClr val="1F2540"/>
                </a:solidFill>
                <a:latin typeface="Yu Gothic" pitchFamily="34" charset="0"/>
                <a:ea typeface="Yu Gothic" pitchFamily="34" charset="-122"/>
                <a:cs typeface="Yu Gothic" pitchFamily="34" charset="-120"/>
              </a:rPr>
              <a:t>S04</a:t>
            </a:r>
            <a:endParaRPr lang="en-US" sz="800" dirty="0"/>
          </a:p>
        </p:txBody>
      </p:sp>
      <p:sp>
        <p:nvSpPr>
          <p:cNvPr id="50" name="Shape 48"/>
          <p:cNvSpPr/>
          <p:nvPr/>
        </p:nvSpPr>
        <p:spPr>
          <a:xfrm>
            <a:off x="11064240" y="2560320"/>
            <a:ext cx="576072" cy="841248"/>
          </a:xfrm>
          <a:prstGeom prst="rect">
            <a:avLst/>
          </a:prstGeom>
          <a:solidFill>
            <a:srgbClr val="F5F8FC"/>
          </a:solidFill>
          <a:ln w="9525">
            <a:solidFill>
              <a:srgbClr val="C9D2E0"/>
            </a:solidFill>
            <a:prstDash val="solid"/>
          </a:ln>
        </p:spPr>
      </p:sp>
      <p:sp>
        <p:nvSpPr>
          <p:cNvPr id="51" name="Text 49"/>
          <p:cNvSpPr/>
          <p:nvPr/>
        </p:nvSpPr>
        <p:spPr>
          <a:xfrm>
            <a:off x="11100816" y="2560320"/>
            <a:ext cx="502920" cy="841248"/>
          </a:xfrm>
          <a:prstGeom prst="rect">
            <a:avLst/>
          </a:prstGeom>
          <a:noFill/>
          <a:ln/>
        </p:spPr>
        <p:txBody>
          <a:bodyPr wrap="square" lIns="0" tIns="0" rIns="0" bIns="0" rtlCol="0" anchor="ctr"/>
          <a:lstStyle/>
          <a:p>
            <a:pPr algn="ctr" indent="0" marL="0">
              <a:lnSpc>
                <a:spcPct val="112000"/>
              </a:lnSpc>
              <a:buNone/>
            </a:pPr>
            <a:r>
              <a:rPr lang="en-US" sz="800" dirty="0">
                <a:solidFill>
                  <a:srgbClr val="1F2540"/>
                </a:solidFill>
                <a:latin typeface="Yu Gothic" pitchFamily="34" charset="0"/>
                <a:ea typeface="Yu Gothic" pitchFamily="34" charset="-122"/>
                <a:cs typeface="Yu Gothic" pitchFamily="34" charset="-120"/>
              </a:rPr>
              <a:t>FALSE</a:t>
            </a:r>
            <a:endParaRPr lang="en-US" sz="800" dirty="0"/>
          </a:p>
        </p:txBody>
      </p:sp>
      <p:sp>
        <p:nvSpPr>
          <p:cNvPr id="52" name="Shape 50"/>
          <p:cNvSpPr/>
          <p:nvPr/>
        </p:nvSpPr>
        <p:spPr>
          <a:xfrm>
            <a:off x="548640" y="3401568"/>
            <a:ext cx="777240" cy="841248"/>
          </a:xfrm>
          <a:prstGeom prst="rect">
            <a:avLst/>
          </a:prstGeom>
          <a:solidFill>
            <a:srgbClr val="FFFFFF"/>
          </a:solidFill>
          <a:ln w="9525">
            <a:solidFill>
              <a:srgbClr val="C9D2E0"/>
            </a:solidFill>
            <a:prstDash val="solid"/>
          </a:ln>
        </p:spPr>
      </p:sp>
      <p:sp>
        <p:nvSpPr>
          <p:cNvPr id="53" name="Text 51"/>
          <p:cNvSpPr/>
          <p:nvPr/>
        </p:nvSpPr>
        <p:spPr>
          <a:xfrm>
            <a:off x="585216" y="3401568"/>
            <a:ext cx="704088" cy="841248"/>
          </a:xfrm>
          <a:prstGeom prst="rect">
            <a:avLst/>
          </a:prstGeom>
          <a:noFill/>
          <a:ln/>
        </p:spPr>
        <p:txBody>
          <a:bodyPr wrap="square" lIns="0" tIns="0" rIns="0" bIns="0" rtlCol="0" anchor="ctr"/>
          <a:lstStyle/>
          <a:p>
            <a:pPr algn="ctr" indent="0" marL="0">
              <a:lnSpc>
                <a:spcPct val="112000"/>
              </a:lnSpc>
              <a:buNone/>
            </a:pPr>
            <a:r>
              <a:rPr lang="en-US" sz="800" b="1" dirty="0">
                <a:solidFill>
                  <a:srgbClr val="1F2540"/>
                </a:solidFill>
                <a:latin typeface="Yu Gothic" pitchFamily="34" charset="0"/>
                <a:ea typeface="Yu Gothic" pitchFamily="34" charset="-122"/>
                <a:cs typeface="Yu Gothic" pitchFamily="34" charset="-120"/>
              </a:rPr>
              <a:t>S04</a:t>
            </a:r>
            <a:endParaRPr lang="en-US" sz="800" dirty="0"/>
          </a:p>
        </p:txBody>
      </p:sp>
      <p:sp>
        <p:nvSpPr>
          <p:cNvPr id="54" name="Shape 52"/>
          <p:cNvSpPr/>
          <p:nvPr/>
        </p:nvSpPr>
        <p:spPr>
          <a:xfrm>
            <a:off x="1325880" y="3401568"/>
            <a:ext cx="1188720" cy="841248"/>
          </a:xfrm>
          <a:prstGeom prst="rect">
            <a:avLst/>
          </a:prstGeom>
          <a:solidFill>
            <a:srgbClr val="FFFFFF"/>
          </a:solidFill>
          <a:ln w="9525">
            <a:solidFill>
              <a:srgbClr val="C9D2E0"/>
            </a:solidFill>
            <a:prstDash val="solid"/>
          </a:ln>
        </p:spPr>
      </p:sp>
      <p:sp>
        <p:nvSpPr>
          <p:cNvPr id="55" name="Text 53"/>
          <p:cNvSpPr/>
          <p:nvPr/>
        </p:nvSpPr>
        <p:spPr>
          <a:xfrm>
            <a:off x="1362456" y="3401568"/>
            <a:ext cx="1115568" cy="841248"/>
          </a:xfrm>
          <a:prstGeom prst="rect">
            <a:avLst/>
          </a:prstGeom>
          <a:noFill/>
          <a:ln/>
        </p:spPr>
        <p:txBody>
          <a:bodyPr wrap="square" lIns="0" tIns="0" rIns="0" bIns="0" rtlCol="0" anchor="ctr"/>
          <a:lstStyle/>
          <a:p>
            <a:pPr algn="l" indent="0" marL="0">
              <a:lnSpc>
                <a:spcPct val="112000"/>
              </a:lnSpc>
              <a:buNone/>
            </a:pPr>
            <a:r>
              <a:rPr lang="en-US" sz="800" dirty="0">
                <a:solidFill>
                  <a:srgbClr val="1F2540"/>
                </a:solidFill>
                <a:latin typeface="Yu Gothic" pitchFamily="34" charset="0"/>
                <a:ea typeface="Yu Gothic" pitchFamily="34" charset="-122"/>
                <a:cs typeface="Yu Gothic" pitchFamily="34" charset="-120"/>
              </a:rPr>
              <a:t>ロット合否判定</a:t>
            </a:r>
            <a:endParaRPr lang="en-US" sz="800" dirty="0"/>
          </a:p>
        </p:txBody>
      </p:sp>
      <p:sp>
        <p:nvSpPr>
          <p:cNvPr id="56" name="Shape 54"/>
          <p:cNvSpPr/>
          <p:nvPr/>
        </p:nvSpPr>
        <p:spPr>
          <a:xfrm>
            <a:off x="2514600" y="3401568"/>
            <a:ext cx="2788920" cy="841248"/>
          </a:xfrm>
          <a:prstGeom prst="rect">
            <a:avLst/>
          </a:prstGeom>
          <a:solidFill>
            <a:srgbClr val="FFFFFF"/>
          </a:solidFill>
          <a:ln w="9525">
            <a:solidFill>
              <a:srgbClr val="C9D2E0"/>
            </a:solidFill>
            <a:prstDash val="solid"/>
          </a:ln>
        </p:spPr>
      </p:sp>
      <p:sp>
        <p:nvSpPr>
          <p:cNvPr id="57" name="Text 55"/>
          <p:cNvSpPr/>
          <p:nvPr/>
        </p:nvSpPr>
        <p:spPr>
          <a:xfrm>
            <a:off x="2551176" y="3401568"/>
            <a:ext cx="2715768" cy="841248"/>
          </a:xfrm>
          <a:prstGeom prst="rect">
            <a:avLst/>
          </a:prstGeom>
          <a:noFill/>
          <a:ln/>
        </p:spPr>
        <p:txBody>
          <a:bodyPr wrap="square" lIns="0" tIns="0" rIns="0" bIns="0" rtlCol="0" anchor="ctr"/>
          <a:lstStyle/>
          <a:p>
            <a:pPr algn="l" indent="0" marL="0">
              <a:lnSpc>
                <a:spcPct val="112000"/>
              </a:lnSpc>
              <a:buNone/>
            </a:pPr>
            <a:r>
              <a:rPr lang="en-US" sz="800" dirty="0">
                <a:solidFill>
                  <a:srgbClr val="1F2540"/>
                </a:solidFill>
                <a:latin typeface="Yu Gothic" pitchFamily="34" charset="0"/>
                <a:ea typeface="Yu Gothic" pitchFamily="34" charset="-122"/>
                <a:cs typeface="Yu Gothic" pitchFamily="34" charset="-120"/>
              </a:rPr>
              <a:t>検査結果に基づき受入可否を判定し、不合格ロットは供給者へ差し戻す</a:t>
            </a:r>
            <a:endParaRPr lang="en-US" sz="800" dirty="0"/>
          </a:p>
        </p:txBody>
      </p:sp>
      <p:sp>
        <p:nvSpPr>
          <p:cNvPr id="58" name="Shape 56"/>
          <p:cNvSpPr/>
          <p:nvPr/>
        </p:nvSpPr>
        <p:spPr>
          <a:xfrm>
            <a:off x="5303520" y="3401568"/>
            <a:ext cx="731520" cy="841248"/>
          </a:xfrm>
          <a:prstGeom prst="rect">
            <a:avLst/>
          </a:prstGeom>
          <a:solidFill>
            <a:srgbClr val="FFFFFF"/>
          </a:solidFill>
          <a:ln w="9525">
            <a:solidFill>
              <a:srgbClr val="C9D2E0"/>
            </a:solidFill>
            <a:prstDash val="solid"/>
          </a:ln>
        </p:spPr>
      </p:sp>
      <p:sp>
        <p:nvSpPr>
          <p:cNvPr id="59" name="Text 57"/>
          <p:cNvSpPr/>
          <p:nvPr/>
        </p:nvSpPr>
        <p:spPr>
          <a:xfrm>
            <a:off x="5340096" y="3401568"/>
            <a:ext cx="658368" cy="841248"/>
          </a:xfrm>
          <a:prstGeom prst="rect">
            <a:avLst/>
          </a:prstGeom>
          <a:noFill/>
          <a:ln/>
        </p:spPr>
        <p:txBody>
          <a:bodyPr wrap="square" lIns="0" tIns="0" rIns="0" bIns="0" rtlCol="0" anchor="ctr"/>
          <a:lstStyle/>
          <a:p>
            <a:pPr algn="ctr" indent="0" marL="0">
              <a:lnSpc>
                <a:spcPct val="112000"/>
              </a:lnSpc>
              <a:buNone/>
            </a:pPr>
            <a:r>
              <a:rPr lang="en-US" sz="800" dirty="0">
                <a:solidFill>
                  <a:srgbClr val="1F2540"/>
                </a:solidFill>
                <a:latin typeface="Yu Gothic" pitchFamily="34" charset="0"/>
                <a:ea typeface="Yu Gothic" pitchFamily="34" charset="-122"/>
                <a:cs typeface="Yu Gothic" pitchFamily="34" charset="-120"/>
              </a:rPr>
              <a:t>人</a:t>
            </a:r>
            <a:endParaRPr lang="en-US" sz="800" dirty="0"/>
          </a:p>
        </p:txBody>
      </p:sp>
      <p:sp>
        <p:nvSpPr>
          <p:cNvPr id="60" name="Shape 58"/>
          <p:cNvSpPr/>
          <p:nvPr/>
        </p:nvSpPr>
        <p:spPr>
          <a:xfrm>
            <a:off x="6035040" y="3401568"/>
            <a:ext cx="2240280" cy="841248"/>
          </a:xfrm>
          <a:prstGeom prst="rect">
            <a:avLst/>
          </a:prstGeom>
          <a:solidFill>
            <a:srgbClr val="FFFFFF"/>
          </a:solidFill>
          <a:ln w="9525">
            <a:solidFill>
              <a:srgbClr val="C9D2E0"/>
            </a:solidFill>
            <a:prstDash val="solid"/>
          </a:ln>
        </p:spPr>
      </p:sp>
      <p:sp>
        <p:nvSpPr>
          <p:cNvPr id="61" name="Text 59"/>
          <p:cNvSpPr/>
          <p:nvPr/>
        </p:nvSpPr>
        <p:spPr>
          <a:xfrm>
            <a:off x="6071616" y="3401568"/>
            <a:ext cx="2167128" cy="841248"/>
          </a:xfrm>
          <a:prstGeom prst="rect">
            <a:avLst/>
          </a:prstGeom>
          <a:noFill/>
          <a:ln/>
        </p:spPr>
        <p:txBody>
          <a:bodyPr wrap="square" lIns="0" tIns="0" rIns="0" bIns="0" rtlCol="0" anchor="ctr"/>
          <a:lstStyle/>
          <a:p>
            <a:pPr algn="l" indent="0" marL="0">
              <a:lnSpc>
                <a:spcPct val="112000"/>
              </a:lnSpc>
              <a:buNone/>
            </a:pPr>
            <a:r>
              <a:rPr lang="en-US" sz="800" dirty="0">
                <a:solidFill>
                  <a:srgbClr val="1F2540"/>
                </a:solidFill>
                <a:latin typeface="Yu Gothic" pitchFamily="34" charset="0"/>
                <a:ea typeface="Yu Gothic" pitchFamily="34" charset="-122"/>
                <a:cs typeface="Yu Gothic" pitchFamily="34" charset="-120"/>
              </a:rPr>
              <a:t>合格→受入計上へ/不合格→差し戻しへ</a:t>
            </a:r>
            <a:endParaRPr lang="en-US" sz="800" dirty="0"/>
          </a:p>
        </p:txBody>
      </p:sp>
      <p:sp>
        <p:nvSpPr>
          <p:cNvPr id="62" name="Shape 60"/>
          <p:cNvSpPr/>
          <p:nvPr/>
        </p:nvSpPr>
        <p:spPr>
          <a:xfrm>
            <a:off x="8275320" y="3401568"/>
            <a:ext cx="1874520" cy="841248"/>
          </a:xfrm>
          <a:prstGeom prst="rect">
            <a:avLst/>
          </a:prstGeom>
          <a:solidFill>
            <a:srgbClr val="FFFFFF"/>
          </a:solidFill>
          <a:ln w="9525">
            <a:solidFill>
              <a:srgbClr val="C9D2E0"/>
            </a:solidFill>
            <a:prstDash val="solid"/>
          </a:ln>
        </p:spPr>
      </p:sp>
      <p:sp>
        <p:nvSpPr>
          <p:cNvPr id="63" name="Text 61"/>
          <p:cNvSpPr/>
          <p:nvPr/>
        </p:nvSpPr>
        <p:spPr>
          <a:xfrm>
            <a:off x="8311896" y="3401568"/>
            <a:ext cx="1801368" cy="841248"/>
          </a:xfrm>
          <a:prstGeom prst="rect">
            <a:avLst/>
          </a:prstGeom>
          <a:noFill/>
          <a:ln/>
        </p:spPr>
        <p:txBody>
          <a:bodyPr wrap="square" lIns="0" tIns="0" rIns="0" bIns="0" rtlCol="0" anchor="ctr"/>
          <a:lstStyle/>
          <a:p>
            <a:pPr algn="l" indent="0" marL="0">
              <a:lnSpc>
                <a:spcPct val="112000"/>
              </a:lnSpc>
              <a:buNone/>
            </a:pPr>
            <a:r>
              <a:rPr lang="en-US" sz="800" dirty="0">
                <a:solidFill>
                  <a:srgbClr val="1F2540"/>
                </a:solidFill>
                <a:latin typeface="Yu Gothic" pitchFamily="34" charset="0"/>
                <a:ea typeface="Yu Gothic" pitchFamily="34" charset="-122"/>
                <a:cs typeface="Yu Gothic" pitchFamily="34" charset="-120"/>
              </a:rPr>
              <a:t>判定結果と処置内容が記録済み</a:t>
            </a:r>
            <a:endParaRPr lang="en-US" sz="800" dirty="0"/>
          </a:p>
        </p:txBody>
      </p:sp>
      <p:sp>
        <p:nvSpPr>
          <p:cNvPr id="64" name="Shape 62"/>
          <p:cNvSpPr/>
          <p:nvPr/>
        </p:nvSpPr>
        <p:spPr>
          <a:xfrm>
            <a:off x="10149840" y="3401568"/>
            <a:ext cx="914400" cy="841248"/>
          </a:xfrm>
          <a:prstGeom prst="rect">
            <a:avLst/>
          </a:prstGeom>
          <a:solidFill>
            <a:srgbClr val="FFFFFF"/>
          </a:solidFill>
          <a:ln w="9525">
            <a:solidFill>
              <a:srgbClr val="C9D2E0"/>
            </a:solidFill>
            <a:prstDash val="solid"/>
          </a:ln>
        </p:spPr>
      </p:sp>
      <p:sp>
        <p:nvSpPr>
          <p:cNvPr id="65" name="Text 63"/>
          <p:cNvSpPr/>
          <p:nvPr/>
        </p:nvSpPr>
        <p:spPr>
          <a:xfrm>
            <a:off x="10186416" y="3401568"/>
            <a:ext cx="841248" cy="841248"/>
          </a:xfrm>
          <a:prstGeom prst="rect">
            <a:avLst/>
          </a:prstGeom>
          <a:noFill/>
          <a:ln/>
        </p:spPr>
        <p:txBody>
          <a:bodyPr wrap="square" lIns="0" tIns="0" rIns="0" bIns="0" rtlCol="0" anchor="ctr"/>
          <a:lstStyle/>
          <a:p>
            <a:pPr algn="ctr" indent="0" marL="0">
              <a:lnSpc>
                <a:spcPct val="112000"/>
              </a:lnSpc>
              <a:buNone/>
            </a:pPr>
            <a:r>
              <a:rPr lang="en-US" sz="800" dirty="0">
                <a:solidFill>
                  <a:srgbClr val="1F2540"/>
                </a:solidFill>
                <a:latin typeface="Yu Gothic" pitchFamily="34" charset="0"/>
                <a:ea typeface="Yu Gothic" pitchFamily="34" charset="-122"/>
                <a:cs typeface="Yu Gothic" pitchFamily="34" charset="-120"/>
              </a:rPr>
              <a:t>S05(合格)</a:t>
            </a:r>
            <a:endParaRPr lang="en-US" sz="800" dirty="0"/>
          </a:p>
          <a:p>
            <a:pPr algn="ctr" indent="0" marL="0">
              <a:lnSpc>
                <a:spcPct val="112000"/>
              </a:lnSpc>
              <a:buNone/>
            </a:pPr>
            <a:r>
              <a:rPr lang="en-US" sz="800" dirty="0">
                <a:solidFill>
                  <a:srgbClr val="1F2540"/>
                </a:solidFill>
                <a:latin typeface="Yu Gothic" pitchFamily="34" charset="0"/>
                <a:ea typeface="Yu Gothic" pitchFamily="34" charset="-122"/>
                <a:cs typeface="Yu Gothic" pitchFamily="34" charset="-120"/>
              </a:rPr>
              <a:t>S06(差戻)</a:t>
            </a:r>
            <a:endParaRPr lang="en-US" sz="800" dirty="0"/>
          </a:p>
        </p:txBody>
      </p:sp>
      <p:sp>
        <p:nvSpPr>
          <p:cNvPr id="66" name="Shape 64"/>
          <p:cNvSpPr/>
          <p:nvPr/>
        </p:nvSpPr>
        <p:spPr>
          <a:xfrm>
            <a:off x="11064240" y="3401568"/>
            <a:ext cx="576072" cy="841248"/>
          </a:xfrm>
          <a:prstGeom prst="rect">
            <a:avLst/>
          </a:prstGeom>
          <a:solidFill>
            <a:srgbClr val="FDEEDC"/>
          </a:solidFill>
          <a:ln w="9525">
            <a:solidFill>
              <a:srgbClr val="C9D2E0"/>
            </a:solidFill>
            <a:prstDash val="solid"/>
          </a:ln>
        </p:spPr>
      </p:sp>
      <p:sp>
        <p:nvSpPr>
          <p:cNvPr id="67" name="Text 65"/>
          <p:cNvSpPr/>
          <p:nvPr/>
        </p:nvSpPr>
        <p:spPr>
          <a:xfrm>
            <a:off x="11100816" y="3401568"/>
            <a:ext cx="502920" cy="841248"/>
          </a:xfrm>
          <a:prstGeom prst="rect">
            <a:avLst/>
          </a:prstGeom>
          <a:noFill/>
          <a:ln/>
        </p:spPr>
        <p:txBody>
          <a:bodyPr wrap="square" lIns="0" tIns="0" rIns="0" bIns="0" rtlCol="0" anchor="ctr"/>
          <a:lstStyle/>
          <a:p>
            <a:pPr algn="ctr" indent="0" marL="0">
              <a:lnSpc>
                <a:spcPct val="112000"/>
              </a:lnSpc>
              <a:buNone/>
            </a:pPr>
            <a:r>
              <a:rPr lang="en-US" sz="800" b="1" dirty="0">
                <a:solidFill>
                  <a:srgbClr val="C4711A"/>
                </a:solidFill>
                <a:latin typeface="Yu Gothic" pitchFamily="34" charset="0"/>
                <a:ea typeface="Yu Gothic" pitchFamily="34" charset="-122"/>
                <a:cs typeface="Yu Gothic" pitchFamily="34" charset="-120"/>
              </a:rPr>
              <a:t>TRUE</a:t>
            </a:r>
            <a:endParaRPr lang="en-US" sz="800" dirty="0"/>
          </a:p>
        </p:txBody>
      </p:sp>
      <p:sp>
        <p:nvSpPr>
          <p:cNvPr id="68" name="Shape 66"/>
          <p:cNvSpPr/>
          <p:nvPr/>
        </p:nvSpPr>
        <p:spPr>
          <a:xfrm>
            <a:off x="5029200" y="2615184"/>
            <a:ext cx="237744" cy="237744"/>
          </a:xfrm>
          <a:prstGeom prst="ellipse">
            <a:avLst/>
          </a:prstGeom>
          <a:solidFill>
            <a:srgbClr val="1E2761"/>
          </a:solidFill>
          <a:ln/>
        </p:spPr>
      </p:sp>
      <p:sp>
        <p:nvSpPr>
          <p:cNvPr id="69" name="Text 67"/>
          <p:cNvSpPr/>
          <p:nvPr/>
        </p:nvSpPr>
        <p:spPr>
          <a:xfrm>
            <a:off x="5029200" y="2601468"/>
            <a:ext cx="237744"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70" name="Shape 68"/>
          <p:cNvSpPr/>
          <p:nvPr/>
        </p:nvSpPr>
        <p:spPr>
          <a:xfrm>
            <a:off x="8001000" y="2615184"/>
            <a:ext cx="237744" cy="237744"/>
          </a:xfrm>
          <a:prstGeom prst="ellipse">
            <a:avLst/>
          </a:prstGeom>
          <a:solidFill>
            <a:srgbClr val="1E2761"/>
          </a:solidFill>
          <a:ln/>
        </p:spPr>
      </p:sp>
      <p:sp>
        <p:nvSpPr>
          <p:cNvPr id="71" name="Text 69"/>
          <p:cNvSpPr/>
          <p:nvPr/>
        </p:nvSpPr>
        <p:spPr>
          <a:xfrm>
            <a:off x="8001000" y="2601468"/>
            <a:ext cx="237744"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72" name="Shape 70"/>
          <p:cNvSpPr/>
          <p:nvPr/>
        </p:nvSpPr>
        <p:spPr>
          <a:xfrm>
            <a:off x="10789920" y="3456432"/>
            <a:ext cx="237744" cy="237744"/>
          </a:xfrm>
          <a:prstGeom prst="ellipse">
            <a:avLst/>
          </a:prstGeom>
          <a:solidFill>
            <a:srgbClr val="1E2761"/>
          </a:solidFill>
          <a:ln/>
        </p:spPr>
      </p:sp>
      <p:sp>
        <p:nvSpPr>
          <p:cNvPr id="73" name="Text 71"/>
          <p:cNvSpPr/>
          <p:nvPr/>
        </p:nvSpPr>
        <p:spPr>
          <a:xfrm>
            <a:off x="10789920" y="3442716"/>
            <a:ext cx="237744"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74" name="Shape 72"/>
          <p:cNvSpPr/>
          <p:nvPr/>
        </p:nvSpPr>
        <p:spPr>
          <a:xfrm>
            <a:off x="11365992" y="3456432"/>
            <a:ext cx="237744" cy="237744"/>
          </a:xfrm>
          <a:prstGeom prst="ellipse">
            <a:avLst/>
          </a:prstGeom>
          <a:solidFill>
            <a:srgbClr val="1E2761"/>
          </a:solidFill>
          <a:ln/>
        </p:spPr>
      </p:sp>
      <p:sp>
        <p:nvSpPr>
          <p:cNvPr id="75" name="Text 73"/>
          <p:cNvSpPr/>
          <p:nvPr/>
        </p:nvSpPr>
        <p:spPr>
          <a:xfrm>
            <a:off x="11365992" y="3442716"/>
            <a:ext cx="237744"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76" name="Shape 74"/>
          <p:cNvSpPr/>
          <p:nvPr/>
        </p:nvSpPr>
        <p:spPr>
          <a:xfrm>
            <a:off x="548640" y="4261104"/>
            <a:ext cx="960120" cy="274320"/>
          </a:xfrm>
          <a:prstGeom prst="rect">
            <a:avLst/>
          </a:prstGeom>
          <a:solidFill>
            <a:srgbClr val="E8EAED"/>
          </a:solidFill>
          <a:ln w="9525">
            <a:solidFill>
              <a:srgbClr val="C9D2E0"/>
            </a:solidFill>
            <a:prstDash val="solid"/>
          </a:ln>
        </p:spPr>
      </p:sp>
      <p:sp>
        <p:nvSpPr>
          <p:cNvPr id="77" name="Text 75"/>
          <p:cNvSpPr/>
          <p:nvPr/>
        </p:nvSpPr>
        <p:spPr>
          <a:xfrm>
            <a:off x="548640" y="4261104"/>
            <a:ext cx="960120" cy="274320"/>
          </a:xfrm>
          <a:prstGeom prst="rect">
            <a:avLst/>
          </a:prstGeom>
          <a:noFill/>
          <a:ln/>
        </p:spPr>
        <p:txBody>
          <a:bodyPr wrap="square" lIns="0" tIns="0" rIns="0" bIns="0" rtlCol="0" anchor="ctr"/>
          <a:lstStyle/>
          <a:p>
            <a:pPr algn="ctr" indent="0" marL="0">
              <a:buNone/>
            </a:pPr>
            <a:r>
              <a:rPr lang="en-US" sz="850" dirty="0">
                <a:solidFill>
                  <a:srgbClr val="5B6478"/>
                </a:solidFill>
                <a:latin typeface="Yu Gothic" pitchFamily="34" charset="0"/>
                <a:ea typeface="Yu Gothic" pitchFamily="34" charset="-122"/>
                <a:cs typeface="Yu Gothic" pitchFamily="34" charset="-120"/>
              </a:rPr>
              <a:t>記入要領</a:t>
            </a:r>
            <a:endParaRPr lang="en-US" sz="850" dirty="0"/>
          </a:p>
        </p:txBody>
      </p:sp>
      <p:sp>
        <p:nvSpPr>
          <p:cNvPr id="78" name="Shape 76"/>
          <p:cNvSpPr/>
          <p:nvPr/>
        </p:nvSpPr>
        <p:spPr>
          <a:xfrm>
            <a:off x="1508760" y="4261104"/>
            <a:ext cx="1097280" cy="274320"/>
          </a:xfrm>
          <a:prstGeom prst="rect">
            <a:avLst/>
          </a:prstGeom>
          <a:solidFill>
            <a:srgbClr val="E8EAED"/>
          </a:solidFill>
          <a:ln w="9525">
            <a:solidFill>
              <a:srgbClr val="C9D2E0"/>
            </a:solidFill>
            <a:prstDash val="solid"/>
          </a:ln>
        </p:spPr>
      </p:sp>
      <p:sp>
        <p:nvSpPr>
          <p:cNvPr id="79" name="Text 77"/>
          <p:cNvSpPr/>
          <p:nvPr/>
        </p:nvSpPr>
        <p:spPr>
          <a:xfrm>
            <a:off x="1508760" y="4261104"/>
            <a:ext cx="1097280" cy="274320"/>
          </a:xfrm>
          <a:prstGeom prst="rect">
            <a:avLst/>
          </a:prstGeom>
          <a:noFill/>
          <a:ln/>
        </p:spPr>
        <p:txBody>
          <a:bodyPr wrap="square" lIns="0" tIns="0" rIns="0" bIns="0" rtlCol="0" anchor="ctr"/>
          <a:lstStyle/>
          <a:p>
            <a:pPr algn="ctr" indent="0" marL="0">
              <a:buNone/>
            </a:pPr>
            <a:r>
              <a:rPr lang="en-US" sz="850" dirty="0">
                <a:solidFill>
                  <a:srgbClr val="5B6478"/>
                </a:solidFill>
                <a:latin typeface="Yu Gothic" pitchFamily="34" charset="0"/>
                <a:ea typeface="Yu Gothic" pitchFamily="34" charset="-122"/>
                <a:cs typeface="Yu Gothic" pitchFamily="34" charset="-120"/>
              </a:rPr>
              <a:t>プロセス概要</a:t>
            </a:r>
            <a:endParaRPr lang="en-US" sz="850" dirty="0"/>
          </a:p>
        </p:txBody>
      </p:sp>
      <p:sp>
        <p:nvSpPr>
          <p:cNvPr id="80" name="Shape 78"/>
          <p:cNvSpPr/>
          <p:nvPr/>
        </p:nvSpPr>
        <p:spPr>
          <a:xfrm>
            <a:off x="2606040" y="4261104"/>
            <a:ext cx="1097280" cy="274320"/>
          </a:xfrm>
          <a:prstGeom prst="rect">
            <a:avLst/>
          </a:prstGeom>
          <a:solidFill>
            <a:srgbClr val="FFFFFF"/>
          </a:solidFill>
          <a:ln w="15875">
            <a:solidFill>
              <a:srgbClr val="1D6F42"/>
            </a:solidFill>
            <a:prstDash val="solid"/>
          </a:ln>
        </p:spPr>
      </p:sp>
      <p:sp>
        <p:nvSpPr>
          <p:cNvPr id="81" name="Text 79"/>
          <p:cNvSpPr/>
          <p:nvPr/>
        </p:nvSpPr>
        <p:spPr>
          <a:xfrm>
            <a:off x="2606040" y="4261104"/>
            <a:ext cx="1097280" cy="274320"/>
          </a:xfrm>
          <a:prstGeom prst="rect">
            <a:avLst/>
          </a:prstGeom>
          <a:noFill/>
          <a:ln/>
        </p:spPr>
        <p:txBody>
          <a:bodyPr wrap="square" lIns="0" tIns="0" rIns="0" bIns="0" rtlCol="0" anchor="ctr"/>
          <a:lstStyle/>
          <a:p>
            <a:pPr algn="ctr" indent="0" marL="0">
              <a:buNone/>
            </a:pPr>
            <a:r>
              <a:rPr lang="en-US" sz="850" b="1" dirty="0">
                <a:solidFill>
                  <a:srgbClr val="1D6F42"/>
                </a:solidFill>
                <a:latin typeface="Yu Gothic" pitchFamily="34" charset="0"/>
                <a:ea typeface="Yu Gothic" pitchFamily="34" charset="-122"/>
                <a:cs typeface="Yu Gothic" pitchFamily="34" charset="-120"/>
              </a:rPr>
              <a:t>ステップ定義</a:t>
            </a:r>
            <a:endParaRPr lang="en-US" sz="850" dirty="0"/>
          </a:p>
        </p:txBody>
      </p:sp>
      <p:sp>
        <p:nvSpPr>
          <p:cNvPr id="82" name="Shape 80"/>
          <p:cNvSpPr/>
          <p:nvPr/>
        </p:nvSpPr>
        <p:spPr>
          <a:xfrm>
            <a:off x="3703320" y="4261104"/>
            <a:ext cx="914400" cy="274320"/>
          </a:xfrm>
          <a:prstGeom prst="rect">
            <a:avLst/>
          </a:prstGeom>
          <a:solidFill>
            <a:srgbClr val="E8EAED"/>
          </a:solidFill>
          <a:ln w="9525">
            <a:solidFill>
              <a:srgbClr val="C9D2E0"/>
            </a:solidFill>
            <a:prstDash val="solid"/>
          </a:ln>
        </p:spPr>
      </p:sp>
      <p:sp>
        <p:nvSpPr>
          <p:cNvPr id="83" name="Text 81"/>
          <p:cNvSpPr/>
          <p:nvPr/>
        </p:nvSpPr>
        <p:spPr>
          <a:xfrm>
            <a:off x="3703320" y="4261104"/>
            <a:ext cx="914400" cy="274320"/>
          </a:xfrm>
          <a:prstGeom prst="rect">
            <a:avLst/>
          </a:prstGeom>
          <a:noFill/>
          <a:ln/>
        </p:spPr>
        <p:txBody>
          <a:bodyPr wrap="square" lIns="0" tIns="0" rIns="0" bIns="0" rtlCol="0" anchor="ctr"/>
          <a:lstStyle/>
          <a:p>
            <a:pPr algn="ctr" indent="0" marL="0">
              <a:buNone/>
            </a:pPr>
            <a:r>
              <a:rPr lang="en-US" sz="850" dirty="0">
                <a:solidFill>
                  <a:srgbClr val="5B6478"/>
                </a:solidFill>
                <a:latin typeface="Yu Gothic" pitchFamily="34" charset="0"/>
                <a:ea typeface="Yu Gothic" pitchFamily="34" charset="-122"/>
                <a:cs typeface="Yu Gothic" pitchFamily="34" charset="-120"/>
              </a:rPr>
              <a:t>用語定義</a:t>
            </a:r>
            <a:endParaRPr lang="en-US" sz="850" dirty="0"/>
          </a:p>
        </p:txBody>
      </p:sp>
      <p:sp>
        <p:nvSpPr>
          <p:cNvPr id="84" name="Text 82"/>
          <p:cNvSpPr/>
          <p:nvPr/>
        </p:nvSpPr>
        <p:spPr>
          <a:xfrm>
            <a:off x="4846320" y="4242816"/>
            <a:ext cx="6793992" cy="310896"/>
          </a:xfrm>
          <a:prstGeom prst="rect">
            <a:avLst/>
          </a:prstGeom>
          <a:noFill/>
          <a:ln/>
        </p:spPr>
        <p:txBody>
          <a:bodyPr wrap="square" lIns="0" tIns="0" rIns="0" bIns="0" rtlCol="0" anchor="ctr"/>
          <a:lstStyle/>
          <a:p>
            <a:pPr indent="0" marL="0">
              <a:buNone/>
            </a:pPr>
            <a:r>
              <a:rPr lang="en-US" sz="950" dirty="0">
                <a:solidFill>
                  <a:srgbClr val="5B6478"/>
                </a:solidFill>
                <a:latin typeface="Yu Gothic" pitchFamily="34" charset="0"/>
                <a:ea typeface="Yu Gothic" pitchFamily="34" charset="-122"/>
                <a:cs typeface="Yu Gothic" pitchFamily="34" charset="-120"/>
              </a:rPr>
              <a:t>実際のテンプレートは4シート構成。「記入要領」に書き方ガイドと暗黙知チェックリストを同梱。</a:t>
            </a:r>
            <a:endParaRPr lang="en-US" sz="950" dirty="0"/>
          </a:p>
        </p:txBody>
      </p:sp>
      <p:sp>
        <p:nvSpPr>
          <p:cNvPr id="85" name="Shape 83"/>
          <p:cNvSpPr/>
          <p:nvPr/>
        </p:nvSpPr>
        <p:spPr>
          <a:xfrm>
            <a:off x="548640" y="4791456"/>
            <a:ext cx="274320" cy="274320"/>
          </a:xfrm>
          <a:prstGeom prst="ellipse">
            <a:avLst/>
          </a:prstGeom>
          <a:solidFill>
            <a:srgbClr val="1E2761"/>
          </a:solidFill>
          <a:ln/>
        </p:spPr>
      </p:sp>
      <p:sp>
        <p:nvSpPr>
          <p:cNvPr id="86" name="Text 84"/>
          <p:cNvSpPr/>
          <p:nvPr/>
        </p:nvSpPr>
        <p:spPr>
          <a:xfrm>
            <a:off x="548640" y="4777740"/>
            <a:ext cx="2743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87" name="Text 85"/>
          <p:cNvSpPr/>
          <p:nvPr/>
        </p:nvSpPr>
        <p:spPr>
          <a:xfrm>
            <a:off x="950976" y="4745736"/>
            <a:ext cx="5029200" cy="658368"/>
          </a:xfrm>
          <a:prstGeom prst="rect">
            <a:avLst/>
          </a:prstGeom>
          <a:noFill/>
          <a:ln/>
        </p:spPr>
        <p:txBody>
          <a:bodyPr wrap="square" lIns="0" tIns="0" rIns="0" bIns="0" rtlCol="0" anchor="t"/>
          <a:lstStyle/>
          <a:p>
            <a:pPr indent="0" marL="0">
              <a:lnSpc>
                <a:spcPct val="118000"/>
              </a:lnSpc>
              <a:buNone/>
            </a:pPr>
            <a:r>
              <a:rPr lang="en-US" sz="1000" dirty="0">
                <a:solidFill>
                  <a:srgbClr val="1F2540"/>
                </a:solidFill>
                <a:latin typeface="Yu Gothic" pitchFamily="34" charset="0"/>
                <a:ea typeface="Yu Gothic" pitchFamily="34" charset="-122"/>
                <a:cs typeface="Yu Gothic" pitchFamily="34" charset="-120"/>
              </a:rPr>
              <a:t>処理内容は「対象+操作+完了状態」で具体的に書く。「対応する」だけの曖昧な記載はツールが自動警告。</a:t>
            </a:r>
            <a:endParaRPr lang="en-US" sz="1000" dirty="0"/>
          </a:p>
        </p:txBody>
      </p:sp>
      <p:sp>
        <p:nvSpPr>
          <p:cNvPr id="88" name="Shape 86"/>
          <p:cNvSpPr/>
          <p:nvPr/>
        </p:nvSpPr>
        <p:spPr>
          <a:xfrm>
            <a:off x="6217920" y="4791456"/>
            <a:ext cx="274320" cy="274320"/>
          </a:xfrm>
          <a:prstGeom prst="ellipse">
            <a:avLst/>
          </a:prstGeom>
          <a:solidFill>
            <a:srgbClr val="1E2761"/>
          </a:solidFill>
          <a:ln/>
        </p:spPr>
      </p:sp>
      <p:sp>
        <p:nvSpPr>
          <p:cNvPr id="89" name="Text 87"/>
          <p:cNvSpPr/>
          <p:nvPr/>
        </p:nvSpPr>
        <p:spPr>
          <a:xfrm>
            <a:off x="6217920" y="4777740"/>
            <a:ext cx="2743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90" name="Text 88"/>
          <p:cNvSpPr/>
          <p:nvPr/>
        </p:nvSpPr>
        <p:spPr>
          <a:xfrm>
            <a:off x="6620256" y="4745736"/>
            <a:ext cx="5029200" cy="658368"/>
          </a:xfrm>
          <a:prstGeom prst="rect">
            <a:avLst/>
          </a:prstGeom>
          <a:noFill/>
          <a:ln/>
        </p:spPr>
        <p:txBody>
          <a:bodyPr wrap="square" lIns="0" tIns="0" rIns="0" bIns="0" rtlCol="0" anchor="t"/>
          <a:lstStyle/>
          <a:p>
            <a:pPr indent="0" marL="0">
              <a:lnSpc>
                <a:spcPct val="118000"/>
              </a:lnSpc>
              <a:buNone/>
            </a:pPr>
            <a:r>
              <a:rPr lang="en-US" sz="1000" dirty="0">
                <a:solidFill>
                  <a:srgbClr val="1F2540"/>
                </a:solidFill>
                <a:latin typeface="Yu Gothic" pitchFamily="34" charset="0"/>
                <a:ea typeface="Yu Gothic" pitchFamily="34" charset="-122"/>
                <a:cs typeface="Yu Gothic" pitchFamily="34" charset="-120"/>
              </a:rPr>
              <a:t>頭の中にあった判断を、数値・規格で明文化する(暗黙知の顕在化)。</a:t>
            </a:r>
            <a:endParaRPr lang="en-US" sz="1000" dirty="0"/>
          </a:p>
        </p:txBody>
      </p:sp>
      <p:sp>
        <p:nvSpPr>
          <p:cNvPr id="91" name="Shape 89"/>
          <p:cNvSpPr/>
          <p:nvPr/>
        </p:nvSpPr>
        <p:spPr>
          <a:xfrm>
            <a:off x="548640" y="5504688"/>
            <a:ext cx="274320" cy="274320"/>
          </a:xfrm>
          <a:prstGeom prst="ellipse">
            <a:avLst/>
          </a:prstGeom>
          <a:solidFill>
            <a:srgbClr val="1E2761"/>
          </a:solidFill>
          <a:ln/>
        </p:spPr>
      </p:sp>
      <p:sp>
        <p:nvSpPr>
          <p:cNvPr id="92" name="Text 90"/>
          <p:cNvSpPr/>
          <p:nvPr/>
        </p:nvSpPr>
        <p:spPr>
          <a:xfrm>
            <a:off x="548640" y="5490972"/>
            <a:ext cx="2743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93" name="Text 91"/>
          <p:cNvSpPr/>
          <p:nvPr/>
        </p:nvSpPr>
        <p:spPr>
          <a:xfrm>
            <a:off x="950976" y="5458968"/>
            <a:ext cx="5029200" cy="658368"/>
          </a:xfrm>
          <a:prstGeom prst="rect">
            <a:avLst/>
          </a:prstGeom>
          <a:noFill/>
          <a:ln/>
        </p:spPr>
        <p:txBody>
          <a:bodyPr wrap="square" lIns="0" tIns="0" rIns="0" bIns="0" rtlCol="0" anchor="t"/>
          <a:lstStyle/>
          <a:p>
            <a:pPr indent="0" marL="0">
              <a:lnSpc>
                <a:spcPct val="118000"/>
              </a:lnSpc>
              <a:buNone/>
            </a:pPr>
            <a:r>
              <a:rPr lang="en-US" sz="1000" dirty="0">
                <a:solidFill>
                  <a:srgbClr val="1F2540"/>
                </a:solidFill>
                <a:latin typeface="Yu Gothic" pitchFamily="34" charset="0"/>
                <a:ea typeface="Yu Gothic" pitchFamily="34" charset="-122"/>
                <a:cs typeface="Yu Gothic" pitchFamily="34" charset="-120"/>
              </a:rPr>
              <a:t>分岐・差し戻しの行き先は、次ステップ列にすべて列挙する。</a:t>
            </a:r>
            <a:endParaRPr lang="en-US" sz="1000" dirty="0"/>
          </a:p>
        </p:txBody>
      </p:sp>
      <p:sp>
        <p:nvSpPr>
          <p:cNvPr id="94" name="Shape 92"/>
          <p:cNvSpPr/>
          <p:nvPr/>
        </p:nvSpPr>
        <p:spPr>
          <a:xfrm>
            <a:off x="6217920" y="5504688"/>
            <a:ext cx="274320" cy="274320"/>
          </a:xfrm>
          <a:prstGeom prst="ellipse">
            <a:avLst/>
          </a:prstGeom>
          <a:solidFill>
            <a:srgbClr val="1E2761"/>
          </a:solidFill>
          <a:ln/>
        </p:spPr>
      </p:sp>
      <p:sp>
        <p:nvSpPr>
          <p:cNvPr id="95" name="Text 93"/>
          <p:cNvSpPr/>
          <p:nvPr/>
        </p:nvSpPr>
        <p:spPr>
          <a:xfrm>
            <a:off x="6217920" y="5490972"/>
            <a:ext cx="2743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96" name="Text 94"/>
          <p:cNvSpPr/>
          <p:nvPr/>
        </p:nvSpPr>
        <p:spPr>
          <a:xfrm>
            <a:off x="6620256" y="5458968"/>
            <a:ext cx="5029200" cy="658368"/>
          </a:xfrm>
          <a:prstGeom prst="rect">
            <a:avLst/>
          </a:prstGeom>
          <a:noFill/>
          <a:ln/>
        </p:spPr>
        <p:txBody>
          <a:bodyPr wrap="square" lIns="0" tIns="0" rIns="0" bIns="0" rtlCol="0" anchor="t"/>
          <a:lstStyle/>
          <a:p>
            <a:pPr indent="0" marL="0">
              <a:lnSpc>
                <a:spcPct val="118000"/>
              </a:lnSpc>
              <a:buNone/>
            </a:pPr>
            <a:r>
              <a:rPr lang="en-US" sz="1000" dirty="0">
                <a:solidFill>
                  <a:srgbClr val="1F2540"/>
                </a:solidFill>
                <a:latin typeface="Yu Gothic" pitchFamily="34" charset="0"/>
                <a:ea typeface="Yu Gothic" pitchFamily="34" charset="-122"/>
                <a:cs typeface="Yu Gothic" pitchFamily="34" charset="-120"/>
              </a:rPr>
              <a:t>人が確認すべき統制点はTRUEに ― この統制点はAI化後も必ず保持される。</a:t>
            </a:r>
            <a:endParaRPr lang="en-US" sz="1000" dirty="0"/>
          </a:p>
        </p:txBody>
      </p:sp>
      <p:sp>
        <p:nvSpPr>
          <p:cNvPr id="97" name="Text 95"/>
          <p:cNvSpPr/>
          <p:nvPr/>
        </p:nvSpPr>
        <p:spPr>
          <a:xfrm>
            <a:off x="548640" y="6263640"/>
            <a:ext cx="11091672" cy="365760"/>
          </a:xfrm>
          <a:prstGeom prst="rect">
            <a:avLst/>
          </a:prstGeom>
          <a:noFill/>
          <a:ln/>
        </p:spPr>
        <p:txBody>
          <a:bodyPr wrap="square" lIns="0" tIns="0" rIns="0" bIns="0" rtlCol="0" anchor="ctr"/>
          <a:lstStyle/>
          <a:p>
            <a:pPr algn="ctr" indent="0" marL="0">
              <a:buNone/>
            </a:pPr>
            <a:r>
              <a:rPr lang="en-US" sz="1250" b="1" dirty="0">
                <a:solidFill>
                  <a:srgbClr val="1E2761"/>
                </a:solidFill>
                <a:latin typeface="Yu Gothic" pitchFamily="34" charset="0"/>
                <a:ea typeface="Yu Gothic" pitchFamily="34" charset="-122"/>
                <a:cs typeface="Yu Gothic" pitchFamily="34" charset="-120"/>
              </a:rPr>
              <a:t>「書けない」= 暗黙知が残っている証拠。</a:t>
            </a:r>
            <a:pPr algn="ctr" indent="0" marL="0">
              <a:buNone/>
            </a:pPr>
            <a:r>
              <a:rPr lang="en-US" sz="1250" dirty="0">
                <a:solidFill>
                  <a:srgbClr val="1F2540"/>
                </a:solidFill>
                <a:latin typeface="Yu Gothic" pitchFamily="34" charset="0"/>
                <a:ea typeface="Yu Gothic" pitchFamily="34" charset="-122"/>
                <a:cs typeface="Yu Gothic" pitchFamily="34" charset="-120"/>
              </a:rPr>
              <a:t> 書き切るまでの過程そのものが、業務の棚卸しになる。</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566928"/>
          </a:xfrm>
          <a:prstGeom prst="rect">
            <a:avLst/>
          </a:prstGeom>
          <a:noFill/>
          <a:ln/>
        </p:spPr>
        <p:txBody>
          <a:bodyPr wrap="square" lIns="0" tIns="0" rIns="0" bIns="0" rtlCol="0" anchor="ctr"/>
          <a:lstStyle/>
          <a:p>
            <a:pPr algn="l" indent="0" marL="0">
              <a:buNone/>
            </a:pPr>
            <a:r>
              <a:rPr lang="en-US" sz="2600" b="1" dirty="0">
                <a:solidFill>
                  <a:srgbClr val="1E2761"/>
                </a:solidFill>
                <a:latin typeface="Yu Gothic" pitchFamily="34" charset="0"/>
                <a:ea typeface="Yu Gothic" pitchFamily="34" charset="-122"/>
                <a:cs typeface="Yu Gothic" pitchFamily="34" charset="-120"/>
              </a:rPr>
              <a:t>価値②  手順の「写し」ではなく、AI主体への「再設計」</a:t>
            </a:r>
            <a:endParaRPr lang="en-US" sz="2600" dirty="0"/>
          </a:p>
        </p:txBody>
      </p:sp>
      <p:sp>
        <p:nvSpPr>
          <p:cNvPr id="3" name="Text 1"/>
          <p:cNvSpPr/>
          <p:nvPr/>
        </p:nvSpPr>
        <p:spPr>
          <a:xfrm>
            <a:off x="548640" y="1078992"/>
            <a:ext cx="5486400" cy="292608"/>
          </a:xfrm>
          <a:prstGeom prst="rect">
            <a:avLst/>
          </a:prstGeom>
          <a:noFill/>
          <a:ln/>
        </p:spPr>
        <p:txBody>
          <a:bodyPr wrap="square" lIns="0" tIns="0" rIns="0" bIns="0" rtlCol="0" anchor="ctr"/>
          <a:lstStyle/>
          <a:p>
            <a:pPr indent="0" marL="0">
              <a:buNone/>
            </a:pPr>
            <a:r>
              <a:rPr lang="en-US" sz="1250" b="1" dirty="0">
                <a:solidFill>
                  <a:srgbClr val="C4711A"/>
                </a:solidFill>
                <a:latin typeface="Yu Gothic" pitchFamily="34" charset="0"/>
                <a:ea typeface="Yu Gothic" pitchFamily="34" charset="-122"/>
                <a:cs typeface="Yu Gothic" pitchFamily="34" charset="-120"/>
              </a:rPr>
              <a:t>現行:すべて人が実施</a:t>
            </a:r>
            <a:endParaRPr lang="en-US" sz="1250" dirty="0"/>
          </a:p>
        </p:txBody>
      </p:sp>
      <p:sp>
        <p:nvSpPr>
          <p:cNvPr id="4" name="Shape 2"/>
          <p:cNvSpPr/>
          <p:nvPr/>
        </p:nvSpPr>
        <p:spPr>
          <a:xfrm>
            <a:off x="548640" y="1408176"/>
            <a:ext cx="1325880" cy="530352"/>
          </a:xfrm>
          <a:prstGeom prst="roundRect">
            <a:avLst>
              <a:gd name="adj" fmla="val 13793"/>
            </a:avLst>
          </a:prstGeom>
          <a:solidFill>
            <a:srgbClr val="F2B450"/>
          </a:solidFill>
          <a:ln/>
        </p:spPr>
      </p:sp>
      <p:sp>
        <p:nvSpPr>
          <p:cNvPr id="5" name="Text 3"/>
          <p:cNvSpPr/>
          <p:nvPr/>
        </p:nvSpPr>
        <p:spPr>
          <a:xfrm>
            <a:off x="548640" y="1408176"/>
            <a:ext cx="1325880" cy="530352"/>
          </a:xfrm>
          <a:prstGeom prst="rect">
            <a:avLst/>
          </a:prstGeom>
          <a:noFill/>
          <a:ln/>
        </p:spPr>
        <p:txBody>
          <a:bodyPr wrap="square" lIns="0" tIns="0" rIns="0" bIns="0" rtlCol="0" anchor="ctr"/>
          <a:lstStyle/>
          <a:p>
            <a:pPr algn="ctr" indent="0" marL="0">
              <a:buNone/>
            </a:pPr>
            <a:r>
              <a:rPr lang="en-US" sz="1150" b="1" dirty="0">
                <a:solidFill>
                  <a:srgbClr val="4A3007"/>
                </a:solidFill>
                <a:latin typeface="Yu Gothic" pitchFamily="34" charset="0"/>
                <a:ea typeface="Yu Gothic" pitchFamily="34" charset="-122"/>
                <a:cs typeface="Yu Gothic" pitchFamily="34" charset="-120"/>
              </a:rPr>
              <a:t>受付</a:t>
            </a:r>
            <a:endParaRPr lang="en-US" sz="1150" dirty="0"/>
          </a:p>
        </p:txBody>
      </p:sp>
      <p:sp>
        <p:nvSpPr>
          <p:cNvPr id="6" name="Shape 4"/>
          <p:cNvSpPr/>
          <p:nvPr/>
        </p:nvSpPr>
        <p:spPr>
          <a:xfrm>
            <a:off x="1915668" y="1572768"/>
            <a:ext cx="201168" cy="201168"/>
          </a:xfrm>
          <a:prstGeom prst="rightArrow">
            <a:avLst/>
          </a:prstGeom>
          <a:solidFill>
            <a:srgbClr val="D8DCE6"/>
          </a:solidFill>
          <a:ln/>
        </p:spPr>
      </p:sp>
      <p:sp>
        <p:nvSpPr>
          <p:cNvPr id="7" name="Shape 5"/>
          <p:cNvSpPr/>
          <p:nvPr/>
        </p:nvSpPr>
        <p:spPr>
          <a:xfrm>
            <a:off x="2157984" y="1408176"/>
            <a:ext cx="1325880" cy="530352"/>
          </a:xfrm>
          <a:prstGeom prst="roundRect">
            <a:avLst>
              <a:gd name="adj" fmla="val 13793"/>
            </a:avLst>
          </a:prstGeom>
          <a:solidFill>
            <a:srgbClr val="F2B450"/>
          </a:solidFill>
          <a:ln/>
        </p:spPr>
      </p:sp>
      <p:sp>
        <p:nvSpPr>
          <p:cNvPr id="8" name="Text 6"/>
          <p:cNvSpPr/>
          <p:nvPr/>
        </p:nvSpPr>
        <p:spPr>
          <a:xfrm>
            <a:off x="2157984" y="1408176"/>
            <a:ext cx="1325880" cy="530352"/>
          </a:xfrm>
          <a:prstGeom prst="rect">
            <a:avLst/>
          </a:prstGeom>
          <a:noFill/>
          <a:ln/>
        </p:spPr>
        <p:txBody>
          <a:bodyPr wrap="square" lIns="0" tIns="0" rIns="0" bIns="0" rtlCol="0" anchor="ctr"/>
          <a:lstStyle/>
          <a:p>
            <a:pPr algn="ctr" indent="0" marL="0">
              <a:buNone/>
            </a:pPr>
            <a:r>
              <a:rPr lang="en-US" sz="1150" b="1" dirty="0">
                <a:solidFill>
                  <a:srgbClr val="4A3007"/>
                </a:solidFill>
                <a:latin typeface="Yu Gothic" pitchFamily="34" charset="0"/>
                <a:ea typeface="Yu Gothic" pitchFamily="34" charset="-122"/>
                <a:cs typeface="Yu Gothic" pitchFamily="34" charset="-120"/>
              </a:rPr>
              <a:t>台帳へ転記</a:t>
            </a:r>
            <a:endParaRPr lang="en-US" sz="1150" dirty="0"/>
          </a:p>
        </p:txBody>
      </p:sp>
      <p:sp>
        <p:nvSpPr>
          <p:cNvPr id="9" name="Shape 7"/>
          <p:cNvSpPr/>
          <p:nvPr/>
        </p:nvSpPr>
        <p:spPr>
          <a:xfrm>
            <a:off x="3525012" y="1572768"/>
            <a:ext cx="201168" cy="201168"/>
          </a:xfrm>
          <a:prstGeom prst="rightArrow">
            <a:avLst/>
          </a:prstGeom>
          <a:solidFill>
            <a:srgbClr val="D8DCE6"/>
          </a:solidFill>
          <a:ln/>
        </p:spPr>
      </p:sp>
      <p:sp>
        <p:nvSpPr>
          <p:cNvPr id="10" name="Shape 8"/>
          <p:cNvSpPr/>
          <p:nvPr/>
        </p:nvSpPr>
        <p:spPr>
          <a:xfrm>
            <a:off x="3767328" y="1408176"/>
            <a:ext cx="1325880" cy="530352"/>
          </a:xfrm>
          <a:prstGeom prst="roundRect">
            <a:avLst>
              <a:gd name="adj" fmla="val 13793"/>
            </a:avLst>
          </a:prstGeom>
          <a:solidFill>
            <a:srgbClr val="F2B450"/>
          </a:solidFill>
          <a:ln/>
        </p:spPr>
      </p:sp>
      <p:sp>
        <p:nvSpPr>
          <p:cNvPr id="11" name="Text 9"/>
          <p:cNvSpPr/>
          <p:nvPr/>
        </p:nvSpPr>
        <p:spPr>
          <a:xfrm>
            <a:off x="3767328" y="1408176"/>
            <a:ext cx="1325880" cy="530352"/>
          </a:xfrm>
          <a:prstGeom prst="rect">
            <a:avLst/>
          </a:prstGeom>
          <a:noFill/>
          <a:ln/>
        </p:spPr>
        <p:txBody>
          <a:bodyPr wrap="square" lIns="0" tIns="0" rIns="0" bIns="0" rtlCol="0" anchor="ctr"/>
          <a:lstStyle/>
          <a:p>
            <a:pPr algn="ctr" indent="0" marL="0">
              <a:buNone/>
            </a:pPr>
            <a:r>
              <a:rPr lang="en-US" sz="1150" b="1" dirty="0">
                <a:solidFill>
                  <a:srgbClr val="4A3007"/>
                </a:solidFill>
                <a:latin typeface="Yu Gothic" pitchFamily="34" charset="0"/>
                <a:ea typeface="Yu Gothic" pitchFamily="34" charset="-122"/>
                <a:cs typeface="Yu Gothic" pitchFamily="34" charset="-120"/>
              </a:rPr>
              <a:t>基準と照合</a:t>
            </a:r>
            <a:endParaRPr lang="en-US" sz="1150" dirty="0"/>
          </a:p>
        </p:txBody>
      </p:sp>
      <p:sp>
        <p:nvSpPr>
          <p:cNvPr id="12" name="Shape 10"/>
          <p:cNvSpPr/>
          <p:nvPr/>
        </p:nvSpPr>
        <p:spPr>
          <a:xfrm>
            <a:off x="5134356" y="1572768"/>
            <a:ext cx="201168" cy="201168"/>
          </a:xfrm>
          <a:prstGeom prst="rightArrow">
            <a:avLst/>
          </a:prstGeom>
          <a:solidFill>
            <a:srgbClr val="D8DCE6"/>
          </a:solidFill>
          <a:ln/>
        </p:spPr>
      </p:sp>
      <p:sp>
        <p:nvSpPr>
          <p:cNvPr id="13" name="Shape 11"/>
          <p:cNvSpPr/>
          <p:nvPr/>
        </p:nvSpPr>
        <p:spPr>
          <a:xfrm>
            <a:off x="5376672" y="1408176"/>
            <a:ext cx="1325880" cy="530352"/>
          </a:xfrm>
          <a:prstGeom prst="roundRect">
            <a:avLst>
              <a:gd name="adj" fmla="val 13793"/>
            </a:avLst>
          </a:prstGeom>
          <a:solidFill>
            <a:srgbClr val="F2B450"/>
          </a:solidFill>
          <a:ln/>
        </p:spPr>
      </p:sp>
      <p:sp>
        <p:nvSpPr>
          <p:cNvPr id="14" name="Text 12"/>
          <p:cNvSpPr/>
          <p:nvPr/>
        </p:nvSpPr>
        <p:spPr>
          <a:xfrm>
            <a:off x="5376672" y="1408176"/>
            <a:ext cx="1325880" cy="530352"/>
          </a:xfrm>
          <a:prstGeom prst="rect">
            <a:avLst/>
          </a:prstGeom>
          <a:noFill/>
          <a:ln/>
        </p:spPr>
        <p:txBody>
          <a:bodyPr wrap="square" lIns="0" tIns="0" rIns="0" bIns="0" rtlCol="0" anchor="ctr"/>
          <a:lstStyle/>
          <a:p>
            <a:pPr algn="ctr" indent="0" marL="0">
              <a:buNone/>
            </a:pPr>
            <a:r>
              <a:rPr lang="en-US" sz="1150" b="1" dirty="0">
                <a:solidFill>
                  <a:srgbClr val="4A3007"/>
                </a:solidFill>
                <a:latin typeface="Yu Gothic" pitchFamily="34" charset="0"/>
                <a:ea typeface="Yu Gothic" pitchFamily="34" charset="-122"/>
                <a:cs typeface="Yu Gothic" pitchFamily="34" charset="-120"/>
              </a:rPr>
              <a:t>集計</a:t>
            </a:r>
            <a:endParaRPr lang="en-US" sz="1150" dirty="0"/>
          </a:p>
        </p:txBody>
      </p:sp>
      <p:sp>
        <p:nvSpPr>
          <p:cNvPr id="15" name="Shape 13"/>
          <p:cNvSpPr/>
          <p:nvPr/>
        </p:nvSpPr>
        <p:spPr>
          <a:xfrm>
            <a:off x="6743700" y="1572768"/>
            <a:ext cx="201168" cy="201168"/>
          </a:xfrm>
          <a:prstGeom prst="rightArrow">
            <a:avLst/>
          </a:prstGeom>
          <a:solidFill>
            <a:srgbClr val="D8DCE6"/>
          </a:solidFill>
          <a:ln/>
        </p:spPr>
      </p:sp>
      <p:sp>
        <p:nvSpPr>
          <p:cNvPr id="16" name="Shape 14"/>
          <p:cNvSpPr/>
          <p:nvPr/>
        </p:nvSpPr>
        <p:spPr>
          <a:xfrm>
            <a:off x="6986016" y="1408176"/>
            <a:ext cx="1325880" cy="530352"/>
          </a:xfrm>
          <a:prstGeom prst="roundRect">
            <a:avLst>
              <a:gd name="adj" fmla="val 13793"/>
            </a:avLst>
          </a:prstGeom>
          <a:solidFill>
            <a:srgbClr val="F2B450"/>
          </a:solidFill>
          <a:ln/>
        </p:spPr>
      </p:sp>
      <p:sp>
        <p:nvSpPr>
          <p:cNvPr id="17" name="Text 15"/>
          <p:cNvSpPr/>
          <p:nvPr/>
        </p:nvSpPr>
        <p:spPr>
          <a:xfrm>
            <a:off x="6986016" y="1408176"/>
            <a:ext cx="1325880" cy="530352"/>
          </a:xfrm>
          <a:prstGeom prst="rect">
            <a:avLst/>
          </a:prstGeom>
          <a:noFill/>
          <a:ln/>
        </p:spPr>
        <p:txBody>
          <a:bodyPr wrap="square" lIns="0" tIns="0" rIns="0" bIns="0" rtlCol="0" anchor="ctr"/>
          <a:lstStyle/>
          <a:p>
            <a:pPr algn="ctr" indent="0" marL="0">
              <a:buNone/>
            </a:pPr>
            <a:r>
              <a:rPr lang="en-US" sz="1150" b="1" dirty="0">
                <a:solidFill>
                  <a:srgbClr val="4A3007"/>
                </a:solidFill>
                <a:latin typeface="Yu Gothic" pitchFamily="34" charset="0"/>
                <a:ea typeface="Yu Gothic" pitchFamily="34" charset="-122"/>
                <a:cs typeface="Yu Gothic" pitchFamily="34" charset="-120"/>
              </a:rPr>
              <a:t>合否判定</a:t>
            </a:r>
            <a:endParaRPr lang="en-US" sz="1150" dirty="0"/>
          </a:p>
        </p:txBody>
      </p:sp>
      <p:sp>
        <p:nvSpPr>
          <p:cNvPr id="18" name="Shape 16"/>
          <p:cNvSpPr/>
          <p:nvPr/>
        </p:nvSpPr>
        <p:spPr>
          <a:xfrm>
            <a:off x="8353044" y="1572768"/>
            <a:ext cx="201168" cy="201168"/>
          </a:xfrm>
          <a:prstGeom prst="rightArrow">
            <a:avLst/>
          </a:prstGeom>
          <a:solidFill>
            <a:srgbClr val="D8DCE6"/>
          </a:solidFill>
          <a:ln/>
        </p:spPr>
      </p:sp>
      <p:sp>
        <p:nvSpPr>
          <p:cNvPr id="19" name="Shape 17"/>
          <p:cNvSpPr/>
          <p:nvPr/>
        </p:nvSpPr>
        <p:spPr>
          <a:xfrm>
            <a:off x="8595360" y="1408176"/>
            <a:ext cx="1325880" cy="530352"/>
          </a:xfrm>
          <a:prstGeom prst="roundRect">
            <a:avLst>
              <a:gd name="adj" fmla="val 13793"/>
            </a:avLst>
          </a:prstGeom>
          <a:solidFill>
            <a:srgbClr val="F2B450"/>
          </a:solidFill>
          <a:ln/>
        </p:spPr>
      </p:sp>
      <p:sp>
        <p:nvSpPr>
          <p:cNvPr id="20" name="Text 18"/>
          <p:cNvSpPr/>
          <p:nvPr/>
        </p:nvSpPr>
        <p:spPr>
          <a:xfrm>
            <a:off x="8595360" y="1408176"/>
            <a:ext cx="1325880" cy="530352"/>
          </a:xfrm>
          <a:prstGeom prst="rect">
            <a:avLst/>
          </a:prstGeom>
          <a:noFill/>
          <a:ln/>
        </p:spPr>
        <p:txBody>
          <a:bodyPr wrap="square" lIns="0" tIns="0" rIns="0" bIns="0" rtlCol="0" anchor="ctr"/>
          <a:lstStyle/>
          <a:p>
            <a:pPr algn="ctr" indent="0" marL="0">
              <a:buNone/>
            </a:pPr>
            <a:r>
              <a:rPr lang="en-US" sz="1150" b="1" dirty="0">
                <a:solidFill>
                  <a:srgbClr val="4A3007"/>
                </a:solidFill>
                <a:latin typeface="Yu Gothic" pitchFamily="34" charset="0"/>
                <a:ea typeface="Yu Gothic" pitchFamily="34" charset="-122"/>
                <a:cs typeface="Yu Gothic" pitchFamily="34" charset="-120"/>
              </a:rPr>
              <a:t>承認</a:t>
            </a:r>
            <a:endParaRPr lang="en-US" sz="1150" dirty="0"/>
          </a:p>
        </p:txBody>
      </p:sp>
      <p:sp>
        <p:nvSpPr>
          <p:cNvPr id="21" name="Shape 19"/>
          <p:cNvSpPr/>
          <p:nvPr/>
        </p:nvSpPr>
        <p:spPr>
          <a:xfrm>
            <a:off x="9962388" y="1572768"/>
            <a:ext cx="201168" cy="201168"/>
          </a:xfrm>
          <a:prstGeom prst="rightArrow">
            <a:avLst/>
          </a:prstGeom>
          <a:solidFill>
            <a:srgbClr val="D8DCE6"/>
          </a:solidFill>
          <a:ln/>
        </p:spPr>
      </p:sp>
      <p:sp>
        <p:nvSpPr>
          <p:cNvPr id="22" name="Shape 20"/>
          <p:cNvSpPr/>
          <p:nvPr/>
        </p:nvSpPr>
        <p:spPr>
          <a:xfrm>
            <a:off x="10204704" y="1408176"/>
            <a:ext cx="1325880" cy="530352"/>
          </a:xfrm>
          <a:prstGeom prst="roundRect">
            <a:avLst>
              <a:gd name="adj" fmla="val 13793"/>
            </a:avLst>
          </a:prstGeom>
          <a:solidFill>
            <a:srgbClr val="F2B450"/>
          </a:solidFill>
          <a:ln/>
        </p:spPr>
      </p:sp>
      <p:sp>
        <p:nvSpPr>
          <p:cNvPr id="23" name="Text 21"/>
          <p:cNvSpPr/>
          <p:nvPr/>
        </p:nvSpPr>
        <p:spPr>
          <a:xfrm>
            <a:off x="10204704" y="1408176"/>
            <a:ext cx="1325880" cy="530352"/>
          </a:xfrm>
          <a:prstGeom prst="rect">
            <a:avLst/>
          </a:prstGeom>
          <a:noFill/>
          <a:ln/>
        </p:spPr>
        <p:txBody>
          <a:bodyPr wrap="square" lIns="0" tIns="0" rIns="0" bIns="0" rtlCol="0" anchor="ctr"/>
          <a:lstStyle/>
          <a:p>
            <a:pPr algn="ctr" indent="0" marL="0">
              <a:buNone/>
            </a:pPr>
            <a:r>
              <a:rPr lang="en-US" sz="1150" b="1" dirty="0">
                <a:solidFill>
                  <a:srgbClr val="4A3007"/>
                </a:solidFill>
                <a:latin typeface="Yu Gothic" pitchFamily="34" charset="0"/>
                <a:ea typeface="Yu Gothic" pitchFamily="34" charset="-122"/>
                <a:cs typeface="Yu Gothic" pitchFamily="34" charset="-120"/>
              </a:rPr>
              <a:t>記録</a:t>
            </a:r>
            <a:endParaRPr lang="en-US" sz="1150" dirty="0"/>
          </a:p>
        </p:txBody>
      </p:sp>
      <p:sp>
        <p:nvSpPr>
          <p:cNvPr id="24" name="Shape 22"/>
          <p:cNvSpPr/>
          <p:nvPr/>
        </p:nvSpPr>
        <p:spPr>
          <a:xfrm>
            <a:off x="5870448" y="2121408"/>
            <a:ext cx="457200" cy="502920"/>
          </a:xfrm>
          <a:prstGeom prst="downArrow">
            <a:avLst/>
          </a:prstGeom>
          <a:solidFill>
            <a:srgbClr val="1E2761"/>
          </a:solidFill>
          <a:ln/>
        </p:spPr>
      </p:sp>
      <p:sp>
        <p:nvSpPr>
          <p:cNvPr id="25" name="Text 23"/>
          <p:cNvSpPr/>
          <p:nvPr/>
        </p:nvSpPr>
        <p:spPr>
          <a:xfrm>
            <a:off x="6492240" y="2212848"/>
            <a:ext cx="5120640" cy="320040"/>
          </a:xfrm>
          <a:prstGeom prst="rect">
            <a:avLst/>
          </a:prstGeom>
          <a:noFill/>
          <a:ln/>
        </p:spPr>
        <p:txBody>
          <a:bodyPr wrap="square" lIns="0" tIns="0" rIns="0" bIns="0" rtlCol="0" anchor="ctr"/>
          <a:lstStyle/>
          <a:p>
            <a:pPr indent="0" marL="0">
              <a:buNone/>
            </a:pPr>
            <a:r>
              <a:rPr lang="en-US" sz="1150" b="1" dirty="0">
                <a:solidFill>
                  <a:srgbClr val="1E2761"/>
                </a:solidFill>
                <a:latin typeface="Yu Gothic" pitchFamily="34" charset="0"/>
                <a:ea typeface="Yu Gothic" pitchFamily="34" charset="-122"/>
                <a:cs typeface="Yu Gothic" pitchFamily="34" charset="-120"/>
              </a:rPr>
              <a:t>業務の意味と統制点を保存したまま、自動で再設計</a:t>
            </a:r>
            <a:endParaRPr lang="en-US" sz="1150" dirty="0"/>
          </a:p>
        </p:txBody>
      </p:sp>
      <p:sp>
        <p:nvSpPr>
          <p:cNvPr id="26" name="Text 24"/>
          <p:cNvSpPr/>
          <p:nvPr/>
        </p:nvSpPr>
        <p:spPr>
          <a:xfrm>
            <a:off x="548640" y="2761488"/>
            <a:ext cx="8229600" cy="292608"/>
          </a:xfrm>
          <a:prstGeom prst="rect">
            <a:avLst/>
          </a:prstGeom>
          <a:noFill/>
          <a:ln/>
        </p:spPr>
        <p:txBody>
          <a:bodyPr wrap="square" lIns="0" tIns="0" rIns="0" bIns="0" rtlCol="0" anchor="ctr"/>
          <a:lstStyle/>
          <a:p>
            <a:pPr indent="0" marL="0">
              <a:buNone/>
            </a:pPr>
            <a:r>
              <a:rPr lang="en-US" sz="1250" b="1" dirty="0">
                <a:solidFill>
                  <a:srgbClr val="0E8C7F"/>
                </a:solidFill>
                <a:latin typeface="Yu Gothic" pitchFamily="34" charset="0"/>
                <a:ea typeface="Yu Gothic" pitchFamily="34" charset="-122"/>
                <a:cs typeface="Yu Gothic" pitchFamily="34" charset="-120"/>
              </a:rPr>
              <a:t>AIネイティブ化後:AIが作業を担い、人は判断と承認に集中</a:t>
            </a:r>
            <a:endParaRPr lang="en-US" sz="1250" dirty="0"/>
          </a:p>
        </p:txBody>
      </p:sp>
      <p:sp>
        <p:nvSpPr>
          <p:cNvPr id="27" name="Shape 25"/>
          <p:cNvSpPr/>
          <p:nvPr/>
        </p:nvSpPr>
        <p:spPr>
          <a:xfrm>
            <a:off x="548640" y="3090672"/>
            <a:ext cx="1234440" cy="713232"/>
          </a:xfrm>
          <a:prstGeom prst="roundRect">
            <a:avLst>
              <a:gd name="adj" fmla="val 10256"/>
            </a:avLst>
          </a:prstGeom>
          <a:solidFill>
            <a:srgbClr val="0E8C7F"/>
          </a:solidFill>
          <a:ln/>
        </p:spPr>
      </p:sp>
      <p:sp>
        <p:nvSpPr>
          <p:cNvPr id="28" name="Text 26"/>
          <p:cNvSpPr/>
          <p:nvPr/>
        </p:nvSpPr>
        <p:spPr>
          <a:xfrm>
            <a:off x="548640" y="3182112"/>
            <a:ext cx="1234440"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Yu Gothic" pitchFamily="34" charset="0"/>
                <a:ea typeface="Yu Gothic" pitchFamily="34" charset="-122"/>
                <a:cs typeface="Yu Gothic" pitchFamily="34" charset="-120"/>
              </a:rPr>
              <a:t>受付</a:t>
            </a:r>
            <a:endParaRPr lang="en-US" sz="1150" dirty="0"/>
          </a:p>
        </p:txBody>
      </p:sp>
      <p:sp>
        <p:nvSpPr>
          <p:cNvPr id="29" name="Text 27"/>
          <p:cNvSpPr/>
          <p:nvPr/>
        </p:nvSpPr>
        <p:spPr>
          <a:xfrm>
            <a:off x="548640" y="3483864"/>
            <a:ext cx="1234440" cy="237744"/>
          </a:xfrm>
          <a:prstGeom prst="rect">
            <a:avLst/>
          </a:prstGeom>
          <a:noFill/>
          <a:ln/>
        </p:spPr>
        <p:txBody>
          <a:bodyPr wrap="square" lIns="0" tIns="0" rIns="0" bIns="0" rtlCol="0" anchor="ctr"/>
          <a:lstStyle/>
          <a:p>
            <a:pPr algn="ctr" indent="0" marL="0">
              <a:buNone/>
            </a:pPr>
            <a:r>
              <a:rPr lang="en-US" sz="850" dirty="0">
                <a:solidFill>
                  <a:srgbClr val="CFEDE8"/>
                </a:solidFill>
                <a:latin typeface="Yu Gothic" pitchFamily="34" charset="0"/>
                <a:ea typeface="Yu Gothic" pitchFamily="34" charset="-122"/>
                <a:cs typeface="Yu Gothic" pitchFamily="34" charset="-120"/>
              </a:rPr>
              <a:t>AI</a:t>
            </a:r>
            <a:endParaRPr lang="en-US" sz="850" dirty="0"/>
          </a:p>
        </p:txBody>
      </p:sp>
      <p:sp>
        <p:nvSpPr>
          <p:cNvPr id="30" name="Shape 28"/>
          <p:cNvSpPr/>
          <p:nvPr/>
        </p:nvSpPr>
        <p:spPr>
          <a:xfrm>
            <a:off x="1824228" y="3346704"/>
            <a:ext cx="201168" cy="201168"/>
          </a:xfrm>
          <a:prstGeom prst="rightArrow">
            <a:avLst/>
          </a:prstGeom>
          <a:solidFill>
            <a:srgbClr val="D8DCE6"/>
          </a:solidFill>
          <a:ln/>
        </p:spPr>
      </p:sp>
      <p:sp>
        <p:nvSpPr>
          <p:cNvPr id="31" name="Shape 29"/>
          <p:cNvSpPr/>
          <p:nvPr/>
        </p:nvSpPr>
        <p:spPr>
          <a:xfrm>
            <a:off x="2066544" y="3090672"/>
            <a:ext cx="2103120" cy="713232"/>
          </a:xfrm>
          <a:prstGeom prst="roundRect">
            <a:avLst>
              <a:gd name="adj" fmla="val 10256"/>
            </a:avLst>
          </a:prstGeom>
          <a:solidFill>
            <a:srgbClr val="0E8C7F"/>
          </a:solidFill>
          <a:ln/>
        </p:spPr>
      </p:sp>
      <p:sp>
        <p:nvSpPr>
          <p:cNvPr id="32" name="Text 30"/>
          <p:cNvSpPr/>
          <p:nvPr/>
        </p:nvSpPr>
        <p:spPr>
          <a:xfrm>
            <a:off x="2066544" y="3182112"/>
            <a:ext cx="2103120"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Yu Gothic" pitchFamily="34" charset="0"/>
                <a:ea typeface="Yu Gothic" pitchFamily="34" charset="-122"/>
                <a:cs typeface="Yu Gothic" pitchFamily="34" charset="-120"/>
              </a:rPr>
              <a:t>転記・照合・集計</a:t>
            </a:r>
            <a:endParaRPr lang="en-US" sz="1150" dirty="0"/>
          </a:p>
        </p:txBody>
      </p:sp>
      <p:sp>
        <p:nvSpPr>
          <p:cNvPr id="33" name="Text 31"/>
          <p:cNvSpPr/>
          <p:nvPr/>
        </p:nvSpPr>
        <p:spPr>
          <a:xfrm>
            <a:off x="2066544" y="3483864"/>
            <a:ext cx="2103120" cy="237744"/>
          </a:xfrm>
          <a:prstGeom prst="rect">
            <a:avLst/>
          </a:prstGeom>
          <a:noFill/>
          <a:ln/>
        </p:spPr>
        <p:txBody>
          <a:bodyPr wrap="square" lIns="0" tIns="0" rIns="0" bIns="0" rtlCol="0" anchor="ctr"/>
          <a:lstStyle/>
          <a:p>
            <a:pPr algn="ctr" indent="0" marL="0">
              <a:buNone/>
            </a:pPr>
            <a:r>
              <a:rPr lang="en-US" sz="850" dirty="0">
                <a:solidFill>
                  <a:srgbClr val="CFEDE8"/>
                </a:solidFill>
                <a:latin typeface="Yu Gothic" pitchFamily="34" charset="0"/>
                <a:ea typeface="Yu Gothic" pitchFamily="34" charset="-122"/>
                <a:cs typeface="Yu Gothic" pitchFamily="34" charset="-120"/>
              </a:rPr>
              <a:t>AIが一括処理</a:t>
            </a:r>
            <a:endParaRPr lang="en-US" sz="850" dirty="0"/>
          </a:p>
        </p:txBody>
      </p:sp>
      <p:sp>
        <p:nvSpPr>
          <p:cNvPr id="34" name="Shape 32"/>
          <p:cNvSpPr/>
          <p:nvPr/>
        </p:nvSpPr>
        <p:spPr>
          <a:xfrm>
            <a:off x="4210812" y="3346704"/>
            <a:ext cx="201168" cy="201168"/>
          </a:xfrm>
          <a:prstGeom prst="rightArrow">
            <a:avLst/>
          </a:prstGeom>
          <a:solidFill>
            <a:srgbClr val="D8DCE6"/>
          </a:solidFill>
          <a:ln/>
        </p:spPr>
      </p:sp>
      <p:sp>
        <p:nvSpPr>
          <p:cNvPr id="35" name="Shape 33"/>
          <p:cNvSpPr/>
          <p:nvPr/>
        </p:nvSpPr>
        <p:spPr>
          <a:xfrm>
            <a:off x="4453128" y="3090672"/>
            <a:ext cx="1508760" cy="713232"/>
          </a:xfrm>
          <a:prstGeom prst="roundRect">
            <a:avLst>
              <a:gd name="adj" fmla="val 10256"/>
            </a:avLst>
          </a:prstGeom>
          <a:solidFill>
            <a:srgbClr val="E3F4F1"/>
          </a:solidFill>
          <a:ln w="15875">
            <a:solidFill>
              <a:srgbClr val="0E8C7F"/>
            </a:solidFill>
            <a:prstDash val="dash"/>
          </a:ln>
        </p:spPr>
      </p:sp>
      <p:sp>
        <p:nvSpPr>
          <p:cNvPr id="36" name="Text 34"/>
          <p:cNvSpPr/>
          <p:nvPr/>
        </p:nvSpPr>
        <p:spPr>
          <a:xfrm>
            <a:off x="4453128" y="3182112"/>
            <a:ext cx="1508760" cy="292608"/>
          </a:xfrm>
          <a:prstGeom prst="rect">
            <a:avLst/>
          </a:prstGeom>
          <a:noFill/>
          <a:ln/>
        </p:spPr>
        <p:txBody>
          <a:bodyPr wrap="square" lIns="0" tIns="0" rIns="0" bIns="0" rtlCol="0" anchor="ctr"/>
          <a:lstStyle/>
          <a:p>
            <a:pPr algn="ctr" indent="0" marL="0">
              <a:buNone/>
            </a:pPr>
            <a:r>
              <a:rPr lang="en-US" sz="1150" b="1" dirty="0">
                <a:solidFill>
                  <a:srgbClr val="0E8C7F"/>
                </a:solidFill>
                <a:latin typeface="Yu Gothic" pitchFamily="34" charset="0"/>
                <a:ea typeface="Yu Gothic" pitchFamily="34" charset="-122"/>
                <a:cs typeface="Yu Gothic" pitchFamily="34" charset="-120"/>
              </a:rPr>
              <a:t>検証ゲート</a:t>
            </a:r>
            <a:endParaRPr lang="en-US" sz="1150" dirty="0"/>
          </a:p>
        </p:txBody>
      </p:sp>
      <p:sp>
        <p:nvSpPr>
          <p:cNvPr id="37" name="Text 35"/>
          <p:cNvSpPr/>
          <p:nvPr/>
        </p:nvSpPr>
        <p:spPr>
          <a:xfrm>
            <a:off x="4453128" y="3483864"/>
            <a:ext cx="1508760" cy="237744"/>
          </a:xfrm>
          <a:prstGeom prst="rect">
            <a:avLst/>
          </a:prstGeom>
          <a:noFill/>
          <a:ln/>
        </p:spPr>
        <p:txBody>
          <a:bodyPr wrap="square" lIns="0" tIns="0" rIns="0" bIns="0" rtlCol="0" anchor="ctr"/>
          <a:lstStyle/>
          <a:p>
            <a:pPr algn="ctr" indent="0" marL="0">
              <a:buNone/>
            </a:pPr>
            <a:r>
              <a:rPr lang="en-US" sz="850" dirty="0">
                <a:solidFill>
                  <a:srgbClr val="0E8C7F"/>
                </a:solidFill>
                <a:latin typeface="Yu Gothic" pitchFamily="34" charset="0"/>
                <a:ea typeface="Yu Gothic" pitchFamily="34" charset="-122"/>
                <a:cs typeface="Yu Gothic" pitchFamily="34" charset="-120"/>
              </a:rPr>
              <a:t>自動挿入</a:t>
            </a:r>
            <a:endParaRPr lang="en-US" sz="850" dirty="0"/>
          </a:p>
        </p:txBody>
      </p:sp>
      <p:sp>
        <p:nvSpPr>
          <p:cNvPr id="38" name="Shape 36"/>
          <p:cNvSpPr/>
          <p:nvPr/>
        </p:nvSpPr>
        <p:spPr>
          <a:xfrm>
            <a:off x="6003036" y="3346704"/>
            <a:ext cx="201168" cy="201168"/>
          </a:xfrm>
          <a:prstGeom prst="rightArrow">
            <a:avLst/>
          </a:prstGeom>
          <a:solidFill>
            <a:srgbClr val="D8DCE6"/>
          </a:solidFill>
          <a:ln/>
        </p:spPr>
      </p:sp>
      <p:sp>
        <p:nvSpPr>
          <p:cNvPr id="39" name="Shape 37"/>
          <p:cNvSpPr/>
          <p:nvPr/>
        </p:nvSpPr>
        <p:spPr>
          <a:xfrm>
            <a:off x="6245352" y="3090672"/>
            <a:ext cx="2011680" cy="713232"/>
          </a:xfrm>
          <a:prstGeom prst="roundRect">
            <a:avLst>
              <a:gd name="adj" fmla="val 10256"/>
            </a:avLst>
          </a:prstGeom>
          <a:solidFill>
            <a:srgbClr val="FDEEDC"/>
          </a:solidFill>
          <a:ln w="22225">
            <a:solidFill>
              <a:srgbClr val="0E8C7F"/>
            </a:solidFill>
            <a:prstDash val="solid"/>
          </a:ln>
        </p:spPr>
      </p:sp>
      <p:sp>
        <p:nvSpPr>
          <p:cNvPr id="40" name="Text 38"/>
          <p:cNvSpPr/>
          <p:nvPr/>
        </p:nvSpPr>
        <p:spPr>
          <a:xfrm>
            <a:off x="6245352" y="3182112"/>
            <a:ext cx="2011680" cy="292608"/>
          </a:xfrm>
          <a:prstGeom prst="rect">
            <a:avLst/>
          </a:prstGeom>
          <a:noFill/>
          <a:ln/>
        </p:spPr>
        <p:txBody>
          <a:bodyPr wrap="square" lIns="0" tIns="0" rIns="0" bIns="0" rtlCol="0" anchor="ctr"/>
          <a:lstStyle/>
          <a:p>
            <a:pPr algn="ctr" indent="0" marL="0">
              <a:buNone/>
            </a:pPr>
            <a:r>
              <a:rPr lang="en-US" sz="1150" b="1" dirty="0">
                <a:solidFill>
                  <a:srgbClr val="1F2540"/>
                </a:solidFill>
                <a:latin typeface="Yu Gothic" pitchFamily="34" charset="0"/>
                <a:ea typeface="Yu Gothic" pitchFamily="34" charset="-122"/>
                <a:cs typeface="Yu Gothic" pitchFamily="34" charset="-120"/>
              </a:rPr>
              <a:t>判定案の作成</a:t>
            </a:r>
            <a:endParaRPr lang="en-US" sz="1150" dirty="0"/>
          </a:p>
        </p:txBody>
      </p:sp>
      <p:sp>
        <p:nvSpPr>
          <p:cNvPr id="41" name="Text 39"/>
          <p:cNvSpPr/>
          <p:nvPr/>
        </p:nvSpPr>
        <p:spPr>
          <a:xfrm>
            <a:off x="6245352" y="3483864"/>
            <a:ext cx="2011680" cy="237744"/>
          </a:xfrm>
          <a:prstGeom prst="rect">
            <a:avLst/>
          </a:prstGeom>
          <a:noFill/>
          <a:ln/>
        </p:spPr>
        <p:txBody>
          <a:bodyPr wrap="square" lIns="0" tIns="0" rIns="0" bIns="0" rtlCol="0" anchor="ctr"/>
          <a:lstStyle/>
          <a:p>
            <a:pPr algn="ctr" indent="0" marL="0">
              <a:buNone/>
            </a:pPr>
            <a:r>
              <a:rPr lang="en-US" sz="850" dirty="0">
                <a:solidFill>
                  <a:srgbClr val="0E8C7F"/>
                </a:solidFill>
                <a:latin typeface="Yu Gothic" pitchFamily="34" charset="0"/>
                <a:ea typeface="Yu Gothic" pitchFamily="34" charset="-122"/>
                <a:cs typeface="Yu Gothic" pitchFamily="34" charset="-120"/>
              </a:rPr>
              <a:t>AI案 → 人が確定</a:t>
            </a:r>
            <a:endParaRPr lang="en-US" sz="850" dirty="0"/>
          </a:p>
        </p:txBody>
      </p:sp>
      <p:sp>
        <p:nvSpPr>
          <p:cNvPr id="42" name="Shape 40"/>
          <p:cNvSpPr/>
          <p:nvPr/>
        </p:nvSpPr>
        <p:spPr>
          <a:xfrm>
            <a:off x="8298180" y="3346704"/>
            <a:ext cx="201168" cy="201168"/>
          </a:xfrm>
          <a:prstGeom prst="rightArrow">
            <a:avLst/>
          </a:prstGeom>
          <a:solidFill>
            <a:srgbClr val="D8DCE6"/>
          </a:solidFill>
          <a:ln/>
        </p:spPr>
      </p:sp>
      <p:sp>
        <p:nvSpPr>
          <p:cNvPr id="43" name="Shape 41"/>
          <p:cNvSpPr/>
          <p:nvPr/>
        </p:nvSpPr>
        <p:spPr>
          <a:xfrm>
            <a:off x="8540496" y="3090672"/>
            <a:ext cx="1280160" cy="713232"/>
          </a:xfrm>
          <a:prstGeom prst="roundRect">
            <a:avLst>
              <a:gd name="adj" fmla="val 10256"/>
            </a:avLst>
          </a:prstGeom>
          <a:solidFill>
            <a:srgbClr val="F2B450"/>
          </a:solidFill>
          <a:ln/>
        </p:spPr>
      </p:sp>
      <p:sp>
        <p:nvSpPr>
          <p:cNvPr id="44" name="Text 42"/>
          <p:cNvSpPr/>
          <p:nvPr/>
        </p:nvSpPr>
        <p:spPr>
          <a:xfrm>
            <a:off x="8540496" y="3182112"/>
            <a:ext cx="1280160" cy="292608"/>
          </a:xfrm>
          <a:prstGeom prst="rect">
            <a:avLst/>
          </a:prstGeom>
          <a:noFill/>
          <a:ln/>
        </p:spPr>
        <p:txBody>
          <a:bodyPr wrap="square" lIns="0" tIns="0" rIns="0" bIns="0" rtlCol="0" anchor="ctr"/>
          <a:lstStyle/>
          <a:p>
            <a:pPr algn="ctr" indent="0" marL="0">
              <a:buNone/>
            </a:pPr>
            <a:r>
              <a:rPr lang="en-US" sz="1150" b="1" dirty="0">
                <a:solidFill>
                  <a:srgbClr val="4A3007"/>
                </a:solidFill>
                <a:latin typeface="Yu Gothic" pitchFamily="34" charset="0"/>
                <a:ea typeface="Yu Gothic" pitchFamily="34" charset="-122"/>
                <a:cs typeface="Yu Gothic" pitchFamily="34" charset="-120"/>
              </a:rPr>
              <a:t>承認</a:t>
            </a:r>
            <a:endParaRPr lang="en-US" sz="1150" dirty="0"/>
          </a:p>
        </p:txBody>
      </p:sp>
      <p:sp>
        <p:nvSpPr>
          <p:cNvPr id="45" name="Text 43"/>
          <p:cNvSpPr/>
          <p:nvPr/>
        </p:nvSpPr>
        <p:spPr>
          <a:xfrm>
            <a:off x="8540496" y="3483864"/>
            <a:ext cx="1280160" cy="237744"/>
          </a:xfrm>
          <a:prstGeom prst="rect">
            <a:avLst/>
          </a:prstGeom>
          <a:noFill/>
          <a:ln/>
        </p:spPr>
        <p:txBody>
          <a:bodyPr wrap="square" lIns="0" tIns="0" rIns="0" bIns="0" rtlCol="0" anchor="ctr"/>
          <a:lstStyle/>
          <a:p>
            <a:pPr algn="ctr" indent="0" marL="0">
              <a:buNone/>
            </a:pPr>
            <a:r>
              <a:rPr lang="en-US" sz="850" dirty="0">
                <a:solidFill>
                  <a:srgbClr val="6E4A10"/>
                </a:solidFill>
                <a:latin typeface="Yu Gothic" pitchFamily="34" charset="0"/>
                <a:ea typeface="Yu Gothic" pitchFamily="34" charset="-122"/>
                <a:cs typeface="Yu Gothic" pitchFamily="34" charset="-120"/>
              </a:rPr>
              <a:t>人</a:t>
            </a:r>
            <a:endParaRPr lang="en-US" sz="850" dirty="0"/>
          </a:p>
        </p:txBody>
      </p:sp>
      <p:sp>
        <p:nvSpPr>
          <p:cNvPr id="46" name="Shape 44"/>
          <p:cNvSpPr/>
          <p:nvPr/>
        </p:nvSpPr>
        <p:spPr>
          <a:xfrm>
            <a:off x="9861804" y="3346704"/>
            <a:ext cx="201168" cy="201168"/>
          </a:xfrm>
          <a:prstGeom prst="rightArrow">
            <a:avLst/>
          </a:prstGeom>
          <a:solidFill>
            <a:srgbClr val="D8DCE6"/>
          </a:solidFill>
          <a:ln/>
        </p:spPr>
      </p:sp>
      <p:sp>
        <p:nvSpPr>
          <p:cNvPr id="47" name="Shape 45"/>
          <p:cNvSpPr/>
          <p:nvPr/>
        </p:nvSpPr>
        <p:spPr>
          <a:xfrm>
            <a:off x="10104120" y="3090672"/>
            <a:ext cx="1426464" cy="713232"/>
          </a:xfrm>
          <a:prstGeom prst="roundRect">
            <a:avLst>
              <a:gd name="adj" fmla="val 10256"/>
            </a:avLst>
          </a:prstGeom>
          <a:solidFill>
            <a:srgbClr val="0E8C7F"/>
          </a:solidFill>
          <a:ln/>
        </p:spPr>
      </p:sp>
      <p:sp>
        <p:nvSpPr>
          <p:cNvPr id="48" name="Text 46"/>
          <p:cNvSpPr/>
          <p:nvPr/>
        </p:nvSpPr>
        <p:spPr>
          <a:xfrm>
            <a:off x="10104120" y="3182112"/>
            <a:ext cx="1426464"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Yu Gothic" pitchFamily="34" charset="0"/>
                <a:ea typeface="Yu Gothic" pitchFamily="34" charset="-122"/>
                <a:cs typeface="Yu Gothic" pitchFamily="34" charset="-120"/>
              </a:rPr>
              <a:t>記録</a:t>
            </a:r>
            <a:endParaRPr lang="en-US" sz="1150" dirty="0"/>
          </a:p>
        </p:txBody>
      </p:sp>
      <p:sp>
        <p:nvSpPr>
          <p:cNvPr id="49" name="Text 47"/>
          <p:cNvSpPr/>
          <p:nvPr/>
        </p:nvSpPr>
        <p:spPr>
          <a:xfrm>
            <a:off x="10104120" y="3483864"/>
            <a:ext cx="1426464" cy="237744"/>
          </a:xfrm>
          <a:prstGeom prst="rect">
            <a:avLst/>
          </a:prstGeom>
          <a:noFill/>
          <a:ln/>
        </p:spPr>
        <p:txBody>
          <a:bodyPr wrap="square" lIns="0" tIns="0" rIns="0" bIns="0" rtlCol="0" anchor="ctr"/>
          <a:lstStyle/>
          <a:p>
            <a:pPr algn="ctr" indent="0" marL="0">
              <a:buNone/>
            </a:pPr>
            <a:r>
              <a:rPr lang="en-US" sz="850" dirty="0">
                <a:solidFill>
                  <a:srgbClr val="CFEDE8"/>
                </a:solidFill>
                <a:latin typeface="Yu Gothic" pitchFamily="34" charset="0"/>
                <a:ea typeface="Yu Gothic" pitchFamily="34" charset="-122"/>
                <a:cs typeface="Yu Gothic" pitchFamily="34" charset="-120"/>
              </a:rPr>
              <a:t>AI</a:t>
            </a:r>
            <a:endParaRPr lang="en-US" sz="850" dirty="0"/>
          </a:p>
        </p:txBody>
      </p:sp>
      <p:sp>
        <p:nvSpPr>
          <p:cNvPr id="50" name="Shape 48"/>
          <p:cNvSpPr/>
          <p:nvPr/>
        </p:nvSpPr>
        <p:spPr>
          <a:xfrm>
            <a:off x="548640" y="4041648"/>
            <a:ext cx="310896" cy="201168"/>
          </a:xfrm>
          <a:prstGeom prst="roundRect">
            <a:avLst>
              <a:gd name="adj" fmla="val 18182"/>
            </a:avLst>
          </a:prstGeom>
          <a:solidFill>
            <a:srgbClr val="F2B450"/>
          </a:solidFill>
          <a:ln/>
        </p:spPr>
      </p:sp>
      <p:sp>
        <p:nvSpPr>
          <p:cNvPr id="51" name="Text 49"/>
          <p:cNvSpPr/>
          <p:nvPr/>
        </p:nvSpPr>
        <p:spPr>
          <a:xfrm>
            <a:off x="932688" y="3986784"/>
            <a:ext cx="2651760" cy="310896"/>
          </a:xfrm>
          <a:prstGeom prst="rect">
            <a:avLst/>
          </a:prstGeom>
          <a:noFill/>
          <a:ln/>
        </p:spPr>
        <p:txBody>
          <a:bodyPr wrap="square" lIns="0" tIns="0" rIns="0" bIns="0" rtlCol="0" anchor="ctr"/>
          <a:lstStyle/>
          <a:p>
            <a:pPr indent="0" marL="0">
              <a:buNone/>
            </a:pPr>
            <a:r>
              <a:rPr lang="en-US" sz="1000" dirty="0">
                <a:solidFill>
                  <a:srgbClr val="5B6478"/>
                </a:solidFill>
                <a:latin typeface="Yu Gothic" pitchFamily="34" charset="0"/>
                <a:ea typeface="Yu Gothic" pitchFamily="34" charset="-122"/>
                <a:cs typeface="Yu Gothic" pitchFamily="34" charset="-120"/>
              </a:rPr>
              <a:t>人が実施</a:t>
            </a:r>
            <a:endParaRPr lang="en-US" sz="1000" dirty="0"/>
          </a:p>
        </p:txBody>
      </p:sp>
      <p:sp>
        <p:nvSpPr>
          <p:cNvPr id="52" name="Shape 50"/>
          <p:cNvSpPr/>
          <p:nvPr/>
        </p:nvSpPr>
        <p:spPr>
          <a:xfrm>
            <a:off x="2020824" y="4041648"/>
            <a:ext cx="310896" cy="201168"/>
          </a:xfrm>
          <a:prstGeom prst="roundRect">
            <a:avLst>
              <a:gd name="adj" fmla="val 18182"/>
            </a:avLst>
          </a:prstGeom>
          <a:solidFill>
            <a:srgbClr val="0E8C7F"/>
          </a:solidFill>
          <a:ln/>
        </p:spPr>
      </p:sp>
      <p:sp>
        <p:nvSpPr>
          <p:cNvPr id="53" name="Text 51"/>
          <p:cNvSpPr/>
          <p:nvPr/>
        </p:nvSpPr>
        <p:spPr>
          <a:xfrm>
            <a:off x="2404872" y="3986784"/>
            <a:ext cx="2651760" cy="310896"/>
          </a:xfrm>
          <a:prstGeom prst="rect">
            <a:avLst/>
          </a:prstGeom>
          <a:noFill/>
          <a:ln/>
        </p:spPr>
        <p:txBody>
          <a:bodyPr wrap="square" lIns="0" tIns="0" rIns="0" bIns="0" rtlCol="0" anchor="ctr"/>
          <a:lstStyle/>
          <a:p>
            <a:pPr indent="0" marL="0">
              <a:buNone/>
            </a:pPr>
            <a:r>
              <a:rPr lang="en-US" sz="1000" dirty="0">
                <a:solidFill>
                  <a:srgbClr val="5B6478"/>
                </a:solidFill>
                <a:latin typeface="Yu Gothic" pitchFamily="34" charset="0"/>
                <a:ea typeface="Yu Gothic" pitchFamily="34" charset="-122"/>
                <a:cs typeface="Yu Gothic" pitchFamily="34" charset="-120"/>
              </a:rPr>
              <a:t>AIが実施</a:t>
            </a:r>
            <a:endParaRPr lang="en-US" sz="1000" dirty="0"/>
          </a:p>
        </p:txBody>
      </p:sp>
      <p:sp>
        <p:nvSpPr>
          <p:cNvPr id="54" name="Shape 52"/>
          <p:cNvSpPr/>
          <p:nvPr/>
        </p:nvSpPr>
        <p:spPr>
          <a:xfrm>
            <a:off x="3662172" y="4041648"/>
            <a:ext cx="310896" cy="201168"/>
          </a:xfrm>
          <a:prstGeom prst="roundRect">
            <a:avLst>
              <a:gd name="adj" fmla="val 18182"/>
            </a:avLst>
          </a:prstGeom>
          <a:solidFill>
            <a:srgbClr val="FDEEDC"/>
          </a:solidFill>
          <a:ln w="22225">
            <a:solidFill>
              <a:srgbClr val="0E8C7F"/>
            </a:solidFill>
            <a:prstDash val="solid"/>
          </a:ln>
        </p:spPr>
      </p:sp>
      <p:sp>
        <p:nvSpPr>
          <p:cNvPr id="55" name="Text 53"/>
          <p:cNvSpPr/>
          <p:nvPr/>
        </p:nvSpPr>
        <p:spPr>
          <a:xfrm>
            <a:off x="4046220" y="3986784"/>
            <a:ext cx="2651760" cy="310896"/>
          </a:xfrm>
          <a:prstGeom prst="rect">
            <a:avLst/>
          </a:prstGeom>
          <a:noFill/>
          <a:ln/>
        </p:spPr>
        <p:txBody>
          <a:bodyPr wrap="square" lIns="0" tIns="0" rIns="0" bIns="0" rtlCol="0" anchor="ctr"/>
          <a:lstStyle/>
          <a:p>
            <a:pPr indent="0" marL="0">
              <a:buNone/>
            </a:pPr>
            <a:r>
              <a:rPr lang="en-US" sz="1000" dirty="0">
                <a:solidFill>
                  <a:srgbClr val="5B6478"/>
                </a:solidFill>
                <a:latin typeface="Yu Gothic" pitchFamily="34" charset="0"/>
                <a:ea typeface="Yu Gothic" pitchFamily="34" charset="-122"/>
                <a:cs typeface="Yu Gothic" pitchFamily="34" charset="-120"/>
              </a:rPr>
              <a:t>AIが案を作成し、人が確定</a:t>
            </a:r>
            <a:endParaRPr lang="en-US" sz="1000" dirty="0"/>
          </a:p>
        </p:txBody>
      </p:sp>
      <p:sp>
        <p:nvSpPr>
          <p:cNvPr id="56" name="Shape 54"/>
          <p:cNvSpPr/>
          <p:nvPr/>
        </p:nvSpPr>
        <p:spPr>
          <a:xfrm>
            <a:off x="6656832" y="4041648"/>
            <a:ext cx="310896" cy="201168"/>
          </a:xfrm>
          <a:prstGeom prst="roundRect">
            <a:avLst>
              <a:gd name="adj" fmla="val 18182"/>
            </a:avLst>
          </a:prstGeom>
          <a:solidFill>
            <a:srgbClr val="E3F4F1"/>
          </a:solidFill>
          <a:ln w="15875">
            <a:solidFill>
              <a:srgbClr val="0E8C7F"/>
            </a:solidFill>
            <a:prstDash val="dash"/>
          </a:ln>
        </p:spPr>
      </p:sp>
      <p:sp>
        <p:nvSpPr>
          <p:cNvPr id="57" name="Text 55"/>
          <p:cNvSpPr/>
          <p:nvPr/>
        </p:nvSpPr>
        <p:spPr>
          <a:xfrm>
            <a:off x="7040880" y="3986784"/>
            <a:ext cx="2651760" cy="310896"/>
          </a:xfrm>
          <a:prstGeom prst="rect">
            <a:avLst/>
          </a:prstGeom>
          <a:noFill/>
          <a:ln/>
        </p:spPr>
        <p:txBody>
          <a:bodyPr wrap="square" lIns="0" tIns="0" rIns="0" bIns="0" rtlCol="0" anchor="ctr"/>
          <a:lstStyle/>
          <a:p>
            <a:pPr indent="0" marL="0">
              <a:buNone/>
            </a:pPr>
            <a:r>
              <a:rPr lang="en-US" sz="1000" dirty="0">
                <a:solidFill>
                  <a:srgbClr val="5B6478"/>
                </a:solidFill>
                <a:latin typeface="Yu Gothic" pitchFamily="34" charset="0"/>
                <a:ea typeface="Yu Gothic" pitchFamily="34" charset="-122"/>
                <a:cs typeface="Yu Gothic" pitchFamily="34" charset="-120"/>
              </a:rPr>
              <a:t>最適化で自動挿入される検証</a:t>
            </a:r>
            <a:endParaRPr lang="en-US" sz="1000" dirty="0"/>
          </a:p>
        </p:txBody>
      </p:sp>
      <p:sp>
        <p:nvSpPr>
          <p:cNvPr id="58" name="Text 56"/>
          <p:cNvSpPr/>
          <p:nvPr/>
        </p:nvSpPr>
        <p:spPr>
          <a:xfrm>
            <a:off x="548640" y="4553712"/>
            <a:ext cx="5486400" cy="320040"/>
          </a:xfrm>
          <a:prstGeom prst="rect">
            <a:avLst/>
          </a:prstGeom>
          <a:noFill/>
          <a:ln/>
        </p:spPr>
        <p:txBody>
          <a:bodyPr wrap="square" lIns="0" tIns="0" rIns="0" bIns="0" rtlCol="0" anchor="ctr"/>
          <a:lstStyle/>
          <a:p>
            <a:pPr indent="0" marL="0">
              <a:buNone/>
            </a:pPr>
            <a:r>
              <a:rPr lang="en-US" sz="1350" b="1" dirty="0">
                <a:solidFill>
                  <a:srgbClr val="1E2761"/>
                </a:solidFill>
                <a:latin typeface="Yu Gothic" pitchFamily="34" charset="0"/>
                <a:ea typeface="Yu Gothic" pitchFamily="34" charset="-122"/>
                <a:cs typeface="Yu Gothic" pitchFamily="34" charset="-120"/>
              </a:rPr>
              <a:t>再設計の原則</a:t>
            </a:r>
            <a:endParaRPr lang="en-US" sz="1350" dirty="0"/>
          </a:p>
        </p:txBody>
      </p:sp>
      <p:sp>
        <p:nvSpPr>
          <p:cNvPr id="59" name="Shape 57"/>
          <p:cNvSpPr/>
          <p:nvPr/>
        </p:nvSpPr>
        <p:spPr>
          <a:xfrm>
            <a:off x="548640" y="4937760"/>
            <a:ext cx="2670048" cy="1371600"/>
          </a:xfrm>
          <a:prstGeom prst="roundRect">
            <a:avLst>
              <a:gd name="adj" fmla="val 5333"/>
            </a:avLst>
          </a:prstGeom>
          <a:solidFill>
            <a:srgbClr val="EEF3FB"/>
          </a:solidFill>
          <a:ln/>
        </p:spPr>
      </p:sp>
      <p:sp>
        <p:nvSpPr>
          <p:cNvPr id="60" name="Text 58"/>
          <p:cNvSpPr/>
          <p:nvPr/>
        </p:nvSpPr>
        <p:spPr>
          <a:xfrm>
            <a:off x="749808" y="5102352"/>
            <a:ext cx="2286000" cy="320040"/>
          </a:xfrm>
          <a:prstGeom prst="rect">
            <a:avLst/>
          </a:prstGeom>
          <a:noFill/>
          <a:ln/>
        </p:spPr>
        <p:txBody>
          <a:bodyPr wrap="square" lIns="0" tIns="0" rIns="0" bIns="0" rtlCol="0" anchor="ctr"/>
          <a:lstStyle/>
          <a:p>
            <a:pPr indent="0" marL="0">
              <a:buNone/>
            </a:pPr>
            <a:r>
              <a:rPr lang="en-US" sz="1250" b="1" dirty="0">
                <a:solidFill>
                  <a:srgbClr val="1E2761"/>
                </a:solidFill>
                <a:latin typeface="Yu Gothic" pitchFamily="34" charset="0"/>
                <a:ea typeface="Yu Gothic" pitchFamily="34" charset="-122"/>
                <a:cs typeface="Yu Gothic" pitchFamily="34" charset="-120"/>
              </a:rPr>
              <a:t>作業はAIへ</a:t>
            </a:r>
            <a:endParaRPr lang="en-US" sz="1250" dirty="0"/>
          </a:p>
        </p:txBody>
      </p:sp>
      <p:sp>
        <p:nvSpPr>
          <p:cNvPr id="61" name="Text 59"/>
          <p:cNvSpPr/>
          <p:nvPr/>
        </p:nvSpPr>
        <p:spPr>
          <a:xfrm>
            <a:off x="749808" y="5440680"/>
            <a:ext cx="2286000" cy="777240"/>
          </a:xfrm>
          <a:prstGeom prst="rect">
            <a:avLst/>
          </a:prstGeom>
          <a:noFill/>
          <a:ln/>
        </p:spPr>
        <p:txBody>
          <a:bodyPr wrap="square" lIns="0" tIns="0" rIns="0" bIns="0" rtlCol="0" anchor="t"/>
          <a:lstStyle/>
          <a:p>
            <a:pPr indent="0" marL="0">
              <a:lnSpc>
                <a:spcPct val="122000"/>
              </a:lnSpc>
              <a:buNone/>
            </a:pPr>
            <a:r>
              <a:rPr lang="en-US" sz="1000" dirty="0">
                <a:solidFill>
                  <a:srgbClr val="1F2540"/>
                </a:solidFill>
                <a:latin typeface="Yu Gothic" pitchFamily="34" charset="0"/>
                <a:ea typeface="Yu Gothic" pitchFamily="34" charset="-122"/>
                <a:cs typeface="Yu Gothic" pitchFamily="34" charset="-120"/>
              </a:rPr>
              <a:t>転記・照合・集計、文書作成、システム操作はAIに転換する。</a:t>
            </a:r>
            <a:endParaRPr lang="en-US" sz="1000" dirty="0"/>
          </a:p>
        </p:txBody>
      </p:sp>
      <p:sp>
        <p:nvSpPr>
          <p:cNvPr id="62" name="Shape 60"/>
          <p:cNvSpPr/>
          <p:nvPr/>
        </p:nvSpPr>
        <p:spPr>
          <a:xfrm>
            <a:off x="3360420" y="4937760"/>
            <a:ext cx="2670048" cy="1371600"/>
          </a:xfrm>
          <a:prstGeom prst="roundRect">
            <a:avLst>
              <a:gd name="adj" fmla="val 5333"/>
            </a:avLst>
          </a:prstGeom>
          <a:solidFill>
            <a:srgbClr val="EEF3FB"/>
          </a:solidFill>
          <a:ln/>
        </p:spPr>
      </p:sp>
      <p:sp>
        <p:nvSpPr>
          <p:cNvPr id="63" name="Text 61"/>
          <p:cNvSpPr/>
          <p:nvPr/>
        </p:nvSpPr>
        <p:spPr>
          <a:xfrm>
            <a:off x="3561588" y="5102352"/>
            <a:ext cx="2286000" cy="320040"/>
          </a:xfrm>
          <a:prstGeom prst="rect">
            <a:avLst/>
          </a:prstGeom>
          <a:noFill/>
          <a:ln/>
        </p:spPr>
        <p:txBody>
          <a:bodyPr wrap="square" lIns="0" tIns="0" rIns="0" bIns="0" rtlCol="0" anchor="ctr"/>
          <a:lstStyle/>
          <a:p>
            <a:pPr indent="0" marL="0">
              <a:buNone/>
            </a:pPr>
            <a:r>
              <a:rPr lang="en-US" sz="1250" b="1" dirty="0">
                <a:solidFill>
                  <a:srgbClr val="1E2761"/>
                </a:solidFill>
                <a:latin typeface="Yu Gothic" pitchFamily="34" charset="0"/>
                <a:ea typeface="Yu Gothic" pitchFamily="34" charset="-122"/>
                <a:cs typeface="Yu Gothic" pitchFamily="34" charset="-120"/>
              </a:rPr>
              <a:t>責任は人に</a:t>
            </a:r>
            <a:endParaRPr lang="en-US" sz="1250" dirty="0"/>
          </a:p>
        </p:txBody>
      </p:sp>
      <p:sp>
        <p:nvSpPr>
          <p:cNvPr id="64" name="Text 62"/>
          <p:cNvSpPr/>
          <p:nvPr/>
        </p:nvSpPr>
        <p:spPr>
          <a:xfrm>
            <a:off x="3561588" y="5440680"/>
            <a:ext cx="2286000" cy="777240"/>
          </a:xfrm>
          <a:prstGeom prst="rect">
            <a:avLst/>
          </a:prstGeom>
          <a:noFill/>
          <a:ln/>
        </p:spPr>
        <p:txBody>
          <a:bodyPr wrap="square" lIns="0" tIns="0" rIns="0" bIns="0" rtlCol="0" anchor="t"/>
          <a:lstStyle/>
          <a:p>
            <a:pPr indent="0" marL="0">
              <a:lnSpc>
                <a:spcPct val="122000"/>
              </a:lnSpc>
              <a:buNone/>
            </a:pPr>
            <a:r>
              <a:rPr lang="en-US" sz="1000" dirty="0">
                <a:solidFill>
                  <a:srgbClr val="1F2540"/>
                </a:solidFill>
                <a:latin typeface="Yu Gothic" pitchFamily="34" charset="0"/>
                <a:ea typeface="Yu Gothic" pitchFamily="34" charset="-122"/>
                <a:cs typeface="Yu Gothic" pitchFamily="34" charset="-120"/>
              </a:rPr>
              <a:t>承認・決裁・対外的な約束・現物の作業は、必ず人に残す。</a:t>
            </a:r>
            <a:endParaRPr lang="en-US" sz="1000" dirty="0"/>
          </a:p>
        </p:txBody>
      </p:sp>
      <p:sp>
        <p:nvSpPr>
          <p:cNvPr id="65" name="Shape 63"/>
          <p:cNvSpPr/>
          <p:nvPr/>
        </p:nvSpPr>
        <p:spPr>
          <a:xfrm>
            <a:off x="6172200" y="4937760"/>
            <a:ext cx="2670048" cy="1371600"/>
          </a:xfrm>
          <a:prstGeom prst="roundRect">
            <a:avLst>
              <a:gd name="adj" fmla="val 5333"/>
            </a:avLst>
          </a:prstGeom>
          <a:solidFill>
            <a:srgbClr val="EEF3FB"/>
          </a:solidFill>
          <a:ln/>
        </p:spPr>
      </p:sp>
      <p:sp>
        <p:nvSpPr>
          <p:cNvPr id="66" name="Text 64"/>
          <p:cNvSpPr/>
          <p:nvPr/>
        </p:nvSpPr>
        <p:spPr>
          <a:xfrm>
            <a:off x="6373368" y="5102352"/>
            <a:ext cx="2286000" cy="320040"/>
          </a:xfrm>
          <a:prstGeom prst="rect">
            <a:avLst/>
          </a:prstGeom>
          <a:noFill/>
          <a:ln/>
        </p:spPr>
        <p:txBody>
          <a:bodyPr wrap="square" lIns="0" tIns="0" rIns="0" bIns="0" rtlCol="0" anchor="ctr"/>
          <a:lstStyle/>
          <a:p>
            <a:pPr indent="0" marL="0">
              <a:buNone/>
            </a:pPr>
            <a:r>
              <a:rPr lang="en-US" sz="1250" b="1" dirty="0">
                <a:solidFill>
                  <a:srgbClr val="1E2761"/>
                </a:solidFill>
                <a:latin typeface="Yu Gothic" pitchFamily="34" charset="0"/>
                <a:ea typeface="Yu Gothic" pitchFamily="34" charset="-122"/>
                <a:cs typeface="Yu Gothic" pitchFamily="34" charset="-120"/>
              </a:rPr>
              <a:t>定型判断は協働で</a:t>
            </a:r>
            <a:endParaRPr lang="en-US" sz="1250" dirty="0"/>
          </a:p>
        </p:txBody>
      </p:sp>
      <p:sp>
        <p:nvSpPr>
          <p:cNvPr id="67" name="Text 65"/>
          <p:cNvSpPr/>
          <p:nvPr/>
        </p:nvSpPr>
        <p:spPr>
          <a:xfrm>
            <a:off x="6373368" y="5440680"/>
            <a:ext cx="2286000" cy="777240"/>
          </a:xfrm>
          <a:prstGeom prst="rect">
            <a:avLst/>
          </a:prstGeom>
          <a:noFill/>
          <a:ln/>
        </p:spPr>
        <p:txBody>
          <a:bodyPr wrap="square" lIns="0" tIns="0" rIns="0" bIns="0" rtlCol="0" anchor="t"/>
          <a:lstStyle/>
          <a:p>
            <a:pPr indent="0" marL="0">
              <a:lnSpc>
                <a:spcPct val="122000"/>
              </a:lnSpc>
              <a:buNone/>
            </a:pPr>
            <a:r>
              <a:rPr lang="en-US" sz="1000" dirty="0">
                <a:solidFill>
                  <a:srgbClr val="1F2540"/>
                </a:solidFill>
                <a:latin typeface="Yu Gothic" pitchFamily="34" charset="0"/>
                <a:ea typeface="Yu Gothic" pitchFamily="34" charset="-122"/>
                <a:cs typeface="Yu Gothic" pitchFamily="34" charset="-120"/>
              </a:rPr>
              <a:t>AIが判断案を作成し、人が確定する(hybrid)。</a:t>
            </a:r>
            <a:endParaRPr lang="en-US" sz="1000" dirty="0"/>
          </a:p>
        </p:txBody>
      </p:sp>
      <p:sp>
        <p:nvSpPr>
          <p:cNvPr id="68" name="Shape 66"/>
          <p:cNvSpPr/>
          <p:nvPr/>
        </p:nvSpPr>
        <p:spPr>
          <a:xfrm>
            <a:off x="8983980" y="4937760"/>
            <a:ext cx="2670048" cy="1371600"/>
          </a:xfrm>
          <a:prstGeom prst="roundRect">
            <a:avLst>
              <a:gd name="adj" fmla="val 5333"/>
            </a:avLst>
          </a:prstGeom>
          <a:solidFill>
            <a:srgbClr val="EEF3FB"/>
          </a:solidFill>
          <a:ln/>
        </p:spPr>
      </p:sp>
      <p:sp>
        <p:nvSpPr>
          <p:cNvPr id="69" name="Text 67"/>
          <p:cNvSpPr/>
          <p:nvPr/>
        </p:nvSpPr>
        <p:spPr>
          <a:xfrm>
            <a:off x="9185148" y="5102352"/>
            <a:ext cx="2286000" cy="320040"/>
          </a:xfrm>
          <a:prstGeom prst="rect">
            <a:avLst/>
          </a:prstGeom>
          <a:noFill/>
          <a:ln/>
        </p:spPr>
        <p:txBody>
          <a:bodyPr wrap="square" lIns="0" tIns="0" rIns="0" bIns="0" rtlCol="0" anchor="ctr"/>
          <a:lstStyle/>
          <a:p>
            <a:pPr indent="0" marL="0">
              <a:buNone/>
            </a:pPr>
            <a:r>
              <a:rPr lang="en-US" sz="1250" b="1" dirty="0">
                <a:solidFill>
                  <a:srgbClr val="1E2761"/>
                </a:solidFill>
                <a:latin typeface="Yu Gothic" pitchFamily="34" charset="0"/>
                <a:ea typeface="Yu Gothic" pitchFamily="34" charset="-122"/>
                <a:cs typeface="Yu Gothic" pitchFamily="34" charset="-120"/>
              </a:rPr>
              <a:t>実行と評価を分離</a:t>
            </a:r>
            <a:endParaRPr lang="en-US" sz="1250" dirty="0"/>
          </a:p>
        </p:txBody>
      </p:sp>
      <p:sp>
        <p:nvSpPr>
          <p:cNvPr id="70" name="Text 68"/>
          <p:cNvSpPr/>
          <p:nvPr/>
        </p:nvSpPr>
        <p:spPr>
          <a:xfrm>
            <a:off x="9185148" y="5440680"/>
            <a:ext cx="2286000" cy="777240"/>
          </a:xfrm>
          <a:prstGeom prst="rect">
            <a:avLst/>
          </a:prstGeom>
          <a:noFill/>
          <a:ln/>
        </p:spPr>
        <p:txBody>
          <a:bodyPr wrap="square" lIns="0" tIns="0" rIns="0" bIns="0" rtlCol="0" anchor="t"/>
          <a:lstStyle/>
          <a:p>
            <a:pPr indent="0" marL="0">
              <a:lnSpc>
                <a:spcPct val="122000"/>
              </a:lnSpc>
              <a:buNone/>
            </a:pPr>
            <a:r>
              <a:rPr lang="en-US" sz="1000" dirty="0">
                <a:solidFill>
                  <a:srgbClr val="1F2540"/>
                </a:solidFill>
                <a:latin typeface="Yu Gothic" pitchFamily="34" charset="0"/>
                <a:ea typeface="Yu Gothic" pitchFamily="34" charset="-122"/>
                <a:cs typeface="Yu Gothic" pitchFamily="34" charset="-120"/>
              </a:rPr>
              <a:t>AI実行の直後に、検証ステップを自動で挿入する。</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566928"/>
          </a:xfrm>
          <a:prstGeom prst="rect">
            <a:avLst/>
          </a:prstGeom>
          <a:noFill/>
          <a:ln/>
        </p:spPr>
        <p:txBody>
          <a:bodyPr wrap="square" lIns="0" tIns="0" rIns="0" bIns="0" rtlCol="0" anchor="ctr"/>
          <a:lstStyle/>
          <a:p>
            <a:pPr algn="l" indent="0" marL="0">
              <a:buNone/>
            </a:pPr>
            <a:r>
              <a:rPr lang="en-US" sz="2600" b="1" dirty="0">
                <a:solidFill>
                  <a:srgbClr val="1E2761"/>
                </a:solidFill>
                <a:latin typeface="Yu Gothic" pitchFamily="34" charset="0"/>
                <a:ea typeface="Yu Gothic" pitchFamily="34" charset="-122"/>
                <a:cs typeface="Yu Gothic" pitchFamily="34" charset="-120"/>
              </a:rPr>
              <a:t>安心して任せるための統制 ― 「お願い」ではなく、機械検証で担保</a:t>
            </a:r>
            <a:endParaRPr lang="en-US" sz="2600" dirty="0"/>
          </a:p>
        </p:txBody>
      </p:sp>
      <p:sp>
        <p:nvSpPr>
          <p:cNvPr id="3" name="Shape 1"/>
          <p:cNvSpPr/>
          <p:nvPr/>
        </p:nvSpPr>
        <p:spPr>
          <a:xfrm>
            <a:off x="548640" y="1463040"/>
            <a:ext cx="2084832" cy="3520440"/>
          </a:xfrm>
          <a:prstGeom prst="roundRect">
            <a:avLst>
              <a:gd name="adj" fmla="val 4386"/>
            </a:avLst>
          </a:prstGeom>
          <a:solidFill>
            <a:srgbClr val="EEF3FB"/>
          </a:solidFill>
          <a:ln/>
        </p:spPr>
      </p:sp>
      <p:sp>
        <p:nvSpPr>
          <p:cNvPr id="4" name="Shape 2"/>
          <p:cNvSpPr/>
          <p:nvPr/>
        </p:nvSpPr>
        <p:spPr>
          <a:xfrm>
            <a:off x="1261872" y="1783080"/>
            <a:ext cx="658368" cy="658368"/>
          </a:xfrm>
          <a:prstGeom prst="ellipse">
            <a:avLst/>
          </a:prstGeom>
          <a:solidFill>
            <a:srgbClr val="1E2761"/>
          </a:solidFill>
          <a:ln/>
        </p:spPr>
      </p:sp>
      <p:pic>
        <p:nvPicPr>
          <p:cNvPr id="5" name="Image 0" descr="/home/claude/bpo_summary/icons/route_white.png">    </p:cNvPr>
          <p:cNvPicPr>
            <a:picLocks noChangeAspect="1"/>
          </p:cNvPicPr>
          <p:nvPr/>
        </p:nvPicPr>
        <p:blipFill>
          <a:blip r:embed="rId1"/>
          <a:stretch>
            <a:fillRect/>
          </a:stretch>
        </p:blipFill>
        <p:spPr>
          <a:xfrm>
            <a:off x="1419880" y="1941088"/>
            <a:ext cx="342351" cy="342351"/>
          </a:xfrm>
          <a:prstGeom prst="rect">
            <a:avLst/>
          </a:prstGeom>
        </p:spPr>
      </p:pic>
      <p:sp>
        <p:nvSpPr>
          <p:cNvPr id="6" name="Text 3"/>
          <p:cNvSpPr/>
          <p:nvPr/>
        </p:nvSpPr>
        <p:spPr>
          <a:xfrm>
            <a:off x="676656" y="2606040"/>
            <a:ext cx="1828800" cy="685800"/>
          </a:xfrm>
          <a:prstGeom prst="rect">
            <a:avLst/>
          </a:prstGeom>
          <a:noFill/>
          <a:ln/>
        </p:spPr>
        <p:txBody>
          <a:bodyPr wrap="square" lIns="0" tIns="0" rIns="0" bIns="0" rtlCol="0" anchor="t"/>
          <a:lstStyle/>
          <a:p>
            <a:pPr algn="ctr" indent="0" marL="0">
              <a:lnSpc>
                <a:spcPct val="112000"/>
              </a:lnSpc>
              <a:buNone/>
            </a:pPr>
            <a:r>
              <a:rPr lang="en-US" sz="1300" b="1" dirty="0">
                <a:solidFill>
                  <a:srgbClr val="1E2761"/>
                </a:solidFill>
                <a:latin typeface="Yu Gothic" pitchFamily="34" charset="0"/>
                <a:ea typeface="Yu Gothic" pitchFamily="34" charset="-122"/>
                <a:cs typeface="Yu Gothic" pitchFamily="34" charset="-120"/>
              </a:rPr>
              <a:t>業務の欠落ゼロ</a:t>
            </a:r>
            <a:endParaRPr lang="en-US" sz="1300" dirty="0"/>
          </a:p>
        </p:txBody>
      </p:sp>
      <p:sp>
        <p:nvSpPr>
          <p:cNvPr id="7" name="Text 4"/>
          <p:cNvSpPr/>
          <p:nvPr/>
        </p:nvSpPr>
        <p:spPr>
          <a:xfrm>
            <a:off x="731520" y="3310128"/>
            <a:ext cx="1737360" cy="1600200"/>
          </a:xfrm>
          <a:prstGeom prst="rect">
            <a:avLst/>
          </a:prstGeom>
          <a:noFill/>
          <a:ln/>
        </p:spPr>
        <p:txBody>
          <a:bodyPr wrap="square" lIns="0" tIns="0" rIns="0" bIns="0" rtlCol="0" anchor="t"/>
          <a:lstStyle/>
          <a:p>
            <a:pPr indent="0" marL="0">
              <a:lnSpc>
                <a:spcPct val="130000"/>
              </a:lnSpc>
              <a:buNone/>
            </a:pPr>
            <a:r>
              <a:rPr lang="en-US" sz="1050" dirty="0">
                <a:solidFill>
                  <a:srgbClr val="1F2540"/>
                </a:solidFill>
                <a:latin typeface="Yu Gothic" pitchFamily="34" charset="0"/>
                <a:ea typeface="Yu Gothic" pitchFamily="34" charset="-122"/>
                <a:cs typeface="Yu Gothic" pitchFamily="34" charset="-120"/>
              </a:rPr>
              <a:t>元の全ステップが再設計後のどこに引き継がれたかを機械的に照合。黙って消える業務を作らない。</a:t>
            </a:r>
            <a:endParaRPr lang="en-US" sz="1050" dirty="0"/>
          </a:p>
        </p:txBody>
      </p:sp>
      <p:sp>
        <p:nvSpPr>
          <p:cNvPr id="8" name="Shape 5"/>
          <p:cNvSpPr/>
          <p:nvPr/>
        </p:nvSpPr>
        <p:spPr>
          <a:xfrm>
            <a:off x="2800350" y="1463040"/>
            <a:ext cx="2084832" cy="3520440"/>
          </a:xfrm>
          <a:prstGeom prst="roundRect">
            <a:avLst>
              <a:gd name="adj" fmla="val 4386"/>
            </a:avLst>
          </a:prstGeom>
          <a:solidFill>
            <a:srgbClr val="EEF3FB"/>
          </a:solidFill>
          <a:ln/>
        </p:spPr>
      </p:sp>
      <p:sp>
        <p:nvSpPr>
          <p:cNvPr id="9" name="Shape 6"/>
          <p:cNvSpPr/>
          <p:nvPr/>
        </p:nvSpPr>
        <p:spPr>
          <a:xfrm>
            <a:off x="3513582" y="1783080"/>
            <a:ext cx="658368" cy="658368"/>
          </a:xfrm>
          <a:prstGeom prst="ellipse">
            <a:avLst/>
          </a:prstGeom>
          <a:solidFill>
            <a:srgbClr val="1E2761"/>
          </a:solidFill>
          <a:ln/>
        </p:spPr>
      </p:sp>
      <p:pic>
        <p:nvPicPr>
          <p:cNvPr id="10" name="Image 1" descr="/home/claude/bpo_summary/icons/usercheck_white.png">    </p:cNvPr>
          <p:cNvPicPr>
            <a:picLocks noChangeAspect="1"/>
          </p:cNvPicPr>
          <p:nvPr/>
        </p:nvPicPr>
        <p:blipFill>
          <a:blip r:embed="rId2"/>
          <a:stretch>
            <a:fillRect/>
          </a:stretch>
        </p:blipFill>
        <p:spPr>
          <a:xfrm>
            <a:off x="3671590" y="1941088"/>
            <a:ext cx="342351" cy="342351"/>
          </a:xfrm>
          <a:prstGeom prst="rect">
            <a:avLst/>
          </a:prstGeom>
        </p:spPr>
      </p:pic>
      <p:sp>
        <p:nvSpPr>
          <p:cNvPr id="11" name="Text 7"/>
          <p:cNvSpPr/>
          <p:nvPr/>
        </p:nvSpPr>
        <p:spPr>
          <a:xfrm>
            <a:off x="2928366" y="2606040"/>
            <a:ext cx="1828800" cy="685800"/>
          </a:xfrm>
          <a:prstGeom prst="rect">
            <a:avLst/>
          </a:prstGeom>
          <a:noFill/>
          <a:ln/>
        </p:spPr>
        <p:txBody>
          <a:bodyPr wrap="square" lIns="0" tIns="0" rIns="0" bIns="0" rtlCol="0" anchor="t"/>
          <a:lstStyle/>
          <a:p>
            <a:pPr algn="ctr" indent="0" marL="0">
              <a:lnSpc>
                <a:spcPct val="112000"/>
              </a:lnSpc>
              <a:buNone/>
            </a:pPr>
            <a:r>
              <a:rPr lang="en-US" sz="1300" b="1" dirty="0">
                <a:solidFill>
                  <a:srgbClr val="1E2761"/>
                </a:solidFill>
                <a:latin typeface="Yu Gothic" pitchFamily="34" charset="0"/>
                <a:ea typeface="Yu Gothic" pitchFamily="34" charset="-122"/>
                <a:cs typeface="Yu Gothic" pitchFamily="34" charset="-120"/>
              </a:rPr>
              <a:t>人の確認は</a:t>
            </a:r>
            <a:endParaRPr lang="en-US" sz="1300" dirty="0"/>
          </a:p>
          <a:p>
            <a:pPr algn="ctr" indent="0" marL="0">
              <a:lnSpc>
                <a:spcPct val="112000"/>
              </a:lnSpc>
              <a:buNone/>
            </a:pPr>
            <a:r>
              <a:rPr lang="en-US" sz="1300" b="1" dirty="0">
                <a:solidFill>
                  <a:srgbClr val="1E2761"/>
                </a:solidFill>
                <a:latin typeface="Yu Gothic" pitchFamily="34" charset="0"/>
                <a:ea typeface="Yu Gothic" pitchFamily="34" charset="-122"/>
                <a:cs typeface="Yu Gothic" pitchFamily="34" charset="-120"/>
              </a:rPr>
              <a:t>消さない</a:t>
            </a:r>
            <a:endParaRPr lang="en-US" sz="1300" dirty="0"/>
          </a:p>
        </p:txBody>
      </p:sp>
      <p:sp>
        <p:nvSpPr>
          <p:cNvPr id="12" name="Text 8"/>
          <p:cNvSpPr/>
          <p:nvPr/>
        </p:nvSpPr>
        <p:spPr>
          <a:xfrm>
            <a:off x="2983230" y="3310128"/>
            <a:ext cx="1737360" cy="1600200"/>
          </a:xfrm>
          <a:prstGeom prst="rect">
            <a:avLst/>
          </a:prstGeom>
          <a:noFill/>
          <a:ln/>
        </p:spPr>
        <p:txBody>
          <a:bodyPr wrap="square" lIns="0" tIns="0" rIns="0" bIns="0" rtlCol="0" anchor="t"/>
          <a:lstStyle/>
          <a:p>
            <a:pPr indent="0" marL="0">
              <a:lnSpc>
                <a:spcPct val="130000"/>
              </a:lnSpc>
              <a:buNone/>
            </a:pPr>
            <a:r>
              <a:rPr lang="en-US" sz="1050" dirty="0">
                <a:solidFill>
                  <a:srgbClr val="1F2540"/>
                </a:solidFill>
                <a:latin typeface="Yu Gothic" pitchFamily="34" charset="0"/>
                <a:ea typeface="Yu Gothic" pitchFamily="34" charset="-122"/>
                <a:cs typeface="Yu Gothic" pitchFamily="34" charset="-120"/>
              </a:rPr>
              <a:t>元業務で「人間確認」だった統制点は、最適化後も必ず保持。消えていれば変換はエラーで止まる。</a:t>
            </a:r>
            <a:endParaRPr lang="en-US" sz="1050" dirty="0"/>
          </a:p>
        </p:txBody>
      </p:sp>
      <p:sp>
        <p:nvSpPr>
          <p:cNvPr id="13" name="Shape 9"/>
          <p:cNvSpPr/>
          <p:nvPr/>
        </p:nvSpPr>
        <p:spPr>
          <a:xfrm>
            <a:off x="5052060" y="1463040"/>
            <a:ext cx="2084832" cy="3520440"/>
          </a:xfrm>
          <a:prstGeom prst="roundRect">
            <a:avLst>
              <a:gd name="adj" fmla="val 4386"/>
            </a:avLst>
          </a:prstGeom>
          <a:solidFill>
            <a:srgbClr val="EEF3FB"/>
          </a:solidFill>
          <a:ln/>
        </p:spPr>
      </p:sp>
      <p:sp>
        <p:nvSpPr>
          <p:cNvPr id="14" name="Shape 10"/>
          <p:cNvSpPr/>
          <p:nvPr/>
        </p:nvSpPr>
        <p:spPr>
          <a:xfrm>
            <a:off x="5765292" y="1783080"/>
            <a:ext cx="658368" cy="658368"/>
          </a:xfrm>
          <a:prstGeom prst="ellipse">
            <a:avLst/>
          </a:prstGeom>
          <a:solidFill>
            <a:srgbClr val="1E2761"/>
          </a:solidFill>
          <a:ln/>
        </p:spPr>
      </p:sp>
      <p:pic>
        <p:nvPicPr>
          <p:cNvPr id="15" name="Image 2" descr="/home/claude/bpo_summary/icons/lock_white.png">    </p:cNvPr>
          <p:cNvPicPr>
            <a:picLocks noChangeAspect="1"/>
          </p:cNvPicPr>
          <p:nvPr/>
        </p:nvPicPr>
        <p:blipFill>
          <a:blip r:embed="rId3"/>
          <a:stretch>
            <a:fillRect/>
          </a:stretch>
        </p:blipFill>
        <p:spPr>
          <a:xfrm>
            <a:off x="5923300" y="1941088"/>
            <a:ext cx="342351" cy="342351"/>
          </a:xfrm>
          <a:prstGeom prst="rect">
            <a:avLst/>
          </a:prstGeom>
        </p:spPr>
      </p:pic>
      <p:sp>
        <p:nvSpPr>
          <p:cNvPr id="16" name="Text 11"/>
          <p:cNvSpPr/>
          <p:nvPr/>
        </p:nvSpPr>
        <p:spPr>
          <a:xfrm>
            <a:off x="5180076" y="2606040"/>
            <a:ext cx="1828800" cy="685800"/>
          </a:xfrm>
          <a:prstGeom prst="rect">
            <a:avLst/>
          </a:prstGeom>
          <a:noFill/>
          <a:ln/>
        </p:spPr>
        <p:txBody>
          <a:bodyPr wrap="square" lIns="0" tIns="0" rIns="0" bIns="0" rtlCol="0" anchor="t"/>
          <a:lstStyle/>
          <a:p>
            <a:pPr algn="ctr" indent="0" marL="0">
              <a:lnSpc>
                <a:spcPct val="112000"/>
              </a:lnSpc>
              <a:buNone/>
            </a:pPr>
            <a:r>
              <a:rPr lang="en-US" sz="1300" b="1" dirty="0">
                <a:solidFill>
                  <a:srgbClr val="1E2761"/>
                </a:solidFill>
                <a:latin typeface="Yu Gothic" pitchFamily="34" charset="0"/>
                <a:ea typeface="Yu Gothic" pitchFamily="34" charset="-122"/>
                <a:cs typeface="Yu Gothic" pitchFamily="34" charset="-120"/>
              </a:rPr>
              <a:t>権限は最小限</a:t>
            </a:r>
            <a:endParaRPr lang="en-US" sz="1300" dirty="0"/>
          </a:p>
        </p:txBody>
      </p:sp>
      <p:sp>
        <p:nvSpPr>
          <p:cNvPr id="17" name="Text 12"/>
          <p:cNvSpPr/>
          <p:nvPr/>
        </p:nvSpPr>
        <p:spPr>
          <a:xfrm>
            <a:off x="5234940" y="3310128"/>
            <a:ext cx="1737360" cy="1600200"/>
          </a:xfrm>
          <a:prstGeom prst="rect">
            <a:avLst/>
          </a:prstGeom>
          <a:noFill/>
          <a:ln/>
        </p:spPr>
        <p:txBody>
          <a:bodyPr wrap="square" lIns="0" tIns="0" rIns="0" bIns="0" rtlCol="0" anchor="t"/>
          <a:lstStyle/>
          <a:p>
            <a:pPr indent="0" marL="0">
              <a:lnSpc>
                <a:spcPct val="130000"/>
              </a:lnSpc>
              <a:buNone/>
            </a:pPr>
            <a:r>
              <a:rPr lang="en-US" sz="1050" dirty="0">
                <a:solidFill>
                  <a:srgbClr val="1F2540"/>
                </a:solidFill>
                <a:latin typeface="Yu Gothic" pitchFamily="34" charset="0"/>
                <a:ea typeface="Yu Gothic" pitchFamily="34" charset="-122"/>
                <a:cs typeface="Yu Gothic" pitchFamily="34" charset="-120"/>
              </a:rPr>
              <a:t>AIが使えるツールは、元業務にあったもの+理由を明記した追加分のみ。無断のツール追加は不可。</a:t>
            </a:r>
            <a:endParaRPr lang="en-US" sz="1050" dirty="0"/>
          </a:p>
        </p:txBody>
      </p:sp>
      <p:sp>
        <p:nvSpPr>
          <p:cNvPr id="18" name="Shape 13"/>
          <p:cNvSpPr/>
          <p:nvPr/>
        </p:nvSpPr>
        <p:spPr>
          <a:xfrm>
            <a:off x="7303770" y="1463040"/>
            <a:ext cx="2084832" cy="3520440"/>
          </a:xfrm>
          <a:prstGeom prst="roundRect">
            <a:avLst>
              <a:gd name="adj" fmla="val 4386"/>
            </a:avLst>
          </a:prstGeom>
          <a:solidFill>
            <a:srgbClr val="EEF3FB"/>
          </a:solidFill>
          <a:ln/>
        </p:spPr>
      </p:sp>
      <p:sp>
        <p:nvSpPr>
          <p:cNvPr id="19" name="Shape 14"/>
          <p:cNvSpPr/>
          <p:nvPr/>
        </p:nvSpPr>
        <p:spPr>
          <a:xfrm>
            <a:off x="8017002" y="1783080"/>
            <a:ext cx="658368" cy="658368"/>
          </a:xfrm>
          <a:prstGeom prst="ellipse">
            <a:avLst/>
          </a:prstGeom>
          <a:solidFill>
            <a:srgbClr val="1E2761"/>
          </a:solidFill>
          <a:ln/>
        </p:spPr>
      </p:sp>
      <p:pic>
        <p:nvPicPr>
          <p:cNvPr id="20" name="Image 3" descr="/home/claude/bpo_summary/icons/scroll_white.png">    </p:cNvPr>
          <p:cNvPicPr>
            <a:picLocks noChangeAspect="1"/>
          </p:cNvPicPr>
          <p:nvPr/>
        </p:nvPicPr>
        <p:blipFill>
          <a:blip r:embed="rId4"/>
          <a:stretch>
            <a:fillRect/>
          </a:stretch>
        </p:blipFill>
        <p:spPr>
          <a:xfrm>
            <a:off x="8175010" y="1941088"/>
            <a:ext cx="342351" cy="342351"/>
          </a:xfrm>
          <a:prstGeom prst="rect">
            <a:avLst/>
          </a:prstGeom>
        </p:spPr>
      </p:pic>
      <p:sp>
        <p:nvSpPr>
          <p:cNvPr id="21" name="Text 15"/>
          <p:cNvSpPr/>
          <p:nvPr/>
        </p:nvSpPr>
        <p:spPr>
          <a:xfrm>
            <a:off x="7431786" y="2606040"/>
            <a:ext cx="1828800" cy="685800"/>
          </a:xfrm>
          <a:prstGeom prst="rect">
            <a:avLst/>
          </a:prstGeom>
          <a:noFill/>
          <a:ln/>
        </p:spPr>
        <p:txBody>
          <a:bodyPr wrap="square" lIns="0" tIns="0" rIns="0" bIns="0" rtlCol="0" anchor="t"/>
          <a:lstStyle/>
          <a:p>
            <a:pPr algn="ctr" indent="0" marL="0">
              <a:lnSpc>
                <a:spcPct val="112000"/>
              </a:lnSpc>
              <a:buNone/>
            </a:pPr>
            <a:r>
              <a:rPr lang="en-US" sz="1300" b="1" dirty="0">
                <a:solidFill>
                  <a:srgbClr val="1E2761"/>
                </a:solidFill>
                <a:latin typeface="Yu Gothic" pitchFamily="34" charset="0"/>
                <a:ea typeface="Yu Gothic" pitchFamily="34" charset="-122"/>
                <a:cs typeface="Yu Gothic" pitchFamily="34" charset="-120"/>
              </a:rPr>
              <a:t>全操作を記録</a:t>
            </a:r>
            <a:endParaRPr lang="en-US" sz="1300" dirty="0"/>
          </a:p>
        </p:txBody>
      </p:sp>
      <p:sp>
        <p:nvSpPr>
          <p:cNvPr id="22" name="Text 16"/>
          <p:cNvSpPr/>
          <p:nvPr/>
        </p:nvSpPr>
        <p:spPr>
          <a:xfrm>
            <a:off x="7486650" y="3310128"/>
            <a:ext cx="1737360" cy="1600200"/>
          </a:xfrm>
          <a:prstGeom prst="rect">
            <a:avLst/>
          </a:prstGeom>
          <a:noFill/>
          <a:ln/>
        </p:spPr>
        <p:txBody>
          <a:bodyPr wrap="square" lIns="0" tIns="0" rIns="0" bIns="0" rtlCol="0" anchor="t"/>
          <a:lstStyle/>
          <a:p>
            <a:pPr indent="0" marL="0">
              <a:lnSpc>
                <a:spcPct val="130000"/>
              </a:lnSpc>
              <a:buNone/>
            </a:pPr>
            <a:r>
              <a:rPr lang="en-US" sz="1050" dirty="0">
                <a:solidFill>
                  <a:srgbClr val="1F2540"/>
                </a:solidFill>
                <a:latin typeface="Yu Gothic" pitchFamily="34" charset="0"/>
                <a:ea typeface="Yu Gothic" pitchFamily="34" charset="-122"/>
                <a:cs typeface="Yu Gothic" pitchFamily="34" charset="-120"/>
              </a:rPr>
              <a:t>AIの操作は監査ログに自動記録。あとから第三者が検証できる証跡を残す。</a:t>
            </a:r>
            <a:endParaRPr lang="en-US" sz="1050" dirty="0"/>
          </a:p>
        </p:txBody>
      </p:sp>
      <p:sp>
        <p:nvSpPr>
          <p:cNvPr id="23" name="Shape 17"/>
          <p:cNvSpPr/>
          <p:nvPr/>
        </p:nvSpPr>
        <p:spPr>
          <a:xfrm>
            <a:off x="9555480" y="1463040"/>
            <a:ext cx="2084832" cy="3520440"/>
          </a:xfrm>
          <a:prstGeom prst="roundRect">
            <a:avLst>
              <a:gd name="adj" fmla="val 4386"/>
            </a:avLst>
          </a:prstGeom>
          <a:solidFill>
            <a:srgbClr val="EEF3FB"/>
          </a:solidFill>
          <a:ln/>
        </p:spPr>
      </p:sp>
      <p:sp>
        <p:nvSpPr>
          <p:cNvPr id="24" name="Shape 18"/>
          <p:cNvSpPr/>
          <p:nvPr/>
        </p:nvSpPr>
        <p:spPr>
          <a:xfrm>
            <a:off x="10268712" y="1783080"/>
            <a:ext cx="658368" cy="658368"/>
          </a:xfrm>
          <a:prstGeom prst="ellipse">
            <a:avLst/>
          </a:prstGeom>
          <a:solidFill>
            <a:srgbClr val="1E2761"/>
          </a:solidFill>
          <a:ln/>
        </p:spPr>
      </p:sp>
      <p:pic>
        <p:nvPicPr>
          <p:cNvPr id="25" name="Image 4" descr="/home/claude/bpo_summary/icons/shieldcheck_white.png">    </p:cNvPr>
          <p:cNvPicPr>
            <a:picLocks noChangeAspect="1"/>
          </p:cNvPicPr>
          <p:nvPr/>
        </p:nvPicPr>
        <p:blipFill>
          <a:blip r:embed="rId5"/>
          <a:stretch>
            <a:fillRect/>
          </a:stretch>
        </p:blipFill>
        <p:spPr>
          <a:xfrm>
            <a:off x="10426720" y="1941088"/>
            <a:ext cx="342351" cy="342351"/>
          </a:xfrm>
          <a:prstGeom prst="rect">
            <a:avLst/>
          </a:prstGeom>
        </p:spPr>
      </p:pic>
      <p:sp>
        <p:nvSpPr>
          <p:cNvPr id="26" name="Text 19"/>
          <p:cNvSpPr/>
          <p:nvPr/>
        </p:nvSpPr>
        <p:spPr>
          <a:xfrm>
            <a:off x="9683496" y="2606040"/>
            <a:ext cx="1828800" cy="685800"/>
          </a:xfrm>
          <a:prstGeom prst="rect">
            <a:avLst/>
          </a:prstGeom>
          <a:noFill/>
          <a:ln/>
        </p:spPr>
        <p:txBody>
          <a:bodyPr wrap="square" lIns="0" tIns="0" rIns="0" bIns="0" rtlCol="0" anchor="t"/>
          <a:lstStyle/>
          <a:p>
            <a:pPr algn="ctr" indent="0" marL="0">
              <a:lnSpc>
                <a:spcPct val="112000"/>
              </a:lnSpc>
              <a:buNone/>
            </a:pPr>
            <a:r>
              <a:rPr lang="en-US" sz="1300" b="1" dirty="0">
                <a:solidFill>
                  <a:srgbClr val="1E2761"/>
                </a:solidFill>
                <a:latin typeface="Yu Gothic" pitchFamily="34" charset="0"/>
                <a:ea typeface="Yu Gothic" pitchFamily="34" charset="-122"/>
                <a:cs typeface="Yu Gothic" pitchFamily="34" charset="-120"/>
              </a:rPr>
              <a:t>不良を後工程に</a:t>
            </a:r>
            <a:endParaRPr lang="en-US" sz="1300" dirty="0"/>
          </a:p>
          <a:p>
            <a:pPr algn="ctr" indent="0" marL="0">
              <a:lnSpc>
                <a:spcPct val="112000"/>
              </a:lnSpc>
              <a:buNone/>
            </a:pPr>
            <a:r>
              <a:rPr lang="en-US" sz="1300" b="1" dirty="0">
                <a:solidFill>
                  <a:srgbClr val="1E2761"/>
                </a:solidFill>
                <a:latin typeface="Yu Gothic" pitchFamily="34" charset="0"/>
                <a:ea typeface="Yu Gothic" pitchFamily="34" charset="-122"/>
                <a:cs typeface="Yu Gothic" pitchFamily="34" charset="-120"/>
              </a:rPr>
              <a:t>流さない</a:t>
            </a:r>
            <a:endParaRPr lang="en-US" sz="1300" dirty="0"/>
          </a:p>
        </p:txBody>
      </p:sp>
      <p:sp>
        <p:nvSpPr>
          <p:cNvPr id="27" name="Text 20"/>
          <p:cNvSpPr/>
          <p:nvPr/>
        </p:nvSpPr>
        <p:spPr>
          <a:xfrm>
            <a:off x="9738360" y="3310128"/>
            <a:ext cx="1737360" cy="1600200"/>
          </a:xfrm>
          <a:prstGeom prst="rect">
            <a:avLst/>
          </a:prstGeom>
          <a:noFill/>
          <a:ln/>
        </p:spPr>
        <p:txBody>
          <a:bodyPr wrap="square" lIns="0" tIns="0" rIns="0" bIns="0" rtlCol="0" anchor="t"/>
          <a:lstStyle/>
          <a:p>
            <a:pPr indent="0" marL="0">
              <a:lnSpc>
                <a:spcPct val="130000"/>
              </a:lnSpc>
              <a:buNone/>
            </a:pPr>
            <a:r>
              <a:rPr lang="en-US" sz="1050" dirty="0">
                <a:solidFill>
                  <a:srgbClr val="1F2540"/>
                </a:solidFill>
                <a:latin typeface="Yu Gothic" pitchFamily="34" charset="0"/>
                <a:ea typeface="Yu Gothic" pitchFamily="34" charset="-122"/>
                <a:cs typeface="Yu Gothic" pitchFamily="34" charset="-120"/>
              </a:rPr>
              <a:t>変換の各段階に検証条件を設定。基準を満たさなければ、その場で停止する。</a:t>
            </a:r>
            <a:endParaRPr lang="en-US" sz="1050" dirty="0"/>
          </a:p>
        </p:txBody>
      </p:sp>
      <p:sp>
        <p:nvSpPr>
          <p:cNvPr id="28" name="Shape 21"/>
          <p:cNvSpPr/>
          <p:nvPr/>
        </p:nvSpPr>
        <p:spPr>
          <a:xfrm>
            <a:off x="548640" y="5486400"/>
            <a:ext cx="11091672" cy="685800"/>
          </a:xfrm>
          <a:prstGeom prst="roundRect">
            <a:avLst>
              <a:gd name="adj" fmla="val 10667"/>
            </a:avLst>
          </a:prstGeom>
          <a:solidFill>
            <a:srgbClr val="1E2761"/>
          </a:solidFill>
          <a:ln/>
        </p:spPr>
      </p:sp>
      <p:sp>
        <p:nvSpPr>
          <p:cNvPr id="29" name="Text 22"/>
          <p:cNvSpPr/>
          <p:nvPr/>
        </p:nvSpPr>
        <p:spPr>
          <a:xfrm>
            <a:off x="822960" y="5486400"/>
            <a:ext cx="10515600" cy="685800"/>
          </a:xfrm>
          <a:prstGeom prst="rect">
            <a:avLst/>
          </a:prstGeom>
          <a:noFill/>
          <a:ln/>
        </p:spPr>
        <p:txBody>
          <a:bodyPr wrap="square" lIns="0" tIns="0" rIns="0" bIns="0" rtlCol="0" anchor="ctr"/>
          <a:lstStyle/>
          <a:p>
            <a:pPr algn="ctr" indent="0" marL="0">
              <a:buNone/>
            </a:pPr>
            <a:r>
              <a:rPr lang="en-US" sz="1350" b="1" dirty="0">
                <a:solidFill>
                  <a:srgbClr val="FFFFFF"/>
                </a:solidFill>
                <a:latin typeface="Yu Gothic" pitchFamily="34" charset="0"/>
                <a:ea typeface="Yu Gothic" pitchFamily="34" charset="-122"/>
                <a:cs typeface="Yu Gothic" pitchFamily="34" charset="-120"/>
              </a:rPr>
              <a:t>これらはガイドライン(性善説)ではなく、変換プログラムが機械的に強制する仕組みとして実装される。</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566928"/>
          </a:xfrm>
          <a:prstGeom prst="rect">
            <a:avLst/>
          </a:prstGeom>
          <a:noFill/>
          <a:ln/>
        </p:spPr>
        <p:txBody>
          <a:bodyPr wrap="square" lIns="0" tIns="0" rIns="0" bIns="0" rtlCol="0" anchor="ctr"/>
          <a:lstStyle/>
          <a:p>
            <a:pPr algn="l" indent="0" marL="0">
              <a:buNone/>
            </a:pPr>
            <a:r>
              <a:rPr lang="en-US" sz="2600" b="1" dirty="0">
                <a:solidFill>
                  <a:srgbClr val="1E2761"/>
                </a:solidFill>
                <a:latin typeface="Yu Gothic" pitchFamily="34" charset="0"/>
                <a:ea typeface="Yu Gothic" pitchFamily="34" charset="-122"/>
                <a:cs typeface="Yu Gothic" pitchFamily="34" charset="-120"/>
              </a:rPr>
              <a:t>生成物の要「ハーネス定義」 ― 実行を統制し、改善し続ける枠組み</a:t>
            </a:r>
            <a:endParaRPr lang="en-US" sz="2600" dirty="0"/>
          </a:p>
        </p:txBody>
      </p:sp>
      <p:sp>
        <p:nvSpPr>
          <p:cNvPr id="3" name="Text 1"/>
          <p:cNvSpPr/>
          <p:nvPr/>
        </p:nvSpPr>
        <p:spPr>
          <a:xfrm>
            <a:off x="548640" y="932688"/>
            <a:ext cx="11064240" cy="320040"/>
          </a:xfrm>
          <a:prstGeom prst="rect">
            <a:avLst/>
          </a:prstGeom>
          <a:noFill/>
          <a:ln/>
        </p:spPr>
        <p:txBody>
          <a:bodyPr wrap="square" lIns="0" tIns="0" rIns="0" bIns="0" rtlCol="0" anchor="ctr"/>
          <a:lstStyle/>
          <a:p>
            <a:pPr indent="0" marL="0">
              <a:buNone/>
            </a:pPr>
            <a:r>
              <a:rPr lang="en-US" sz="1250" dirty="0">
                <a:solidFill>
                  <a:srgbClr val="5B6478"/>
                </a:solidFill>
                <a:latin typeface="Yu Gothic" pitchFamily="34" charset="0"/>
                <a:ea typeface="Yu Gothic" pitchFamily="34" charset="-122"/>
                <a:cs typeface="Yu Gothic" pitchFamily="34" charset="-120"/>
              </a:rPr>
              <a:t>AIの成果はモデル単体ではなく「実行の枠組み(ハーネス)」で決まる ― Anthropic公式の設計思想に準拠。</a:t>
            </a:r>
            <a:endParaRPr lang="en-US" sz="1250" dirty="0"/>
          </a:p>
        </p:txBody>
      </p:sp>
      <p:sp>
        <p:nvSpPr>
          <p:cNvPr id="4" name="Shape 2"/>
          <p:cNvSpPr/>
          <p:nvPr/>
        </p:nvSpPr>
        <p:spPr>
          <a:xfrm>
            <a:off x="1097280" y="1481328"/>
            <a:ext cx="5623560" cy="658368"/>
          </a:xfrm>
          <a:prstGeom prst="roundRect">
            <a:avLst>
              <a:gd name="adj" fmla="val 11111"/>
            </a:avLst>
          </a:prstGeom>
          <a:solidFill>
            <a:srgbClr val="EEF3FB"/>
          </a:solidFill>
          <a:ln/>
        </p:spPr>
      </p:sp>
      <p:pic>
        <p:nvPicPr>
          <p:cNvPr id="5" name="Image 0" descr="/home/claude/bpo_summary/icons/filecheck_navy.png">    </p:cNvPr>
          <p:cNvPicPr>
            <a:picLocks noChangeAspect="1"/>
          </p:cNvPicPr>
          <p:nvPr/>
        </p:nvPicPr>
        <p:blipFill>
          <a:blip r:embed="rId1"/>
          <a:stretch>
            <a:fillRect/>
          </a:stretch>
        </p:blipFill>
        <p:spPr>
          <a:xfrm>
            <a:off x="1325880" y="1627632"/>
            <a:ext cx="365760" cy="365760"/>
          </a:xfrm>
          <a:prstGeom prst="rect">
            <a:avLst/>
          </a:prstGeom>
        </p:spPr>
      </p:pic>
      <p:sp>
        <p:nvSpPr>
          <p:cNvPr id="6" name="Text 3"/>
          <p:cNvSpPr/>
          <p:nvPr/>
        </p:nvSpPr>
        <p:spPr>
          <a:xfrm>
            <a:off x="1828800" y="1481328"/>
            <a:ext cx="4800600" cy="658368"/>
          </a:xfrm>
          <a:prstGeom prst="rect">
            <a:avLst/>
          </a:prstGeom>
          <a:noFill/>
          <a:ln/>
        </p:spPr>
        <p:txBody>
          <a:bodyPr wrap="square" lIns="0" tIns="0" rIns="0" bIns="0" rtlCol="0" anchor="ctr"/>
          <a:lstStyle/>
          <a:p>
            <a:pPr indent="0" marL="0">
              <a:buNone/>
            </a:pPr>
            <a:r>
              <a:rPr lang="en-US" sz="1050" b="1" dirty="0">
                <a:solidFill>
                  <a:srgbClr val="1E2761"/>
                </a:solidFill>
                <a:latin typeface="Yu Gothic" pitchFamily="34" charset="0"/>
                <a:ea typeface="Yu Gothic" pitchFamily="34" charset="-122"/>
                <a:cs typeface="Yu Gothic" pitchFamily="34" charset="-120"/>
              </a:rPr>
              <a:t>実行契約(contracts)  </a:t>
            </a:r>
            <a:pPr indent="0" marL="0">
              <a:buNone/>
            </a:pPr>
            <a:r>
              <a:rPr lang="en-US" sz="1050" dirty="0">
                <a:solidFill>
                  <a:srgbClr val="1F2540"/>
                </a:solidFill>
                <a:latin typeface="Yu Gothic" pitchFamily="34" charset="0"/>
                <a:ea typeface="Yu Gothic" pitchFamily="34" charset="-122"/>
                <a:cs typeface="Yu Gothic" pitchFamily="34" charset="-120"/>
              </a:rPr>
              <a:t>ステップごとの「完了の定義」を事前に定める</a:t>
            </a:r>
            <a:endParaRPr lang="en-US" sz="1050" dirty="0"/>
          </a:p>
        </p:txBody>
      </p:sp>
      <p:sp>
        <p:nvSpPr>
          <p:cNvPr id="7" name="Shape 4"/>
          <p:cNvSpPr/>
          <p:nvPr/>
        </p:nvSpPr>
        <p:spPr>
          <a:xfrm>
            <a:off x="3776472" y="2194560"/>
            <a:ext cx="274320" cy="310896"/>
          </a:xfrm>
          <a:prstGeom prst="downArrow">
            <a:avLst/>
          </a:prstGeom>
          <a:solidFill>
            <a:srgbClr val="CADCFC"/>
          </a:solidFill>
          <a:ln/>
        </p:spPr>
      </p:sp>
      <p:sp>
        <p:nvSpPr>
          <p:cNvPr id="8" name="Shape 5"/>
          <p:cNvSpPr/>
          <p:nvPr/>
        </p:nvSpPr>
        <p:spPr>
          <a:xfrm>
            <a:off x="822960" y="2606040"/>
            <a:ext cx="2834640" cy="1188720"/>
          </a:xfrm>
          <a:prstGeom prst="roundRect">
            <a:avLst>
              <a:gd name="adj" fmla="val 7692"/>
            </a:avLst>
          </a:prstGeom>
          <a:solidFill>
            <a:srgbClr val="1E2761"/>
          </a:solidFill>
          <a:ln/>
        </p:spPr>
      </p:sp>
      <p:pic>
        <p:nvPicPr>
          <p:cNvPr id="9" name="Image 1" descr="/home/claude/bpo_summary/icons/bot_white.png">    </p:cNvPr>
          <p:cNvPicPr>
            <a:picLocks noChangeAspect="1"/>
          </p:cNvPicPr>
          <p:nvPr/>
        </p:nvPicPr>
        <p:blipFill>
          <a:blip r:embed="rId2"/>
          <a:stretch>
            <a:fillRect/>
          </a:stretch>
        </p:blipFill>
        <p:spPr>
          <a:xfrm>
            <a:off x="1005840" y="2761488"/>
            <a:ext cx="384048" cy="384048"/>
          </a:xfrm>
          <a:prstGeom prst="rect">
            <a:avLst/>
          </a:prstGeom>
        </p:spPr>
      </p:pic>
      <p:sp>
        <p:nvSpPr>
          <p:cNvPr id="10" name="Text 6"/>
          <p:cNvSpPr/>
          <p:nvPr/>
        </p:nvSpPr>
        <p:spPr>
          <a:xfrm>
            <a:off x="1481328" y="2743200"/>
            <a:ext cx="2103120" cy="384048"/>
          </a:xfrm>
          <a:prstGeom prst="rect">
            <a:avLst/>
          </a:prstGeom>
          <a:noFill/>
          <a:ln/>
        </p:spPr>
        <p:txBody>
          <a:bodyPr wrap="square" lIns="0" tIns="0" rIns="0" bIns="0" rtlCol="0" anchor="ctr"/>
          <a:lstStyle/>
          <a:p>
            <a:pPr indent="0" marL="0">
              <a:buNone/>
            </a:pPr>
            <a:r>
              <a:rPr lang="en-US" sz="1250" b="1" dirty="0">
                <a:solidFill>
                  <a:srgbClr val="FFFFFF"/>
                </a:solidFill>
                <a:latin typeface="Yu Gothic" pitchFamily="34" charset="0"/>
                <a:ea typeface="Yu Gothic" pitchFamily="34" charset="-122"/>
                <a:cs typeface="Yu Gothic" pitchFamily="34" charset="-120"/>
              </a:rPr>
              <a:t>実行役AI(executor)</a:t>
            </a:r>
            <a:endParaRPr lang="en-US" sz="1250" dirty="0"/>
          </a:p>
        </p:txBody>
      </p:sp>
      <p:sp>
        <p:nvSpPr>
          <p:cNvPr id="11" name="Text 7"/>
          <p:cNvSpPr/>
          <p:nvPr/>
        </p:nvSpPr>
        <p:spPr>
          <a:xfrm>
            <a:off x="1005840" y="3200400"/>
            <a:ext cx="2514600" cy="548640"/>
          </a:xfrm>
          <a:prstGeom prst="rect">
            <a:avLst/>
          </a:prstGeom>
          <a:noFill/>
          <a:ln/>
        </p:spPr>
        <p:txBody>
          <a:bodyPr wrap="square" lIns="0" tIns="0" rIns="0" bIns="0" rtlCol="0" anchor="t"/>
          <a:lstStyle/>
          <a:p>
            <a:pPr indent="0" marL="0">
              <a:lnSpc>
                <a:spcPct val="120000"/>
              </a:lnSpc>
              <a:buNone/>
            </a:pPr>
            <a:r>
              <a:rPr lang="en-US" sz="950" dirty="0">
                <a:solidFill>
                  <a:srgbClr val="CADCFC"/>
                </a:solidFill>
                <a:latin typeface="Yu Gothic" pitchFamily="34" charset="0"/>
                <a:ea typeface="Yu Gothic" pitchFamily="34" charset="-122"/>
                <a:cs typeface="Yu Gothic" pitchFamily="34" charset="-120"/>
              </a:rPr>
              <a:t>契約どおりに実行し、成果物を作る</a:t>
            </a:r>
            <a:endParaRPr lang="en-US" sz="950" dirty="0"/>
          </a:p>
        </p:txBody>
      </p:sp>
      <p:sp>
        <p:nvSpPr>
          <p:cNvPr id="12" name="Text 8"/>
          <p:cNvSpPr/>
          <p:nvPr/>
        </p:nvSpPr>
        <p:spPr>
          <a:xfrm>
            <a:off x="3611880" y="2724912"/>
            <a:ext cx="685800" cy="256032"/>
          </a:xfrm>
          <a:prstGeom prst="rect">
            <a:avLst/>
          </a:prstGeom>
          <a:noFill/>
          <a:ln/>
        </p:spPr>
        <p:txBody>
          <a:bodyPr wrap="square" lIns="0" tIns="0" rIns="0" bIns="0" rtlCol="0" anchor="ctr"/>
          <a:lstStyle/>
          <a:p>
            <a:pPr algn="ctr" indent="0" marL="0">
              <a:buNone/>
            </a:pPr>
            <a:r>
              <a:rPr lang="en-US" sz="900" dirty="0">
                <a:solidFill>
                  <a:srgbClr val="5B6478"/>
                </a:solidFill>
                <a:latin typeface="Yu Gothic" pitchFamily="34" charset="0"/>
                <a:ea typeface="Yu Gothic" pitchFamily="34" charset="-122"/>
                <a:cs typeface="Yu Gothic" pitchFamily="34" charset="-120"/>
              </a:rPr>
              <a:t>成果物</a:t>
            </a:r>
            <a:endParaRPr lang="en-US" sz="900" dirty="0"/>
          </a:p>
        </p:txBody>
      </p:sp>
      <p:sp>
        <p:nvSpPr>
          <p:cNvPr id="13" name="Shape 9"/>
          <p:cNvSpPr/>
          <p:nvPr/>
        </p:nvSpPr>
        <p:spPr>
          <a:xfrm>
            <a:off x="3730752" y="3017520"/>
            <a:ext cx="365760" cy="274320"/>
          </a:xfrm>
          <a:prstGeom prst="rightArrow">
            <a:avLst/>
          </a:prstGeom>
          <a:solidFill>
            <a:srgbClr val="CADCFC"/>
          </a:solidFill>
          <a:ln/>
        </p:spPr>
      </p:sp>
      <p:sp>
        <p:nvSpPr>
          <p:cNvPr id="14" name="Shape 10"/>
          <p:cNvSpPr/>
          <p:nvPr/>
        </p:nvSpPr>
        <p:spPr>
          <a:xfrm>
            <a:off x="4160520" y="2606040"/>
            <a:ext cx="2834640" cy="1188720"/>
          </a:xfrm>
          <a:prstGeom prst="roundRect">
            <a:avLst>
              <a:gd name="adj" fmla="val 7692"/>
            </a:avLst>
          </a:prstGeom>
          <a:solidFill>
            <a:srgbClr val="0E8C7F"/>
          </a:solidFill>
          <a:ln/>
        </p:spPr>
      </p:sp>
      <p:pic>
        <p:nvPicPr>
          <p:cNvPr id="15" name="Image 2" descr="/home/claude/bpo_summary/icons/searchcheck_white.png">    </p:cNvPr>
          <p:cNvPicPr>
            <a:picLocks noChangeAspect="1"/>
          </p:cNvPicPr>
          <p:nvPr/>
        </p:nvPicPr>
        <p:blipFill>
          <a:blip r:embed="rId3"/>
          <a:stretch>
            <a:fillRect/>
          </a:stretch>
        </p:blipFill>
        <p:spPr>
          <a:xfrm>
            <a:off x="4343400" y="2761488"/>
            <a:ext cx="384048" cy="384048"/>
          </a:xfrm>
          <a:prstGeom prst="rect">
            <a:avLst/>
          </a:prstGeom>
        </p:spPr>
      </p:pic>
      <p:sp>
        <p:nvSpPr>
          <p:cNvPr id="16" name="Text 11"/>
          <p:cNvSpPr/>
          <p:nvPr/>
        </p:nvSpPr>
        <p:spPr>
          <a:xfrm>
            <a:off x="4818888" y="2743200"/>
            <a:ext cx="2103120" cy="384048"/>
          </a:xfrm>
          <a:prstGeom prst="rect">
            <a:avLst/>
          </a:prstGeom>
          <a:noFill/>
          <a:ln/>
        </p:spPr>
        <p:txBody>
          <a:bodyPr wrap="square" lIns="0" tIns="0" rIns="0" bIns="0" rtlCol="0" anchor="ctr"/>
          <a:lstStyle/>
          <a:p>
            <a:pPr indent="0" marL="0">
              <a:buNone/>
            </a:pPr>
            <a:r>
              <a:rPr lang="en-US" sz="1250" b="1" dirty="0">
                <a:solidFill>
                  <a:srgbClr val="FFFFFF"/>
                </a:solidFill>
                <a:latin typeface="Yu Gothic" pitchFamily="34" charset="0"/>
                <a:ea typeface="Yu Gothic" pitchFamily="34" charset="-122"/>
                <a:cs typeface="Yu Gothic" pitchFamily="34" charset="-120"/>
              </a:rPr>
              <a:t>検証役AI(verifier)</a:t>
            </a:r>
            <a:endParaRPr lang="en-US" sz="1250" dirty="0"/>
          </a:p>
        </p:txBody>
      </p:sp>
      <p:sp>
        <p:nvSpPr>
          <p:cNvPr id="17" name="Text 12"/>
          <p:cNvSpPr/>
          <p:nvPr/>
        </p:nvSpPr>
        <p:spPr>
          <a:xfrm>
            <a:off x="4343400" y="3200400"/>
            <a:ext cx="2514600" cy="548640"/>
          </a:xfrm>
          <a:prstGeom prst="rect">
            <a:avLst/>
          </a:prstGeom>
          <a:noFill/>
          <a:ln/>
        </p:spPr>
        <p:txBody>
          <a:bodyPr wrap="square" lIns="0" tIns="0" rIns="0" bIns="0" rtlCol="0" anchor="t"/>
          <a:lstStyle/>
          <a:p>
            <a:pPr indent="0" marL="0">
              <a:lnSpc>
                <a:spcPct val="120000"/>
              </a:lnSpc>
              <a:buNone/>
            </a:pPr>
            <a:r>
              <a:rPr lang="en-US" sz="950" dirty="0">
                <a:solidFill>
                  <a:srgbClr val="CFEDE8"/>
                </a:solidFill>
                <a:latin typeface="Yu Gothic" pitchFamily="34" charset="0"/>
                <a:ea typeface="Yu Gothic" pitchFamily="34" charset="-122"/>
                <a:cs typeface="Yu Gothic" pitchFamily="34" charset="-120"/>
              </a:rPr>
              <a:t>契約基準を1項目ずつ検証し、合否を判定</a:t>
            </a:r>
            <a:endParaRPr lang="en-US" sz="950" dirty="0"/>
          </a:p>
        </p:txBody>
      </p:sp>
      <p:sp>
        <p:nvSpPr>
          <p:cNvPr id="18" name="Shape 13"/>
          <p:cNvSpPr/>
          <p:nvPr/>
        </p:nvSpPr>
        <p:spPr>
          <a:xfrm>
            <a:off x="2240280" y="3950208"/>
            <a:ext cx="3337560" cy="256032"/>
          </a:xfrm>
          <a:prstGeom prst="leftArrow">
            <a:avLst/>
          </a:prstGeom>
          <a:solidFill>
            <a:srgbClr val="E4B9B0"/>
          </a:solidFill>
          <a:ln/>
        </p:spPr>
      </p:sp>
      <p:sp>
        <p:nvSpPr>
          <p:cNvPr id="19" name="Text 14"/>
          <p:cNvSpPr/>
          <p:nvPr/>
        </p:nvSpPr>
        <p:spPr>
          <a:xfrm>
            <a:off x="1417320" y="4242816"/>
            <a:ext cx="5029200" cy="274320"/>
          </a:xfrm>
          <a:prstGeom prst="rect">
            <a:avLst/>
          </a:prstGeom>
          <a:noFill/>
          <a:ln/>
        </p:spPr>
        <p:txBody>
          <a:bodyPr wrap="square" lIns="0" tIns="0" rIns="0" bIns="0" rtlCol="0" anchor="ctr"/>
          <a:lstStyle/>
          <a:p>
            <a:pPr algn="ctr" indent="0" marL="0">
              <a:buNone/>
            </a:pPr>
            <a:r>
              <a:rPr lang="en-US" sz="950" dirty="0">
                <a:solidFill>
                  <a:srgbClr val="A3564A"/>
                </a:solidFill>
                <a:latin typeface="Yu Gothic" pitchFamily="34" charset="0"/>
                <a:ea typeface="Yu Gothic" pitchFamily="34" charset="-122"/>
                <a:cs typeface="Yu Gothic" pitchFamily="34" charset="-120"/>
              </a:rPr>
              <a:t>不合格:フィードバックを添えて実行役へ差し戻し</a:t>
            </a:r>
            <a:endParaRPr lang="en-US" sz="950" dirty="0"/>
          </a:p>
        </p:txBody>
      </p:sp>
      <p:sp>
        <p:nvSpPr>
          <p:cNvPr id="20" name="Shape 15"/>
          <p:cNvSpPr/>
          <p:nvPr/>
        </p:nvSpPr>
        <p:spPr>
          <a:xfrm>
            <a:off x="3776472" y="4553712"/>
            <a:ext cx="274320" cy="292608"/>
          </a:xfrm>
          <a:prstGeom prst="downArrow">
            <a:avLst/>
          </a:prstGeom>
          <a:solidFill>
            <a:srgbClr val="CADCFC"/>
          </a:solidFill>
          <a:ln/>
        </p:spPr>
      </p:sp>
      <p:sp>
        <p:nvSpPr>
          <p:cNvPr id="21" name="Shape 16"/>
          <p:cNvSpPr/>
          <p:nvPr/>
        </p:nvSpPr>
        <p:spPr>
          <a:xfrm>
            <a:off x="1417320" y="4937760"/>
            <a:ext cx="5029200" cy="777240"/>
          </a:xfrm>
          <a:prstGeom prst="roundRect">
            <a:avLst>
              <a:gd name="adj" fmla="val 9412"/>
            </a:avLst>
          </a:prstGeom>
          <a:solidFill>
            <a:srgbClr val="E3F4F1"/>
          </a:solidFill>
          <a:ln/>
        </p:spPr>
      </p:sp>
      <p:sp>
        <p:nvSpPr>
          <p:cNvPr id="22" name="Text 17"/>
          <p:cNvSpPr/>
          <p:nvPr/>
        </p:nvSpPr>
        <p:spPr>
          <a:xfrm>
            <a:off x="1645920" y="4937760"/>
            <a:ext cx="4572000" cy="777240"/>
          </a:xfrm>
          <a:prstGeom prst="rect">
            <a:avLst/>
          </a:prstGeom>
          <a:noFill/>
          <a:ln/>
        </p:spPr>
        <p:txBody>
          <a:bodyPr wrap="square" lIns="0" tIns="0" rIns="0" bIns="0" rtlCol="0" anchor="ctr"/>
          <a:lstStyle/>
          <a:p>
            <a:pPr algn="ctr" indent="0" marL="0">
              <a:lnSpc>
                <a:spcPct val="120000"/>
              </a:lnSpc>
              <a:buNone/>
            </a:pPr>
            <a:r>
              <a:rPr lang="en-US" sz="1150" b="1" dirty="0">
                <a:solidFill>
                  <a:srgbClr val="0E8C7F"/>
                </a:solidFill>
                <a:latin typeface="Yu Gothic" pitchFamily="34" charset="0"/>
                <a:ea typeface="Yu Gothic" pitchFamily="34" charset="-122"/>
                <a:cs typeface="Yu Gothic" pitchFamily="34" charset="-120"/>
              </a:rPr>
              <a:t>合格:進捗を記録し、次のステップへ
</a:t>
            </a:r>
            <a:pPr algn="ctr" indent="0" marL="0">
              <a:lnSpc>
                <a:spcPct val="120000"/>
              </a:lnSpc>
              <a:buNone/>
            </a:pPr>
            <a:r>
              <a:rPr lang="en-US" sz="950" dirty="0">
                <a:solidFill>
                  <a:srgbClr val="1F2540"/>
                </a:solidFill>
                <a:latin typeface="Yu Gothic" pitchFamily="34" charset="0"/>
                <a:ea typeface="Yu Gothic" pitchFamily="34" charset="-122"/>
                <a:cs typeface="Yu Gothic" pitchFamily="34" charset="-120"/>
              </a:rPr>
              <a:t>長時間の実行は「引き継ぎ様式」で新しいセッションに継続できる</a:t>
            </a:r>
            <a:endParaRPr lang="en-US" sz="1150" dirty="0"/>
          </a:p>
        </p:txBody>
      </p:sp>
      <p:sp>
        <p:nvSpPr>
          <p:cNvPr id="23" name="Text 18"/>
          <p:cNvSpPr/>
          <p:nvPr/>
        </p:nvSpPr>
        <p:spPr>
          <a:xfrm>
            <a:off x="548640" y="5943600"/>
            <a:ext cx="6766560" cy="320040"/>
          </a:xfrm>
          <a:prstGeom prst="rect">
            <a:avLst/>
          </a:prstGeom>
          <a:noFill/>
          <a:ln/>
        </p:spPr>
        <p:txBody>
          <a:bodyPr wrap="square" lIns="0" tIns="0" rIns="0" bIns="0" rtlCol="0" anchor="ctr"/>
          <a:lstStyle/>
          <a:p>
            <a:pPr algn="ctr" indent="0" marL="0">
              <a:buNone/>
            </a:pPr>
            <a:r>
              <a:rPr lang="en-US" sz="1050" i="1" dirty="0">
                <a:solidFill>
                  <a:srgbClr val="5B6478"/>
                </a:solidFill>
                <a:latin typeface="Yu Gothic" pitchFamily="34" charset="0"/>
                <a:ea typeface="Yu Gothic" pitchFamily="34" charset="-122"/>
                <a:cs typeface="Yu Gothic" pitchFamily="34" charset="-120"/>
              </a:rPr>
              <a:t>実行と評価を別のAIに分離し、「自己採点の甘さ」を仕組みで排除する。</a:t>
            </a:r>
            <a:endParaRPr lang="en-US" sz="1050" dirty="0"/>
          </a:p>
        </p:txBody>
      </p:sp>
      <p:sp>
        <p:nvSpPr>
          <p:cNvPr id="24" name="Shape 19"/>
          <p:cNvSpPr/>
          <p:nvPr/>
        </p:nvSpPr>
        <p:spPr>
          <a:xfrm>
            <a:off x="7635240" y="1481328"/>
            <a:ext cx="4005072" cy="4782312"/>
          </a:xfrm>
          <a:prstGeom prst="roundRect">
            <a:avLst>
              <a:gd name="adj" fmla="val 2283"/>
            </a:avLst>
          </a:prstGeom>
          <a:solidFill>
            <a:srgbClr val="1E2761"/>
          </a:solidFill>
          <a:ln/>
        </p:spPr>
      </p:sp>
      <p:sp>
        <p:nvSpPr>
          <p:cNvPr id="25" name="Shape 20"/>
          <p:cNvSpPr/>
          <p:nvPr/>
        </p:nvSpPr>
        <p:spPr>
          <a:xfrm>
            <a:off x="7955280" y="1783080"/>
            <a:ext cx="548640" cy="548640"/>
          </a:xfrm>
          <a:prstGeom prst="ellipse">
            <a:avLst/>
          </a:prstGeom>
          <a:solidFill>
            <a:srgbClr val="0E8C7F"/>
          </a:solidFill>
          <a:ln/>
        </p:spPr>
      </p:sp>
      <p:pic>
        <p:nvPicPr>
          <p:cNvPr id="26" name="Image 3" descr="/home/claude/bpo_summary/icons/refresh_white.png">    </p:cNvPr>
          <p:cNvPicPr>
            <a:picLocks noChangeAspect="1"/>
          </p:cNvPicPr>
          <p:nvPr/>
        </p:nvPicPr>
        <p:blipFill>
          <a:blip r:embed="rId4"/>
          <a:stretch>
            <a:fillRect/>
          </a:stretch>
        </p:blipFill>
        <p:spPr>
          <a:xfrm>
            <a:off x="8086954" y="1914754"/>
            <a:ext cx="285293" cy="285293"/>
          </a:xfrm>
          <a:prstGeom prst="rect">
            <a:avLst/>
          </a:prstGeom>
        </p:spPr>
      </p:pic>
      <p:sp>
        <p:nvSpPr>
          <p:cNvPr id="27" name="Text 21"/>
          <p:cNvSpPr/>
          <p:nvPr/>
        </p:nvSpPr>
        <p:spPr>
          <a:xfrm>
            <a:off x="8668512" y="1737360"/>
            <a:ext cx="2834640" cy="640080"/>
          </a:xfrm>
          <a:prstGeom prst="rect">
            <a:avLst/>
          </a:prstGeom>
          <a:noFill/>
          <a:ln/>
        </p:spPr>
        <p:txBody>
          <a:bodyPr wrap="square" lIns="0" tIns="0" rIns="0" bIns="0" rtlCol="0" anchor="ctr"/>
          <a:lstStyle/>
          <a:p>
            <a:pPr indent="0" marL="0">
              <a:lnSpc>
                <a:spcPct val="112000"/>
              </a:lnSpc>
              <a:buNone/>
            </a:pPr>
            <a:r>
              <a:rPr lang="en-US" sz="1350" b="1" dirty="0">
                <a:solidFill>
                  <a:srgbClr val="FFFFFF"/>
                </a:solidFill>
                <a:latin typeface="Yu Gothic" pitchFamily="34" charset="0"/>
                <a:ea typeface="Yu Gothic" pitchFamily="34" charset="-122"/>
                <a:cs typeface="Yu Gothic" pitchFamily="34" charset="-120"/>
              </a:rPr>
              <a:t>一度つくって終わり、</a:t>
            </a:r>
            <a:endParaRPr lang="en-US" sz="1350" dirty="0"/>
          </a:p>
          <a:p>
            <a:pPr indent="0" marL="0">
              <a:lnSpc>
                <a:spcPct val="112000"/>
              </a:lnSpc>
              <a:buNone/>
            </a:pPr>
            <a:r>
              <a:rPr lang="en-US" sz="1350" b="1" dirty="0">
                <a:solidFill>
                  <a:srgbClr val="FFFFFF"/>
                </a:solidFill>
                <a:latin typeface="Yu Gothic" pitchFamily="34" charset="0"/>
                <a:ea typeface="Yu Gothic" pitchFamily="34" charset="-122"/>
                <a:cs typeface="Yu Gothic" pitchFamily="34" charset="-120"/>
              </a:rPr>
              <a:t>にしない</a:t>
            </a:r>
            <a:endParaRPr lang="en-US" sz="1350" dirty="0"/>
          </a:p>
        </p:txBody>
      </p:sp>
      <p:sp>
        <p:nvSpPr>
          <p:cNvPr id="28" name="Text 22"/>
          <p:cNvSpPr/>
          <p:nvPr/>
        </p:nvSpPr>
        <p:spPr>
          <a:xfrm>
            <a:off x="7955280" y="2606040"/>
            <a:ext cx="3383280" cy="365760"/>
          </a:xfrm>
          <a:prstGeom prst="rect">
            <a:avLst/>
          </a:prstGeom>
          <a:noFill/>
          <a:ln/>
        </p:spPr>
        <p:txBody>
          <a:bodyPr wrap="square" lIns="0" tIns="0" rIns="0" bIns="0" rtlCol="0" anchor="ctr"/>
          <a:lstStyle/>
          <a:p>
            <a:pPr indent="0" marL="0">
              <a:buNone/>
            </a:pPr>
            <a:r>
              <a:rPr lang="en-US" sz="1250" b="1" dirty="0">
                <a:solidFill>
                  <a:srgbClr val="7FD8CC"/>
                </a:solidFill>
                <a:latin typeface="Yu Gothic" pitchFamily="34" charset="0"/>
                <a:ea typeface="Yu Gothic" pitchFamily="34" charset="-122"/>
                <a:cs typeface="Yu Gothic" pitchFamily="34" charset="-120"/>
              </a:rPr>
              <a:t>将来構想:自己再帰的改善</a:t>
            </a:r>
            <a:endParaRPr lang="en-US" sz="1250" dirty="0"/>
          </a:p>
        </p:txBody>
      </p:sp>
      <p:sp>
        <p:nvSpPr>
          <p:cNvPr id="29" name="Text 23"/>
          <p:cNvSpPr/>
          <p:nvPr/>
        </p:nvSpPr>
        <p:spPr>
          <a:xfrm>
            <a:off x="7955280" y="3017520"/>
            <a:ext cx="3383280" cy="1463040"/>
          </a:xfrm>
          <a:prstGeom prst="rect">
            <a:avLst/>
          </a:prstGeom>
          <a:noFill/>
          <a:ln/>
        </p:spPr>
        <p:txBody>
          <a:bodyPr wrap="square" lIns="0" tIns="0" rIns="0" bIns="0" rtlCol="0" anchor="t"/>
          <a:lstStyle/>
          <a:p>
            <a:pPr indent="0" marL="0">
              <a:lnSpc>
                <a:spcPct val="132000"/>
              </a:lnSpc>
              <a:buNone/>
            </a:pPr>
            <a:r>
              <a:rPr lang="en-US" sz="1050" dirty="0">
                <a:solidFill>
                  <a:srgbClr val="CADCFC"/>
                </a:solidFill>
                <a:latin typeface="Yu Gothic" pitchFamily="34" charset="0"/>
                <a:ea typeface="Yu Gothic" pitchFamily="34" charset="-122"/>
                <a:cs typeface="Yu Gothic" pitchFamily="34" charset="-120"/>
              </a:rPr>
              <a:t>実行のたびに蓄積される検証結果・差し戻し履歴・監査ログを手がかりに、実行契約や手順、さらにはハーネス自体をAIが見直し続ける「自己再帰的な改善ループ」を将来的に目指す。</a:t>
            </a:r>
            <a:endParaRPr lang="en-US" sz="1050" dirty="0"/>
          </a:p>
        </p:txBody>
      </p:sp>
      <p:sp>
        <p:nvSpPr>
          <p:cNvPr id="30" name="Text 24"/>
          <p:cNvSpPr/>
          <p:nvPr/>
        </p:nvSpPr>
        <p:spPr>
          <a:xfrm>
            <a:off x="7955280" y="4434840"/>
            <a:ext cx="3383280" cy="1280160"/>
          </a:xfrm>
          <a:prstGeom prst="rect">
            <a:avLst/>
          </a:prstGeom>
          <a:noFill/>
          <a:ln/>
        </p:spPr>
        <p:txBody>
          <a:bodyPr wrap="square" lIns="0" tIns="0" rIns="0" bIns="0" rtlCol="0" anchor="t"/>
          <a:lstStyle/>
          <a:p>
            <a:pPr indent="0" marL="0">
              <a:lnSpc>
                <a:spcPct val="132000"/>
              </a:lnSpc>
              <a:buNone/>
            </a:pPr>
            <a:r>
              <a:rPr lang="en-US" sz="1050" dirty="0">
                <a:solidFill>
                  <a:srgbClr val="FFFFFF"/>
                </a:solidFill>
                <a:latin typeface="Yu Gothic" pitchFamily="34" charset="0"/>
                <a:ea typeface="Yu Gothic" pitchFamily="34" charset="-122"/>
                <a:cs typeface="Yu Gothic" pitchFamily="34" charset="-120"/>
              </a:rPr>
              <a:t>改善の採否は人が承認する運用(HITL)から段階的に始め、業務プロセスを「使うほど賢くなる資産」に育てる。</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566928"/>
          </a:xfrm>
          <a:prstGeom prst="rect">
            <a:avLst/>
          </a:prstGeom>
          <a:noFill/>
          <a:ln/>
        </p:spPr>
        <p:txBody>
          <a:bodyPr wrap="square" lIns="0" tIns="0" rIns="0" bIns="0" rtlCol="0" anchor="ctr"/>
          <a:lstStyle/>
          <a:p>
            <a:pPr algn="l" indent="0" marL="0">
              <a:buNone/>
            </a:pPr>
            <a:r>
              <a:rPr lang="en-US" sz="2600" b="1" dirty="0">
                <a:solidFill>
                  <a:srgbClr val="1E2761"/>
                </a:solidFill>
                <a:latin typeface="Yu Gothic" pitchFamily="34" charset="0"/>
                <a:ea typeface="Yu Gothic" pitchFamily="34" charset="-122"/>
                <a:cs typeface="Yu Gothic" pitchFamily="34" charset="-120"/>
              </a:rPr>
              <a:t>現場適用イメージ ― 製造業6業種の実務サンプルを同梱</a:t>
            </a:r>
            <a:endParaRPr lang="en-US" sz="2600" dirty="0"/>
          </a:p>
        </p:txBody>
      </p:sp>
      <p:sp>
        <p:nvSpPr>
          <p:cNvPr id="3" name="Text 1"/>
          <p:cNvSpPr/>
          <p:nvPr/>
        </p:nvSpPr>
        <p:spPr>
          <a:xfrm>
            <a:off x="548640" y="960120"/>
            <a:ext cx="11064240" cy="365760"/>
          </a:xfrm>
          <a:prstGeom prst="rect">
            <a:avLst/>
          </a:prstGeom>
          <a:noFill/>
          <a:ln/>
        </p:spPr>
        <p:txBody>
          <a:bodyPr wrap="square" lIns="0" tIns="0" rIns="0" bIns="0" rtlCol="0" anchor="ctr"/>
          <a:lstStyle/>
          <a:p>
            <a:pPr indent="0" marL="0">
              <a:buNone/>
            </a:pPr>
            <a:r>
              <a:rPr lang="en-US" sz="1300" dirty="0">
                <a:solidFill>
                  <a:srgbClr val="5B6478"/>
                </a:solidFill>
                <a:latin typeface="Yu Gothic" pitchFamily="34" charset="0"/>
                <a:ea typeface="Yu Gothic" pitchFamily="34" charset="-122"/>
                <a:cs typeface="Yu Gothic" pitchFamily="34" charset="-120"/>
              </a:rPr>
              <a:t>いずれも承認・差し戻し・帳票記録を含む実務水準のプロセスとして設計(題材は仮設定)。</a:t>
            </a:r>
            <a:endParaRPr lang="en-US" sz="1300" dirty="0"/>
          </a:p>
        </p:txBody>
      </p:sp>
      <p:sp>
        <p:nvSpPr>
          <p:cNvPr id="4" name="Shape 2"/>
          <p:cNvSpPr/>
          <p:nvPr/>
        </p:nvSpPr>
        <p:spPr>
          <a:xfrm>
            <a:off x="548640" y="1508760"/>
            <a:ext cx="3566160" cy="1965960"/>
          </a:xfrm>
          <a:prstGeom prst="roundRect">
            <a:avLst>
              <a:gd name="adj" fmla="val 4651"/>
            </a:avLst>
          </a:prstGeom>
          <a:solidFill>
            <a:srgbClr val="EEF3FB"/>
          </a:solidFill>
          <a:ln/>
        </p:spPr>
      </p:sp>
      <p:sp>
        <p:nvSpPr>
          <p:cNvPr id="5" name="Shape 3"/>
          <p:cNvSpPr/>
          <p:nvPr/>
        </p:nvSpPr>
        <p:spPr>
          <a:xfrm>
            <a:off x="822960" y="1764792"/>
            <a:ext cx="566928" cy="566928"/>
          </a:xfrm>
          <a:prstGeom prst="ellipse">
            <a:avLst/>
          </a:prstGeom>
          <a:solidFill>
            <a:srgbClr val="FFFFFF"/>
          </a:solidFill>
          <a:ln/>
        </p:spPr>
      </p:sp>
      <p:pic>
        <p:nvPicPr>
          <p:cNvPr id="6" name="Image 0" descr="/home/claude/bpo_summary/icons/car_navy.png">    </p:cNvPr>
          <p:cNvPicPr>
            <a:picLocks noChangeAspect="1"/>
          </p:cNvPicPr>
          <p:nvPr/>
        </p:nvPicPr>
        <p:blipFill>
          <a:blip r:embed="rId1"/>
          <a:stretch>
            <a:fillRect/>
          </a:stretch>
        </p:blipFill>
        <p:spPr>
          <a:xfrm>
            <a:off x="959023" y="1900855"/>
            <a:ext cx="294803" cy="294803"/>
          </a:xfrm>
          <a:prstGeom prst="rect">
            <a:avLst/>
          </a:prstGeom>
        </p:spPr>
      </p:pic>
      <p:sp>
        <p:nvSpPr>
          <p:cNvPr id="7" name="Text 4"/>
          <p:cNvSpPr/>
          <p:nvPr/>
        </p:nvSpPr>
        <p:spPr>
          <a:xfrm>
            <a:off x="1554480" y="1810512"/>
            <a:ext cx="2377440" cy="457200"/>
          </a:xfrm>
          <a:prstGeom prst="rect">
            <a:avLst/>
          </a:prstGeom>
          <a:noFill/>
          <a:ln/>
        </p:spPr>
        <p:txBody>
          <a:bodyPr wrap="square" lIns="0" tIns="0" rIns="0" bIns="0" rtlCol="0" anchor="ctr"/>
          <a:lstStyle/>
          <a:p>
            <a:pPr indent="0" marL="0">
              <a:buNone/>
            </a:pPr>
            <a:r>
              <a:rPr lang="en-US" sz="1200" b="1" dirty="0">
                <a:solidFill>
                  <a:srgbClr val="5B6478"/>
                </a:solidFill>
                <a:latin typeface="Yu Gothic" pitchFamily="34" charset="0"/>
                <a:ea typeface="Yu Gothic" pitchFamily="34" charset="-122"/>
                <a:cs typeface="Yu Gothic" pitchFamily="34" charset="-120"/>
              </a:rPr>
              <a:t>自動車・輸送機器</a:t>
            </a:r>
            <a:endParaRPr lang="en-US" sz="1200" dirty="0"/>
          </a:p>
        </p:txBody>
      </p:sp>
      <p:sp>
        <p:nvSpPr>
          <p:cNvPr id="8" name="Text 5"/>
          <p:cNvSpPr/>
          <p:nvPr/>
        </p:nvSpPr>
        <p:spPr>
          <a:xfrm>
            <a:off x="822960" y="2441448"/>
            <a:ext cx="3063240" cy="384048"/>
          </a:xfrm>
          <a:prstGeom prst="rect">
            <a:avLst/>
          </a:prstGeom>
          <a:noFill/>
          <a:ln/>
        </p:spPr>
        <p:txBody>
          <a:bodyPr wrap="square" lIns="0" tIns="0" rIns="0" bIns="0" rtlCol="0" anchor="ctr"/>
          <a:lstStyle/>
          <a:p>
            <a:pPr indent="0" marL="0">
              <a:buNone/>
            </a:pPr>
            <a:r>
              <a:rPr lang="en-US" sz="1450" b="1" dirty="0">
                <a:solidFill>
                  <a:srgbClr val="1E2761"/>
                </a:solidFill>
                <a:latin typeface="Yu Gothic" pitchFamily="34" charset="0"/>
                <a:ea typeface="Yu Gothic" pitchFamily="34" charset="-122"/>
                <a:cs typeface="Yu Gothic" pitchFamily="34" charset="-120"/>
              </a:rPr>
              <a:t>設計変更管理(ECO)</a:t>
            </a:r>
            <a:endParaRPr lang="en-US" sz="1450" dirty="0"/>
          </a:p>
        </p:txBody>
      </p:sp>
      <p:sp>
        <p:nvSpPr>
          <p:cNvPr id="9" name="Text 6"/>
          <p:cNvSpPr/>
          <p:nvPr/>
        </p:nvSpPr>
        <p:spPr>
          <a:xfrm>
            <a:off x="822960" y="2862072"/>
            <a:ext cx="3063240" cy="502920"/>
          </a:xfrm>
          <a:prstGeom prst="rect">
            <a:avLst/>
          </a:prstGeom>
          <a:noFill/>
          <a:ln/>
        </p:spPr>
        <p:txBody>
          <a:bodyPr wrap="square" lIns="0" tIns="0" rIns="0" bIns="0" rtlCol="0" anchor="t"/>
          <a:lstStyle/>
          <a:p>
            <a:pPr indent="0" marL="0">
              <a:lnSpc>
                <a:spcPct val="120000"/>
              </a:lnSpc>
              <a:buNone/>
            </a:pPr>
            <a:r>
              <a:rPr lang="en-US" sz="1050" dirty="0">
                <a:solidFill>
                  <a:srgbClr val="1F2540"/>
                </a:solidFill>
                <a:latin typeface="Yu Gothic" pitchFamily="34" charset="0"/>
                <a:ea typeface="Yu Gothic" pitchFamily="34" charset="-122"/>
                <a:cs typeface="Yu Gothic" pitchFamily="34" charset="-120"/>
              </a:rPr>
              <a:t>影響範囲調査から顧客承認・初品検査まで</a:t>
            </a:r>
            <a:endParaRPr lang="en-US" sz="1050" dirty="0"/>
          </a:p>
        </p:txBody>
      </p:sp>
      <p:sp>
        <p:nvSpPr>
          <p:cNvPr id="10" name="Shape 7"/>
          <p:cNvSpPr/>
          <p:nvPr/>
        </p:nvSpPr>
        <p:spPr>
          <a:xfrm>
            <a:off x="4311396" y="1508760"/>
            <a:ext cx="3566160" cy="1965960"/>
          </a:xfrm>
          <a:prstGeom prst="roundRect">
            <a:avLst>
              <a:gd name="adj" fmla="val 4651"/>
            </a:avLst>
          </a:prstGeom>
          <a:solidFill>
            <a:srgbClr val="EEF3FB"/>
          </a:solidFill>
          <a:ln/>
        </p:spPr>
      </p:sp>
      <p:sp>
        <p:nvSpPr>
          <p:cNvPr id="11" name="Shape 8"/>
          <p:cNvSpPr/>
          <p:nvPr/>
        </p:nvSpPr>
        <p:spPr>
          <a:xfrm>
            <a:off x="4585716" y="1764792"/>
            <a:ext cx="566928" cy="566928"/>
          </a:xfrm>
          <a:prstGeom prst="ellipse">
            <a:avLst/>
          </a:prstGeom>
          <a:solidFill>
            <a:srgbClr val="FFFFFF"/>
          </a:solidFill>
          <a:ln/>
        </p:spPr>
      </p:sp>
      <p:pic>
        <p:nvPicPr>
          <p:cNvPr id="12" name="Image 1" descr="/home/claude/bpo_summary/icons/circuit_navy.png">    </p:cNvPr>
          <p:cNvPicPr>
            <a:picLocks noChangeAspect="1"/>
          </p:cNvPicPr>
          <p:nvPr/>
        </p:nvPicPr>
        <p:blipFill>
          <a:blip r:embed="rId2"/>
          <a:stretch>
            <a:fillRect/>
          </a:stretch>
        </p:blipFill>
        <p:spPr>
          <a:xfrm>
            <a:off x="4721779" y="1900855"/>
            <a:ext cx="294803" cy="294803"/>
          </a:xfrm>
          <a:prstGeom prst="rect">
            <a:avLst/>
          </a:prstGeom>
        </p:spPr>
      </p:pic>
      <p:sp>
        <p:nvSpPr>
          <p:cNvPr id="13" name="Text 9"/>
          <p:cNvSpPr/>
          <p:nvPr/>
        </p:nvSpPr>
        <p:spPr>
          <a:xfrm>
            <a:off x="5317236" y="1810512"/>
            <a:ext cx="2377440" cy="457200"/>
          </a:xfrm>
          <a:prstGeom prst="rect">
            <a:avLst/>
          </a:prstGeom>
          <a:noFill/>
          <a:ln/>
        </p:spPr>
        <p:txBody>
          <a:bodyPr wrap="square" lIns="0" tIns="0" rIns="0" bIns="0" rtlCol="0" anchor="ctr"/>
          <a:lstStyle/>
          <a:p>
            <a:pPr indent="0" marL="0">
              <a:buNone/>
            </a:pPr>
            <a:r>
              <a:rPr lang="en-US" sz="1200" b="1" dirty="0">
                <a:solidFill>
                  <a:srgbClr val="5B6478"/>
                </a:solidFill>
                <a:latin typeface="Yu Gothic" pitchFamily="34" charset="0"/>
                <a:ea typeface="Yu Gothic" pitchFamily="34" charset="-122"/>
                <a:cs typeface="Yu Gothic" pitchFamily="34" charset="-120"/>
              </a:rPr>
              <a:t>電機・電子</a:t>
            </a:r>
            <a:endParaRPr lang="en-US" sz="1200" dirty="0"/>
          </a:p>
        </p:txBody>
      </p:sp>
      <p:sp>
        <p:nvSpPr>
          <p:cNvPr id="14" name="Text 10"/>
          <p:cNvSpPr/>
          <p:nvPr/>
        </p:nvSpPr>
        <p:spPr>
          <a:xfrm>
            <a:off x="4585716" y="2441448"/>
            <a:ext cx="3063240" cy="384048"/>
          </a:xfrm>
          <a:prstGeom prst="rect">
            <a:avLst/>
          </a:prstGeom>
          <a:noFill/>
          <a:ln/>
        </p:spPr>
        <p:txBody>
          <a:bodyPr wrap="square" lIns="0" tIns="0" rIns="0" bIns="0" rtlCol="0" anchor="ctr"/>
          <a:lstStyle/>
          <a:p>
            <a:pPr indent="0" marL="0">
              <a:buNone/>
            </a:pPr>
            <a:r>
              <a:rPr lang="en-US" sz="1450" b="1" dirty="0">
                <a:solidFill>
                  <a:srgbClr val="1E2761"/>
                </a:solidFill>
                <a:latin typeface="Yu Gothic" pitchFamily="34" charset="0"/>
                <a:ea typeface="Yu Gothic" pitchFamily="34" charset="-122"/>
                <a:cs typeface="Yu Gothic" pitchFamily="34" charset="-120"/>
              </a:rPr>
              <a:t>部品受入検査(IQC)</a:t>
            </a:r>
            <a:endParaRPr lang="en-US" sz="1450" dirty="0"/>
          </a:p>
        </p:txBody>
      </p:sp>
      <p:sp>
        <p:nvSpPr>
          <p:cNvPr id="15" name="Text 11"/>
          <p:cNvSpPr/>
          <p:nvPr/>
        </p:nvSpPr>
        <p:spPr>
          <a:xfrm>
            <a:off x="4585716" y="2862072"/>
            <a:ext cx="3063240" cy="502920"/>
          </a:xfrm>
          <a:prstGeom prst="rect">
            <a:avLst/>
          </a:prstGeom>
          <a:noFill/>
          <a:ln/>
        </p:spPr>
        <p:txBody>
          <a:bodyPr wrap="square" lIns="0" tIns="0" rIns="0" bIns="0" rtlCol="0" anchor="t"/>
          <a:lstStyle/>
          <a:p>
            <a:pPr indent="0" marL="0">
              <a:lnSpc>
                <a:spcPct val="120000"/>
              </a:lnSpc>
              <a:buNone/>
            </a:pPr>
            <a:r>
              <a:rPr lang="en-US" sz="1050" dirty="0">
                <a:solidFill>
                  <a:srgbClr val="1F2540"/>
                </a:solidFill>
                <a:latin typeface="Yu Gothic" pitchFamily="34" charset="0"/>
                <a:ea typeface="Yu Gothic" pitchFamily="34" charset="-122"/>
                <a:cs typeface="Yu Gothic" pitchFamily="34" charset="-120"/>
              </a:rPr>
              <a:t>AQL抜取検査と不合格ロットの差し戻し</a:t>
            </a:r>
            <a:endParaRPr lang="en-US" sz="1050" dirty="0"/>
          </a:p>
        </p:txBody>
      </p:sp>
      <p:sp>
        <p:nvSpPr>
          <p:cNvPr id="16" name="Shape 12"/>
          <p:cNvSpPr/>
          <p:nvPr/>
        </p:nvSpPr>
        <p:spPr>
          <a:xfrm>
            <a:off x="8074152" y="1508760"/>
            <a:ext cx="3566160" cy="1965960"/>
          </a:xfrm>
          <a:prstGeom prst="roundRect">
            <a:avLst>
              <a:gd name="adj" fmla="val 4651"/>
            </a:avLst>
          </a:prstGeom>
          <a:solidFill>
            <a:srgbClr val="EEF3FB"/>
          </a:solidFill>
          <a:ln/>
        </p:spPr>
      </p:sp>
      <p:sp>
        <p:nvSpPr>
          <p:cNvPr id="17" name="Shape 13"/>
          <p:cNvSpPr/>
          <p:nvPr/>
        </p:nvSpPr>
        <p:spPr>
          <a:xfrm>
            <a:off x="8348472" y="1764792"/>
            <a:ext cx="566928" cy="566928"/>
          </a:xfrm>
          <a:prstGeom prst="ellipse">
            <a:avLst/>
          </a:prstGeom>
          <a:solidFill>
            <a:srgbClr val="FFFFFF"/>
          </a:solidFill>
          <a:ln/>
        </p:spPr>
      </p:sp>
      <p:pic>
        <p:nvPicPr>
          <p:cNvPr id="18" name="Image 2" descr="/home/claude/bpo_summary/icons/utensils_navy.png">    </p:cNvPr>
          <p:cNvPicPr>
            <a:picLocks noChangeAspect="1"/>
          </p:cNvPicPr>
          <p:nvPr/>
        </p:nvPicPr>
        <p:blipFill>
          <a:blip r:embed="rId3"/>
          <a:stretch>
            <a:fillRect/>
          </a:stretch>
        </p:blipFill>
        <p:spPr>
          <a:xfrm>
            <a:off x="8484535" y="1900855"/>
            <a:ext cx="294803" cy="294803"/>
          </a:xfrm>
          <a:prstGeom prst="rect">
            <a:avLst/>
          </a:prstGeom>
        </p:spPr>
      </p:pic>
      <p:sp>
        <p:nvSpPr>
          <p:cNvPr id="19" name="Text 14"/>
          <p:cNvSpPr/>
          <p:nvPr/>
        </p:nvSpPr>
        <p:spPr>
          <a:xfrm>
            <a:off x="9079992" y="1810512"/>
            <a:ext cx="2377440" cy="457200"/>
          </a:xfrm>
          <a:prstGeom prst="rect">
            <a:avLst/>
          </a:prstGeom>
          <a:noFill/>
          <a:ln/>
        </p:spPr>
        <p:txBody>
          <a:bodyPr wrap="square" lIns="0" tIns="0" rIns="0" bIns="0" rtlCol="0" anchor="ctr"/>
          <a:lstStyle/>
          <a:p>
            <a:pPr indent="0" marL="0">
              <a:buNone/>
            </a:pPr>
            <a:r>
              <a:rPr lang="en-US" sz="1200" b="1" dirty="0">
                <a:solidFill>
                  <a:srgbClr val="5B6478"/>
                </a:solidFill>
                <a:latin typeface="Yu Gothic" pitchFamily="34" charset="0"/>
                <a:ea typeface="Yu Gothic" pitchFamily="34" charset="-122"/>
                <a:cs typeface="Yu Gothic" pitchFamily="34" charset="-120"/>
              </a:rPr>
              <a:t>食品</a:t>
            </a:r>
            <a:endParaRPr lang="en-US" sz="1200" dirty="0"/>
          </a:p>
        </p:txBody>
      </p:sp>
      <p:sp>
        <p:nvSpPr>
          <p:cNvPr id="20" name="Text 15"/>
          <p:cNvSpPr/>
          <p:nvPr/>
        </p:nvSpPr>
        <p:spPr>
          <a:xfrm>
            <a:off x="8348472" y="2441448"/>
            <a:ext cx="3063240" cy="384048"/>
          </a:xfrm>
          <a:prstGeom prst="rect">
            <a:avLst/>
          </a:prstGeom>
          <a:noFill/>
          <a:ln/>
        </p:spPr>
        <p:txBody>
          <a:bodyPr wrap="square" lIns="0" tIns="0" rIns="0" bIns="0" rtlCol="0" anchor="ctr"/>
          <a:lstStyle/>
          <a:p>
            <a:pPr indent="0" marL="0">
              <a:buNone/>
            </a:pPr>
            <a:r>
              <a:rPr lang="en-US" sz="1450" b="1" dirty="0">
                <a:solidFill>
                  <a:srgbClr val="1E2761"/>
                </a:solidFill>
                <a:latin typeface="Yu Gothic" pitchFamily="34" charset="0"/>
                <a:ea typeface="Yu Gothic" pitchFamily="34" charset="-122"/>
                <a:cs typeface="Yu Gothic" pitchFamily="34" charset="-120"/>
              </a:rPr>
              <a:t>ロット受入・トレーサビリティ</a:t>
            </a:r>
            <a:endParaRPr lang="en-US" sz="1450" dirty="0"/>
          </a:p>
        </p:txBody>
      </p:sp>
      <p:sp>
        <p:nvSpPr>
          <p:cNvPr id="21" name="Text 16"/>
          <p:cNvSpPr/>
          <p:nvPr/>
        </p:nvSpPr>
        <p:spPr>
          <a:xfrm>
            <a:off x="8348472" y="2862072"/>
            <a:ext cx="3063240" cy="502920"/>
          </a:xfrm>
          <a:prstGeom prst="rect">
            <a:avLst/>
          </a:prstGeom>
          <a:noFill/>
          <a:ln/>
        </p:spPr>
        <p:txBody>
          <a:bodyPr wrap="square" lIns="0" tIns="0" rIns="0" bIns="0" rtlCol="0" anchor="t"/>
          <a:lstStyle/>
          <a:p>
            <a:pPr indent="0" marL="0">
              <a:lnSpc>
                <a:spcPct val="120000"/>
              </a:lnSpc>
              <a:buNone/>
            </a:pPr>
            <a:r>
              <a:rPr lang="en-US" sz="1050" dirty="0">
                <a:solidFill>
                  <a:srgbClr val="1F2540"/>
                </a:solidFill>
                <a:latin typeface="Yu Gothic" pitchFamily="34" charset="0"/>
                <a:ea typeface="Yu Gothic" pitchFamily="34" charset="-122"/>
                <a:cs typeface="Yu Gothic" pitchFamily="34" charset="-120"/>
              </a:rPr>
              <a:t>産地証明の照合とHACCP記録の保存</a:t>
            </a:r>
            <a:endParaRPr lang="en-US" sz="1050" dirty="0"/>
          </a:p>
        </p:txBody>
      </p:sp>
      <p:sp>
        <p:nvSpPr>
          <p:cNvPr id="22" name="Shape 17"/>
          <p:cNvSpPr/>
          <p:nvPr/>
        </p:nvSpPr>
        <p:spPr>
          <a:xfrm>
            <a:off x="548640" y="3749040"/>
            <a:ext cx="3566160" cy="1965960"/>
          </a:xfrm>
          <a:prstGeom prst="roundRect">
            <a:avLst>
              <a:gd name="adj" fmla="val 4651"/>
            </a:avLst>
          </a:prstGeom>
          <a:solidFill>
            <a:srgbClr val="EEF3FB"/>
          </a:solidFill>
          <a:ln/>
        </p:spPr>
      </p:sp>
      <p:sp>
        <p:nvSpPr>
          <p:cNvPr id="23" name="Shape 18"/>
          <p:cNvSpPr/>
          <p:nvPr/>
        </p:nvSpPr>
        <p:spPr>
          <a:xfrm>
            <a:off x="822960" y="4005072"/>
            <a:ext cx="566928" cy="566928"/>
          </a:xfrm>
          <a:prstGeom prst="ellipse">
            <a:avLst/>
          </a:prstGeom>
          <a:solidFill>
            <a:srgbClr val="FFFFFF"/>
          </a:solidFill>
          <a:ln/>
        </p:spPr>
      </p:sp>
      <p:pic>
        <p:nvPicPr>
          <p:cNvPr id="24" name="Image 3" descr="/home/claude/bpo_summary/icons/flask_navy.png">    </p:cNvPr>
          <p:cNvPicPr>
            <a:picLocks noChangeAspect="1"/>
          </p:cNvPicPr>
          <p:nvPr/>
        </p:nvPicPr>
        <p:blipFill>
          <a:blip r:embed="rId4"/>
          <a:stretch>
            <a:fillRect/>
          </a:stretch>
        </p:blipFill>
        <p:spPr>
          <a:xfrm>
            <a:off x="959023" y="4141135"/>
            <a:ext cx="294803" cy="294803"/>
          </a:xfrm>
          <a:prstGeom prst="rect">
            <a:avLst/>
          </a:prstGeom>
        </p:spPr>
      </p:pic>
      <p:sp>
        <p:nvSpPr>
          <p:cNvPr id="25" name="Text 19"/>
          <p:cNvSpPr/>
          <p:nvPr/>
        </p:nvSpPr>
        <p:spPr>
          <a:xfrm>
            <a:off x="1554480" y="4050792"/>
            <a:ext cx="2377440" cy="457200"/>
          </a:xfrm>
          <a:prstGeom prst="rect">
            <a:avLst/>
          </a:prstGeom>
          <a:noFill/>
          <a:ln/>
        </p:spPr>
        <p:txBody>
          <a:bodyPr wrap="square" lIns="0" tIns="0" rIns="0" bIns="0" rtlCol="0" anchor="ctr"/>
          <a:lstStyle/>
          <a:p>
            <a:pPr indent="0" marL="0">
              <a:buNone/>
            </a:pPr>
            <a:r>
              <a:rPr lang="en-US" sz="1200" b="1" dirty="0">
                <a:solidFill>
                  <a:srgbClr val="5B6478"/>
                </a:solidFill>
                <a:latin typeface="Yu Gothic" pitchFamily="34" charset="0"/>
                <a:ea typeface="Yu Gothic" pitchFamily="34" charset="-122"/>
                <a:cs typeface="Yu Gothic" pitchFamily="34" charset="-120"/>
              </a:rPr>
              <a:t>化学</a:t>
            </a:r>
            <a:endParaRPr lang="en-US" sz="1200" dirty="0"/>
          </a:p>
        </p:txBody>
      </p:sp>
      <p:sp>
        <p:nvSpPr>
          <p:cNvPr id="26" name="Text 20"/>
          <p:cNvSpPr/>
          <p:nvPr/>
        </p:nvSpPr>
        <p:spPr>
          <a:xfrm>
            <a:off x="822960" y="4681728"/>
            <a:ext cx="3063240" cy="384048"/>
          </a:xfrm>
          <a:prstGeom prst="rect">
            <a:avLst/>
          </a:prstGeom>
          <a:noFill/>
          <a:ln/>
        </p:spPr>
        <p:txBody>
          <a:bodyPr wrap="square" lIns="0" tIns="0" rIns="0" bIns="0" rtlCol="0" anchor="ctr"/>
          <a:lstStyle/>
          <a:p>
            <a:pPr indent="0" marL="0">
              <a:buNone/>
            </a:pPr>
            <a:r>
              <a:rPr lang="en-US" sz="1450" b="1" dirty="0">
                <a:solidFill>
                  <a:srgbClr val="1E2761"/>
                </a:solidFill>
                <a:latin typeface="Yu Gothic" pitchFamily="34" charset="0"/>
                <a:ea typeface="Yu Gothic" pitchFamily="34" charset="-122"/>
                <a:cs typeface="Yu Gothic" pitchFamily="34" charset="-120"/>
              </a:rPr>
              <a:t>SDS改訂・配布管理</a:t>
            </a:r>
            <a:endParaRPr lang="en-US" sz="1450" dirty="0"/>
          </a:p>
        </p:txBody>
      </p:sp>
      <p:sp>
        <p:nvSpPr>
          <p:cNvPr id="27" name="Text 21"/>
          <p:cNvSpPr/>
          <p:nvPr/>
        </p:nvSpPr>
        <p:spPr>
          <a:xfrm>
            <a:off x="822960" y="5102352"/>
            <a:ext cx="3063240" cy="502920"/>
          </a:xfrm>
          <a:prstGeom prst="rect">
            <a:avLst/>
          </a:prstGeom>
          <a:noFill/>
          <a:ln/>
        </p:spPr>
        <p:txBody>
          <a:bodyPr wrap="square" lIns="0" tIns="0" rIns="0" bIns="0" rtlCol="0" anchor="t"/>
          <a:lstStyle/>
          <a:p>
            <a:pPr indent="0" marL="0">
              <a:lnSpc>
                <a:spcPct val="120000"/>
              </a:lnSpc>
              <a:buNone/>
            </a:pPr>
            <a:r>
              <a:rPr lang="en-US" sz="1050" dirty="0">
                <a:solidFill>
                  <a:srgbClr val="1F2540"/>
                </a:solidFill>
                <a:latin typeface="Yu Gothic" pitchFamily="34" charset="0"/>
                <a:ea typeface="Yu Gothic" pitchFamily="34" charset="-122"/>
                <a:cs typeface="Yu Gothic" pitchFamily="34" charset="-120"/>
              </a:rPr>
              <a:t>法改正の確認から配布・旧版回収まで</a:t>
            </a:r>
            <a:endParaRPr lang="en-US" sz="1050" dirty="0"/>
          </a:p>
        </p:txBody>
      </p:sp>
      <p:sp>
        <p:nvSpPr>
          <p:cNvPr id="28" name="Shape 22"/>
          <p:cNvSpPr/>
          <p:nvPr/>
        </p:nvSpPr>
        <p:spPr>
          <a:xfrm>
            <a:off x="4311396" y="3749040"/>
            <a:ext cx="3566160" cy="1965960"/>
          </a:xfrm>
          <a:prstGeom prst="roundRect">
            <a:avLst>
              <a:gd name="adj" fmla="val 4651"/>
            </a:avLst>
          </a:prstGeom>
          <a:solidFill>
            <a:srgbClr val="EEF3FB"/>
          </a:solidFill>
          <a:ln/>
        </p:spPr>
      </p:sp>
      <p:sp>
        <p:nvSpPr>
          <p:cNvPr id="29" name="Shape 23"/>
          <p:cNvSpPr/>
          <p:nvPr/>
        </p:nvSpPr>
        <p:spPr>
          <a:xfrm>
            <a:off x="4585716" y="4005072"/>
            <a:ext cx="566928" cy="566928"/>
          </a:xfrm>
          <a:prstGeom prst="ellipse">
            <a:avLst/>
          </a:prstGeom>
          <a:solidFill>
            <a:srgbClr val="FFFFFF"/>
          </a:solidFill>
          <a:ln/>
        </p:spPr>
      </p:sp>
      <p:pic>
        <p:nvPicPr>
          <p:cNvPr id="30" name="Image 4" descr="/home/claude/bpo_summary/icons/wrench_navy.png">    </p:cNvPr>
          <p:cNvPicPr>
            <a:picLocks noChangeAspect="1"/>
          </p:cNvPicPr>
          <p:nvPr/>
        </p:nvPicPr>
        <p:blipFill>
          <a:blip r:embed="rId5"/>
          <a:stretch>
            <a:fillRect/>
          </a:stretch>
        </p:blipFill>
        <p:spPr>
          <a:xfrm>
            <a:off x="4721779" y="4141135"/>
            <a:ext cx="294803" cy="294803"/>
          </a:xfrm>
          <a:prstGeom prst="rect">
            <a:avLst/>
          </a:prstGeom>
        </p:spPr>
      </p:pic>
      <p:sp>
        <p:nvSpPr>
          <p:cNvPr id="31" name="Text 24"/>
          <p:cNvSpPr/>
          <p:nvPr/>
        </p:nvSpPr>
        <p:spPr>
          <a:xfrm>
            <a:off x="5317236" y="4050792"/>
            <a:ext cx="2377440" cy="457200"/>
          </a:xfrm>
          <a:prstGeom prst="rect">
            <a:avLst/>
          </a:prstGeom>
          <a:noFill/>
          <a:ln/>
        </p:spPr>
        <p:txBody>
          <a:bodyPr wrap="square" lIns="0" tIns="0" rIns="0" bIns="0" rtlCol="0" anchor="ctr"/>
          <a:lstStyle/>
          <a:p>
            <a:pPr indent="0" marL="0">
              <a:buNone/>
            </a:pPr>
            <a:r>
              <a:rPr lang="en-US" sz="1200" b="1" dirty="0">
                <a:solidFill>
                  <a:srgbClr val="5B6478"/>
                </a:solidFill>
                <a:latin typeface="Yu Gothic" pitchFamily="34" charset="0"/>
                <a:ea typeface="Yu Gothic" pitchFamily="34" charset="-122"/>
                <a:cs typeface="Yu Gothic" pitchFamily="34" charset="-120"/>
              </a:rPr>
              <a:t>機械・金属加工</a:t>
            </a:r>
            <a:endParaRPr lang="en-US" sz="1200" dirty="0"/>
          </a:p>
        </p:txBody>
      </p:sp>
      <p:sp>
        <p:nvSpPr>
          <p:cNvPr id="32" name="Text 25"/>
          <p:cNvSpPr/>
          <p:nvPr/>
        </p:nvSpPr>
        <p:spPr>
          <a:xfrm>
            <a:off x="4585716" y="4681728"/>
            <a:ext cx="3063240" cy="384048"/>
          </a:xfrm>
          <a:prstGeom prst="rect">
            <a:avLst/>
          </a:prstGeom>
          <a:noFill/>
          <a:ln/>
        </p:spPr>
        <p:txBody>
          <a:bodyPr wrap="square" lIns="0" tIns="0" rIns="0" bIns="0" rtlCol="0" anchor="ctr"/>
          <a:lstStyle/>
          <a:p>
            <a:pPr indent="0" marL="0">
              <a:buNone/>
            </a:pPr>
            <a:r>
              <a:rPr lang="en-US" sz="1450" b="1" dirty="0">
                <a:solidFill>
                  <a:srgbClr val="1E2761"/>
                </a:solidFill>
                <a:latin typeface="Yu Gothic" pitchFamily="34" charset="0"/>
                <a:ea typeface="Yu Gothic" pitchFamily="34" charset="-122"/>
                <a:cs typeface="Yu Gothic" pitchFamily="34" charset="-120"/>
              </a:rPr>
              <a:t>不適合品処理(NCR)</a:t>
            </a:r>
            <a:endParaRPr lang="en-US" sz="1450" dirty="0"/>
          </a:p>
        </p:txBody>
      </p:sp>
      <p:sp>
        <p:nvSpPr>
          <p:cNvPr id="33" name="Text 26"/>
          <p:cNvSpPr/>
          <p:nvPr/>
        </p:nvSpPr>
        <p:spPr>
          <a:xfrm>
            <a:off x="4585716" y="5102352"/>
            <a:ext cx="3063240" cy="502920"/>
          </a:xfrm>
          <a:prstGeom prst="rect">
            <a:avLst/>
          </a:prstGeom>
          <a:noFill/>
          <a:ln/>
        </p:spPr>
        <p:txBody>
          <a:bodyPr wrap="square" lIns="0" tIns="0" rIns="0" bIns="0" rtlCol="0" anchor="t"/>
          <a:lstStyle/>
          <a:p>
            <a:pPr indent="0" marL="0">
              <a:lnSpc>
                <a:spcPct val="120000"/>
              </a:lnSpc>
              <a:buNone/>
            </a:pPr>
            <a:r>
              <a:rPr lang="en-US" sz="1050" dirty="0">
                <a:solidFill>
                  <a:srgbClr val="1F2540"/>
                </a:solidFill>
                <a:latin typeface="Yu Gothic" pitchFamily="34" charset="0"/>
                <a:ea typeface="Yu Gothic" pitchFamily="34" charset="-122"/>
                <a:cs typeface="Yu Gothic" pitchFamily="34" charset="-120"/>
              </a:rPr>
              <a:t>処置判定・是正処置・顧客連絡要否の判断</a:t>
            </a:r>
            <a:endParaRPr lang="en-US" sz="1050" dirty="0"/>
          </a:p>
        </p:txBody>
      </p:sp>
      <p:sp>
        <p:nvSpPr>
          <p:cNvPr id="34" name="Shape 27"/>
          <p:cNvSpPr/>
          <p:nvPr/>
        </p:nvSpPr>
        <p:spPr>
          <a:xfrm>
            <a:off x="8074152" y="3749040"/>
            <a:ext cx="3566160" cy="1965960"/>
          </a:xfrm>
          <a:prstGeom prst="roundRect">
            <a:avLst>
              <a:gd name="adj" fmla="val 4651"/>
            </a:avLst>
          </a:prstGeom>
          <a:solidFill>
            <a:srgbClr val="EEF3FB"/>
          </a:solidFill>
          <a:ln/>
        </p:spPr>
      </p:sp>
      <p:sp>
        <p:nvSpPr>
          <p:cNvPr id="35" name="Shape 28"/>
          <p:cNvSpPr/>
          <p:nvPr/>
        </p:nvSpPr>
        <p:spPr>
          <a:xfrm>
            <a:off x="8348472" y="4005072"/>
            <a:ext cx="566928" cy="566928"/>
          </a:xfrm>
          <a:prstGeom prst="ellipse">
            <a:avLst/>
          </a:prstGeom>
          <a:solidFill>
            <a:srgbClr val="FFFFFF"/>
          </a:solidFill>
          <a:ln/>
        </p:spPr>
      </p:sp>
      <p:pic>
        <p:nvPicPr>
          <p:cNvPr id="36" name="Image 5" descr="/home/claude/bpo_summary/icons/factory_navy.png">    </p:cNvPr>
          <p:cNvPicPr>
            <a:picLocks noChangeAspect="1"/>
          </p:cNvPicPr>
          <p:nvPr/>
        </p:nvPicPr>
        <p:blipFill>
          <a:blip r:embed="rId6"/>
          <a:stretch>
            <a:fillRect/>
          </a:stretch>
        </p:blipFill>
        <p:spPr>
          <a:xfrm>
            <a:off x="8484535" y="4141135"/>
            <a:ext cx="294803" cy="294803"/>
          </a:xfrm>
          <a:prstGeom prst="rect">
            <a:avLst/>
          </a:prstGeom>
        </p:spPr>
      </p:pic>
      <p:sp>
        <p:nvSpPr>
          <p:cNvPr id="37" name="Text 29"/>
          <p:cNvSpPr/>
          <p:nvPr/>
        </p:nvSpPr>
        <p:spPr>
          <a:xfrm>
            <a:off x="9079992" y="4050792"/>
            <a:ext cx="2377440" cy="457200"/>
          </a:xfrm>
          <a:prstGeom prst="rect">
            <a:avLst/>
          </a:prstGeom>
          <a:noFill/>
          <a:ln/>
        </p:spPr>
        <p:txBody>
          <a:bodyPr wrap="square" lIns="0" tIns="0" rIns="0" bIns="0" rtlCol="0" anchor="ctr"/>
          <a:lstStyle/>
          <a:p>
            <a:pPr indent="0" marL="0">
              <a:buNone/>
            </a:pPr>
            <a:r>
              <a:rPr lang="en-US" sz="1200" b="1" dirty="0">
                <a:solidFill>
                  <a:srgbClr val="5B6478"/>
                </a:solidFill>
                <a:latin typeface="Yu Gothic" pitchFamily="34" charset="0"/>
                <a:ea typeface="Yu Gothic" pitchFamily="34" charset="-122"/>
                <a:cs typeface="Yu Gothic" pitchFamily="34" charset="-120"/>
              </a:rPr>
              <a:t>産業機械</a:t>
            </a:r>
            <a:endParaRPr lang="en-US" sz="1200" dirty="0"/>
          </a:p>
        </p:txBody>
      </p:sp>
      <p:sp>
        <p:nvSpPr>
          <p:cNvPr id="38" name="Text 30"/>
          <p:cNvSpPr/>
          <p:nvPr/>
        </p:nvSpPr>
        <p:spPr>
          <a:xfrm>
            <a:off x="8348472" y="4681728"/>
            <a:ext cx="3063240" cy="384048"/>
          </a:xfrm>
          <a:prstGeom prst="rect">
            <a:avLst/>
          </a:prstGeom>
          <a:noFill/>
          <a:ln/>
        </p:spPr>
        <p:txBody>
          <a:bodyPr wrap="square" lIns="0" tIns="0" rIns="0" bIns="0" rtlCol="0" anchor="ctr"/>
          <a:lstStyle/>
          <a:p>
            <a:pPr indent="0" marL="0">
              <a:buNone/>
            </a:pPr>
            <a:r>
              <a:rPr lang="en-US" sz="1450" b="1" dirty="0">
                <a:solidFill>
                  <a:srgbClr val="1E2761"/>
                </a:solidFill>
                <a:latin typeface="Yu Gothic" pitchFamily="34" charset="0"/>
                <a:ea typeface="Yu Gothic" pitchFamily="34" charset="-122"/>
                <a:cs typeface="Yu Gothic" pitchFamily="34" charset="-120"/>
              </a:rPr>
              <a:t>引合見積回答</a:t>
            </a:r>
            <a:endParaRPr lang="en-US" sz="1450" dirty="0"/>
          </a:p>
        </p:txBody>
      </p:sp>
      <p:sp>
        <p:nvSpPr>
          <p:cNvPr id="39" name="Text 31"/>
          <p:cNvSpPr/>
          <p:nvPr/>
        </p:nvSpPr>
        <p:spPr>
          <a:xfrm>
            <a:off x="8348472" y="5102352"/>
            <a:ext cx="3063240" cy="502920"/>
          </a:xfrm>
          <a:prstGeom prst="rect">
            <a:avLst/>
          </a:prstGeom>
          <a:noFill/>
          <a:ln/>
        </p:spPr>
        <p:txBody>
          <a:bodyPr wrap="square" lIns="0" tIns="0" rIns="0" bIns="0" rtlCol="0" anchor="t"/>
          <a:lstStyle/>
          <a:p>
            <a:pPr indent="0" marL="0">
              <a:lnSpc>
                <a:spcPct val="120000"/>
              </a:lnSpc>
              <a:buNone/>
            </a:pPr>
            <a:r>
              <a:rPr lang="en-US" sz="1050" dirty="0">
                <a:solidFill>
                  <a:srgbClr val="1F2540"/>
                </a:solidFill>
                <a:latin typeface="Yu Gothic" pitchFamily="34" charset="0"/>
                <a:ea typeface="Yu Gothic" pitchFamily="34" charset="-122"/>
                <a:cs typeface="Yu Gothic" pitchFamily="34" charset="-120"/>
              </a:rPr>
              <a:t>原価積算から上長承認・顧客送付まで</a:t>
            </a:r>
            <a:endParaRPr lang="en-US" sz="1050" dirty="0"/>
          </a:p>
        </p:txBody>
      </p:sp>
      <p:sp>
        <p:nvSpPr>
          <p:cNvPr id="40" name="Text 32"/>
          <p:cNvSpPr/>
          <p:nvPr/>
        </p:nvSpPr>
        <p:spPr>
          <a:xfrm>
            <a:off x="548640" y="5989320"/>
            <a:ext cx="11091672" cy="411480"/>
          </a:xfrm>
          <a:prstGeom prst="rect">
            <a:avLst/>
          </a:prstGeom>
          <a:noFill/>
          <a:ln/>
        </p:spPr>
        <p:txBody>
          <a:bodyPr wrap="square" lIns="0" tIns="0" rIns="0" bIns="0" rtlCol="0" anchor="ctr"/>
          <a:lstStyle/>
          <a:p>
            <a:pPr algn="ctr" indent="0" marL="0">
              <a:buNone/>
            </a:pPr>
            <a:r>
              <a:rPr lang="en-US" sz="1250" b="1" dirty="0">
                <a:solidFill>
                  <a:srgbClr val="1E2761"/>
                </a:solidFill>
                <a:latin typeface="Yu Gothic" pitchFamily="34" charset="0"/>
                <a:ea typeface="Yu Gothic" pitchFamily="34" charset="-122"/>
                <a:cs typeface="Yu Gothic" pitchFamily="34" charset="-120"/>
              </a:rPr>
              <a:t>見ていただきたいのは題材の一致ではなく型の一致 ― </a:t>
            </a:r>
            <a:pPr algn="ctr" indent="0" marL="0">
              <a:buNone/>
            </a:pPr>
            <a:r>
              <a:rPr lang="en-US" sz="1250" dirty="0">
                <a:solidFill>
                  <a:srgbClr val="1F2540"/>
                </a:solidFill>
                <a:latin typeface="Yu Gothic" pitchFamily="34" charset="0"/>
                <a:ea typeface="Yu Gothic" pitchFamily="34" charset="-122"/>
                <a:cs typeface="Yu Gothic" pitchFamily="34" charset="-120"/>
              </a:rPr>
              <a:t>「定型的だが人手と帳票に依存している業務」なら、自部門の業務に置き換え可能。</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566928"/>
          </a:xfrm>
          <a:prstGeom prst="rect">
            <a:avLst/>
          </a:prstGeom>
          <a:noFill/>
          <a:ln/>
        </p:spPr>
        <p:txBody>
          <a:bodyPr wrap="square" lIns="0" tIns="0" rIns="0" bIns="0" rtlCol="0" anchor="ctr"/>
          <a:lstStyle/>
          <a:p>
            <a:pPr algn="l" indent="0" marL="0">
              <a:buNone/>
            </a:pPr>
            <a:r>
              <a:rPr lang="en-US" sz="2600" b="1" dirty="0">
                <a:solidFill>
                  <a:srgbClr val="1E2761"/>
                </a:solidFill>
                <a:latin typeface="Yu Gothic" pitchFamily="34" charset="0"/>
                <a:ea typeface="Yu Gothic" pitchFamily="34" charset="-122"/>
                <a:cs typeface="Yu Gothic" pitchFamily="34" charset="-120"/>
              </a:rPr>
              <a:t>導入にあたっての留意点と、ご判断いただきたいこと</a:t>
            </a:r>
            <a:endParaRPr lang="en-US" sz="2600" dirty="0"/>
          </a:p>
        </p:txBody>
      </p:sp>
      <p:sp>
        <p:nvSpPr>
          <p:cNvPr id="3" name="Text 1"/>
          <p:cNvSpPr/>
          <p:nvPr/>
        </p:nvSpPr>
        <p:spPr>
          <a:xfrm>
            <a:off x="548640" y="1143000"/>
            <a:ext cx="5943600" cy="347472"/>
          </a:xfrm>
          <a:prstGeom prst="rect">
            <a:avLst/>
          </a:prstGeom>
          <a:noFill/>
          <a:ln/>
        </p:spPr>
        <p:txBody>
          <a:bodyPr wrap="square" lIns="0" tIns="0" rIns="0" bIns="0" rtlCol="0" anchor="ctr"/>
          <a:lstStyle/>
          <a:p>
            <a:pPr indent="0" marL="0">
              <a:buNone/>
            </a:pPr>
            <a:r>
              <a:rPr lang="en-US" sz="1450" b="1" dirty="0">
                <a:solidFill>
                  <a:srgbClr val="1F2540"/>
                </a:solidFill>
                <a:latin typeface="Yu Gothic" pitchFamily="34" charset="0"/>
                <a:ea typeface="Yu Gothic" pitchFamily="34" charset="-122"/>
                <a:cs typeface="Yu Gothic" pitchFamily="34" charset="-120"/>
              </a:rPr>
              <a:t>留意点(計画書が自ら挙げる検討事項)</a:t>
            </a:r>
            <a:endParaRPr lang="en-US" sz="1450" dirty="0"/>
          </a:p>
        </p:txBody>
      </p:sp>
      <p:sp>
        <p:nvSpPr>
          <p:cNvPr id="4" name="Shape 2"/>
          <p:cNvSpPr/>
          <p:nvPr/>
        </p:nvSpPr>
        <p:spPr>
          <a:xfrm>
            <a:off x="548640" y="1645920"/>
            <a:ext cx="5806440" cy="1371600"/>
          </a:xfrm>
          <a:prstGeom prst="roundRect">
            <a:avLst>
              <a:gd name="adj" fmla="val 5333"/>
            </a:avLst>
          </a:prstGeom>
          <a:solidFill>
            <a:srgbClr val="F5F6F9"/>
          </a:solidFill>
          <a:ln/>
        </p:spPr>
      </p:sp>
      <p:sp>
        <p:nvSpPr>
          <p:cNvPr id="5" name="Shape 3"/>
          <p:cNvSpPr/>
          <p:nvPr/>
        </p:nvSpPr>
        <p:spPr>
          <a:xfrm>
            <a:off x="777240" y="2011680"/>
            <a:ext cx="603504" cy="603504"/>
          </a:xfrm>
          <a:prstGeom prst="ellipse">
            <a:avLst/>
          </a:prstGeom>
          <a:solidFill>
            <a:srgbClr val="FFFFFF"/>
          </a:solidFill>
          <a:ln/>
        </p:spPr>
      </p:sp>
      <p:pic>
        <p:nvPicPr>
          <p:cNvPr id="6" name="Image 0" descr="/home/claude/bpo_summary/icons/clock_gray.png">    </p:cNvPr>
          <p:cNvPicPr>
            <a:picLocks noChangeAspect="1"/>
          </p:cNvPicPr>
          <p:nvPr/>
        </p:nvPicPr>
        <p:blipFill>
          <a:blip r:embed="rId1"/>
          <a:stretch>
            <a:fillRect/>
          </a:stretch>
        </p:blipFill>
        <p:spPr>
          <a:xfrm>
            <a:off x="922081" y="2156521"/>
            <a:ext cx="313822" cy="313822"/>
          </a:xfrm>
          <a:prstGeom prst="rect">
            <a:avLst/>
          </a:prstGeom>
        </p:spPr>
      </p:pic>
      <p:sp>
        <p:nvSpPr>
          <p:cNvPr id="7" name="Text 4"/>
          <p:cNvSpPr/>
          <p:nvPr/>
        </p:nvSpPr>
        <p:spPr>
          <a:xfrm>
            <a:off x="1600200" y="1828800"/>
            <a:ext cx="4572000" cy="347472"/>
          </a:xfrm>
          <a:prstGeom prst="rect">
            <a:avLst/>
          </a:prstGeom>
          <a:noFill/>
          <a:ln/>
        </p:spPr>
        <p:txBody>
          <a:bodyPr wrap="square" lIns="0" tIns="0" rIns="0" bIns="0" rtlCol="0" anchor="ctr"/>
          <a:lstStyle/>
          <a:p>
            <a:pPr indent="0" marL="0">
              <a:buNone/>
            </a:pPr>
            <a:r>
              <a:rPr lang="en-US" sz="1300" b="1" dirty="0">
                <a:solidFill>
                  <a:srgbClr val="1F2540"/>
                </a:solidFill>
                <a:latin typeface="Yu Gothic" pitchFamily="34" charset="0"/>
                <a:ea typeface="Yu Gothic" pitchFamily="34" charset="-122"/>
                <a:cs typeface="Yu Gothic" pitchFamily="34" charset="-120"/>
              </a:rPr>
              <a:t>初期の書き起こし工数</a:t>
            </a:r>
            <a:endParaRPr lang="en-US" sz="1300" dirty="0"/>
          </a:p>
        </p:txBody>
      </p:sp>
      <p:sp>
        <p:nvSpPr>
          <p:cNvPr id="8" name="Text 5"/>
          <p:cNvSpPr/>
          <p:nvPr/>
        </p:nvSpPr>
        <p:spPr>
          <a:xfrm>
            <a:off x="1600200" y="2194560"/>
            <a:ext cx="4526280" cy="731520"/>
          </a:xfrm>
          <a:prstGeom prst="rect">
            <a:avLst/>
          </a:prstGeom>
          <a:noFill/>
          <a:ln/>
        </p:spPr>
        <p:txBody>
          <a:bodyPr wrap="square" lIns="0" tIns="0" rIns="0" bIns="0" rtlCol="0" anchor="t"/>
          <a:lstStyle/>
          <a:p>
            <a:pPr indent="0" marL="0">
              <a:lnSpc>
                <a:spcPct val="122000"/>
              </a:lnSpc>
              <a:buNone/>
            </a:pPr>
            <a:r>
              <a:rPr lang="en-US" sz="1050" dirty="0">
                <a:solidFill>
                  <a:srgbClr val="5B6478"/>
                </a:solidFill>
                <a:latin typeface="Yu Gothic" pitchFamily="34" charset="0"/>
                <a:ea typeface="Yu Gothic" pitchFamily="34" charset="-122"/>
                <a:cs typeface="Yu Gothic" pitchFamily="34" charset="-120"/>
              </a:rPr>
              <a:t>業務のExcel化には現場ヒアリングの人手がかかる。→ 記入方法論とチェックリストで負荷を軽減する設計。</a:t>
            </a:r>
            <a:endParaRPr lang="en-US" sz="1050" dirty="0"/>
          </a:p>
        </p:txBody>
      </p:sp>
      <p:sp>
        <p:nvSpPr>
          <p:cNvPr id="9" name="Shape 6"/>
          <p:cNvSpPr/>
          <p:nvPr/>
        </p:nvSpPr>
        <p:spPr>
          <a:xfrm>
            <a:off x="548640" y="3182112"/>
            <a:ext cx="5806440" cy="1371600"/>
          </a:xfrm>
          <a:prstGeom prst="roundRect">
            <a:avLst>
              <a:gd name="adj" fmla="val 5333"/>
            </a:avLst>
          </a:prstGeom>
          <a:solidFill>
            <a:srgbClr val="F5F6F9"/>
          </a:solidFill>
          <a:ln/>
        </p:spPr>
      </p:sp>
      <p:sp>
        <p:nvSpPr>
          <p:cNvPr id="10" name="Shape 7"/>
          <p:cNvSpPr/>
          <p:nvPr/>
        </p:nvSpPr>
        <p:spPr>
          <a:xfrm>
            <a:off x="777240" y="3547872"/>
            <a:ext cx="603504" cy="603504"/>
          </a:xfrm>
          <a:prstGeom prst="ellipse">
            <a:avLst/>
          </a:prstGeom>
          <a:solidFill>
            <a:srgbClr val="FFFFFF"/>
          </a:solidFill>
          <a:ln/>
        </p:spPr>
      </p:sp>
      <p:pic>
        <p:nvPicPr>
          <p:cNvPr id="11" name="Image 1" descr="/home/claude/bpo_summary/icons/gauge_gray.png">    </p:cNvPr>
          <p:cNvPicPr>
            <a:picLocks noChangeAspect="1"/>
          </p:cNvPicPr>
          <p:nvPr/>
        </p:nvPicPr>
        <p:blipFill>
          <a:blip r:embed="rId2"/>
          <a:stretch>
            <a:fillRect/>
          </a:stretch>
        </p:blipFill>
        <p:spPr>
          <a:xfrm>
            <a:off x="922081" y="3692713"/>
            <a:ext cx="313822" cy="313822"/>
          </a:xfrm>
          <a:prstGeom prst="rect">
            <a:avLst/>
          </a:prstGeom>
        </p:spPr>
      </p:pic>
      <p:sp>
        <p:nvSpPr>
          <p:cNvPr id="12" name="Text 8"/>
          <p:cNvSpPr/>
          <p:nvPr/>
        </p:nvSpPr>
        <p:spPr>
          <a:xfrm>
            <a:off x="1600200" y="3364992"/>
            <a:ext cx="4572000" cy="347472"/>
          </a:xfrm>
          <a:prstGeom prst="rect">
            <a:avLst/>
          </a:prstGeom>
          <a:noFill/>
          <a:ln/>
        </p:spPr>
        <p:txBody>
          <a:bodyPr wrap="square" lIns="0" tIns="0" rIns="0" bIns="0" rtlCol="0" anchor="ctr"/>
          <a:lstStyle/>
          <a:p>
            <a:pPr indent="0" marL="0">
              <a:buNone/>
            </a:pPr>
            <a:r>
              <a:rPr lang="en-US" sz="1300" b="1" dirty="0">
                <a:solidFill>
                  <a:srgbClr val="1F2540"/>
                </a:solidFill>
                <a:latin typeface="Yu Gothic" pitchFamily="34" charset="0"/>
                <a:ea typeface="Yu Gothic" pitchFamily="34" charset="-122"/>
                <a:cs typeface="Yu Gothic" pitchFamily="34" charset="-120"/>
              </a:rPr>
              <a:t>精度は記載の質に依存</a:t>
            </a:r>
            <a:endParaRPr lang="en-US" sz="1300" dirty="0"/>
          </a:p>
        </p:txBody>
      </p:sp>
      <p:sp>
        <p:nvSpPr>
          <p:cNvPr id="13" name="Text 9"/>
          <p:cNvSpPr/>
          <p:nvPr/>
        </p:nvSpPr>
        <p:spPr>
          <a:xfrm>
            <a:off x="1600200" y="3730752"/>
            <a:ext cx="4526280" cy="731520"/>
          </a:xfrm>
          <a:prstGeom prst="rect">
            <a:avLst/>
          </a:prstGeom>
          <a:noFill/>
          <a:ln/>
        </p:spPr>
        <p:txBody>
          <a:bodyPr wrap="square" lIns="0" tIns="0" rIns="0" bIns="0" rtlCol="0" anchor="t"/>
          <a:lstStyle/>
          <a:p>
            <a:pPr indent="0" marL="0">
              <a:lnSpc>
                <a:spcPct val="122000"/>
              </a:lnSpc>
              <a:buNone/>
            </a:pPr>
            <a:r>
              <a:rPr lang="en-US" sz="1050" dirty="0">
                <a:solidFill>
                  <a:srgbClr val="5B6478"/>
                </a:solidFill>
                <a:latin typeface="Yu Gothic" pitchFamily="34" charset="0"/>
                <a:ea typeface="Yu Gothic" pitchFamily="34" charset="-122"/>
                <a:cs typeface="Yu Gothic" pitchFamily="34" charset="-120"/>
              </a:rPr>
              <a:t>記載が粗いと変換後の精度にばらつきが出る。→ 曖昧な記載への自動警告で入口から検知。</a:t>
            </a:r>
            <a:endParaRPr lang="en-US" sz="1050" dirty="0"/>
          </a:p>
        </p:txBody>
      </p:sp>
      <p:sp>
        <p:nvSpPr>
          <p:cNvPr id="14" name="Shape 10"/>
          <p:cNvSpPr/>
          <p:nvPr/>
        </p:nvSpPr>
        <p:spPr>
          <a:xfrm>
            <a:off x="548640" y="4718304"/>
            <a:ext cx="5806440" cy="1371600"/>
          </a:xfrm>
          <a:prstGeom prst="roundRect">
            <a:avLst>
              <a:gd name="adj" fmla="val 5333"/>
            </a:avLst>
          </a:prstGeom>
          <a:solidFill>
            <a:srgbClr val="F5F6F9"/>
          </a:solidFill>
          <a:ln/>
        </p:spPr>
      </p:sp>
      <p:sp>
        <p:nvSpPr>
          <p:cNvPr id="15" name="Shape 11"/>
          <p:cNvSpPr/>
          <p:nvPr/>
        </p:nvSpPr>
        <p:spPr>
          <a:xfrm>
            <a:off x="777240" y="5084064"/>
            <a:ext cx="603504" cy="603504"/>
          </a:xfrm>
          <a:prstGeom prst="ellipse">
            <a:avLst/>
          </a:prstGeom>
          <a:solidFill>
            <a:srgbClr val="FFFFFF"/>
          </a:solidFill>
          <a:ln/>
        </p:spPr>
      </p:sp>
      <p:pic>
        <p:nvPicPr>
          <p:cNvPr id="16" name="Image 2" descr="/home/claude/bpo_summary/icons/sliders_gray.png">    </p:cNvPr>
          <p:cNvPicPr>
            <a:picLocks noChangeAspect="1"/>
          </p:cNvPicPr>
          <p:nvPr/>
        </p:nvPicPr>
        <p:blipFill>
          <a:blip r:embed="rId3"/>
          <a:stretch>
            <a:fillRect/>
          </a:stretch>
        </p:blipFill>
        <p:spPr>
          <a:xfrm>
            <a:off x="922081" y="5228905"/>
            <a:ext cx="313822" cy="313822"/>
          </a:xfrm>
          <a:prstGeom prst="rect">
            <a:avLst/>
          </a:prstGeom>
        </p:spPr>
      </p:pic>
      <p:sp>
        <p:nvSpPr>
          <p:cNvPr id="17" name="Text 12"/>
          <p:cNvSpPr/>
          <p:nvPr/>
        </p:nvSpPr>
        <p:spPr>
          <a:xfrm>
            <a:off x="1600200" y="4901184"/>
            <a:ext cx="4572000" cy="347472"/>
          </a:xfrm>
          <a:prstGeom prst="rect">
            <a:avLst/>
          </a:prstGeom>
          <a:noFill/>
          <a:ln/>
        </p:spPr>
        <p:txBody>
          <a:bodyPr wrap="square" lIns="0" tIns="0" rIns="0" bIns="0" rtlCol="0" anchor="ctr"/>
          <a:lstStyle/>
          <a:p>
            <a:pPr indent="0" marL="0">
              <a:buNone/>
            </a:pPr>
            <a:r>
              <a:rPr lang="en-US" sz="1300" b="1" dirty="0">
                <a:solidFill>
                  <a:srgbClr val="1F2540"/>
                </a:solidFill>
                <a:latin typeface="Yu Gothic" pitchFamily="34" charset="0"/>
                <a:ea typeface="Yu Gothic" pitchFamily="34" charset="-122"/>
                <a:cs typeface="Yu Gothic" pitchFamily="34" charset="-120"/>
              </a:rPr>
              <a:t>複雑な業務は個別調整</a:t>
            </a:r>
            <a:endParaRPr lang="en-US" sz="1300" dirty="0"/>
          </a:p>
        </p:txBody>
      </p:sp>
      <p:sp>
        <p:nvSpPr>
          <p:cNvPr id="18" name="Text 13"/>
          <p:cNvSpPr/>
          <p:nvPr/>
        </p:nvSpPr>
        <p:spPr>
          <a:xfrm>
            <a:off x="1600200" y="5266944"/>
            <a:ext cx="4526280" cy="731520"/>
          </a:xfrm>
          <a:prstGeom prst="rect">
            <a:avLst/>
          </a:prstGeom>
          <a:noFill/>
          <a:ln/>
        </p:spPr>
        <p:txBody>
          <a:bodyPr wrap="square" lIns="0" tIns="0" rIns="0" bIns="0" rtlCol="0" anchor="t"/>
          <a:lstStyle/>
          <a:p>
            <a:pPr indent="0" marL="0">
              <a:lnSpc>
                <a:spcPct val="122000"/>
              </a:lnSpc>
              <a:buNone/>
            </a:pPr>
            <a:r>
              <a:rPr lang="en-US" sz="1050" dirty="0">
                <a:solidFill>
                  <a:srgbClr val="5B6478"/>
                </a:solidFill>
                <a:latin typeface="Yu Gothic" pitchFamily="34" charset="0"/>
                <a:ea typeface="Yu Gothic" pitchFamily="34" charset="-122"/>
                <a:cs typeface="Yu Gothic" pitchFamily="34" charset="-120"/>
              </a:rPr>
              <a:t>高度に複雑なプロセスでは、最適化ロジックの個別調整が必要になり得る。</a:t>
            </a:r>
            <a:endParaRPr lang="en-US" sz="1050" dirty="0"/>
          </a:p>
        </p:txBody>
      </p:sp>
      <p:sp>
        <p:nvSpPr>
          <p:cNvPr id="19" name="Shape 14"/>
          <p:cNvSpPr/>
          <p:nvPr/>
        </p:nvSpPr>
        <p:spPr>
          <a:xfrm>
            <a:off x="6629400" y="1143000"/>
            <a:ext cx="5010912" cy="4892040"/>
          </a:xfrm>
          <a:prstGeom prst="roundRect">
            <a:avLst>
              <a:gd name="adj" fmla="val 1869"/>
            </a:avLst>
          </a:prstGeom>
          <a:solidFill>
            <a:srgbClr val="1E2761"/>
          </a:solidFill>
          <a:ln/>
        </p:spPr>
      </p:sp>
      <p:sp>
        <p:nvSpPr>
          <p:cNvPr id="20" name="Text 15"/>
          <p:cNvSpPr/>
          <p:nvPr/>
        </p:nvSpPr>
        <p:spPr>
          <a:xfrm>
            <a:off x="6949440" y="1371600"/>
            <a:ext cx="4389120" cy="411480"/>
          </a:xfrm>
          <a:prstGeom prst="rect">
            <a:avLst/>
          </a:prstGeom>
          <a:noFill/>
          <a:ln/>
        </p:spPr>
        <p:txBody>
          <a:bodyPr wrap="square" lIns="0" tIns="0" rIns="0" bIns="0" rtlCol="0" anchor="ctr"/>
          <a:lstStyle/>
          <a:p>
            <a:pPr indent="0" marL="0">
              <a:buNone/>
            </a:pPr>
            <a:r>
              <a:rPr lang="en-US" sz="1500" b="1" dirty="0">
                <a:solidFill>
                  <a:srgbClr val="FFFFFF"/>
                </a:solidFill>
                <a:latin typeface="Yu Gothic" pitchFamily="34" charset="0"/>
                <a:ea typeface="Yu Gothic" pitchFamily="34" charset="-122"/>
                <a:cs typeface="Yu Gothic" pitchFamily="34" charset="-120"/>
              </a:rPr>
              <a:t>経営・部門長への依頼(2点)</a:t>
            </a:r>
            <a:endParaRPr lang="en-US" sz="1500" dirty="0"/>
          </a:p>
        </p:txBody>
      </p:sp>
      <p:sp>
        <p:nvSpPr>
          <p:cNvPr id="21" name="Shape 16"/>
          <p:cNvSpPr/>
          <p:nvPr/>
        </p:nvSpPr>
        <p:spPr>
          <a:xfrm>
            <a:off x="6949440" y="1965960"/>
            <a:ext cx="548640" cy="548640"/>
          </a:xfrm>
          <a:prstGeom prst="ellipse">
            <a:avLst/>
          </a:prstGeom>
          <a:solidFill>
            <a:srgbClr val="0E8C7F"/>
          </a:solidFill>
          <a:ln/>
        </p:spPr>
      </p:sp>
      <p:pic>
        <p:nvPicPr>
          <p:cNvPr id="22" name="Image 3" descr="/home/claude/bpo_summary/icons/scale_white.png">    </p:cNvPr>
          <p:cNvPicPr>
            <a:picLocks noChangeAspect="1"/>
          </p:cNvPicPr>
          <p:nvPr/>
        </p:nvPicPr>
        <p:blipFill>
          <a:blip r:embed="rId4"/>
          <a:stretch>
            <a:fillRect/>
          </a:stretch>
        </p:blipFill>
        <p:spPr>
          <a:xfrm>
            <a:off x="7081114" y="2097634"/>
            <a:ext cx="285293" cy="285293"/>
          </a:xfrm>
          <a:prstGeom prst="rect">
            <a:avLst/>
          </a:prstGeom>
        </p:spPr>
      </p:pic>
      <p:sp>
        <p:nvSpPr>
          <p:cNvPr id="23" name="Text 17"/>
          <p:cNvSpPr/>
          <p:nvPr/>
        </p:nvSpPr>
        <p:spPr>
          <a:xfrm>
            <a:off x="7680960" y="2057400"/>
            <a:ext cx="3840480" cy="365760"/>
          </a:xfrm>
          <a:prstGeom prst="rect">
            <a:avLst/>
          </a:prstGeom>
          <a:noFill/>
          <a:ln/>
        </p:spPr>
        <p:txBody>
          <a:bodyPr wrap="square" lIns="0" tIns="0" rIns="0" bIns="0" rtlCol="0" anchor="ctr"/>
          <a:lstStyle/>
          <a:p>
            <a:pPr indent="0" marL="0">
              <a:buNone/>
            </a:pPr>
            <a:r>
              <a:rPr lang="en-US" sz="1350" b="1" dirty="0">
                <a:solidFill>
                  <a:srgbClr val="FFFFFF"/>
                </a:solidFill>
                <a:latin typeface="Yu Gothic" pitchFamily="34" charset="0"/>
                <a:ea typeface="Yu Gothic" pitchFamily="34" charset="-122"/>
                <a:cs typeface="Yu Gothic" pitchFamily="34" charset="-120"/>
              </a:rPr>
              <a:t>① AIに任せる範囲の基準設定</a:t>
            </a:r>
            <a:endParaRPr lang="en-US" sz="1350" dirty="0"/>
          </a:p>
        </p:txBody>
      </p:sp>
      <p:sp>
        <p:nvSpPr>
          <p:cNvPr id="24" name="Text 18"/>
          <p:cNvSpPr/>
          <p:nvPr/>
        </p:nvSpPr>
        <p:spPr>
          <a:xfrm>
            <a:off x="7680960" y="2450592"/>
            <a:ext cx="3749040" cy="1463040"/>
          </a:xfrm>
          <a:prstGeom prst="rect">
            <a:avLst/>
          </a:prstGeom>
          <a:noFill/>
          <a:ln/>
        </p:spPr>
        <p:txBody>
          <a:bodyPr wrap="square" lIns="0" tIns="0" rIns="0" bIns="0" rtlCol="0" anchor="t"/>
          <a:lstStyle/>
          <a:p>
            <a:pPr indent="0" marL="0">
              <a:lnSpc>
                <a:spcPct val="128000"/>
              </a:lnSpc>
              <a:buNone/>
            </a:pPr>
            <a:r>
              <a:rPr lang="en-US" sz="1050" dirty="0">
                <a:solidFill>
                  <a:srgbClr val="CADCFC"/>
                </a:solidFill>
                <a:latin typeface="Yu Gothic" pitchFamily="34" charset="0"/>
                <a:ea typeface="Yu Gothic" pitchFamily="34" charset="-122"/>
                <a:cs typeface="Yu Gothic" pitchFamily="34" charset="-120"/>
              </a:rPr>
              <a:t>「一定金額未満の判定の自動化」「顧客向け文書の自動送付」等の可否を、社内の権限規程と整合する形でご提示ください。</a:t>
            </a:r>
            <a:endParaRPr lang="en-US" sz="1050" dirty="0"/>
          </a:p>
          <a:p>
            <a:pPr indent="0" marL="0">
              <a:lnSpc>
                <a:spcPct val="128000"/>
              </a:lnSpc>
              <a:buNone/>
            </a:pPr>
            <a:r>
              <a:rPr lang="en-US" sz="1050" dirty="0">
                <a:solidFill>
                  <a:srgbClr val="CADCFC"/>
                </a:solidFill>
                <a:latin typeface="Yu Gothic" pitchFamily="34" charset="0"/>
                <a:ea typeface="Yu Gothic" pitchFamily="34" charset="-122"/>
                <a:cs typeface="Yu Gothic" pitchFamily="34" charset="-120"/>
              </a:rPr>
              <a:t>※ 基準が示されるまでは安全側(承認・決裁・対外約束・現物作業はすべて人)で設計します。</a:t>
            </a:r>
            <a:endParaRPr lang="en-US" sz="1050" dirty="0"/>
          </a:p>
        </p:txBody>
      </p:sp>
      <p:sp>
        <p:nvSpPr>
          <p:cNvPr id="25" name="Shape 19"/>
          <p:cNvSpPr/>
          <p:nvPr/>
        </p:nvSpPr>
        <p:spPr>
          <a:xfrm>
            <a:off x="6949440" y="4114800"/>
            <a:ext cx="548640" cy="548640"/>
          </a:xfrm>
          <a:prstGeom prst="ellipse">
            <a:avLst/>
          </a:prstGeom>
          <a:solidFill>
            <a:srgbClr val="0E8C7F"/>
          </a:solidFill>
          <a:ln/>
        </p:spPr>
      </p:sp>
      <p:pic>
        <p:nvPicPr>
          <p:cNvPr id="26" name="Image 4" descr="/home/claude/bpo_summary/icons/target_white.png">    </p:cNvPr>
          <p:cNvPicPr>
            <a:picLocks noChangeAspect="1"/>
          </p:cNvPicPr>
          <p:nvPr/>
        </p:nvPicPr>
        <p:blipFill>
          <a:blip r:embed="rId5"/>
          <a:stretch>
            <a:fillRect/>
          </a:stretch>
        </p:blipFill>
        <p:spPr>
          <a:xfrm>
            <a:off x="7081114" y="4246474"/>
            <a:ext cx="285293" cy="285293"/>
          </a:xfrm>
          <a:prstGeom prst="rect">
            <a:avLst/>
          </a:prstGeom>
        </p:spPr>
      </p:pic>
      <p:sp>
        <p:nvSpPr>
          <p:cNvPr id="27" name="Text 20"/>
          <p:cNvSpPr/>
          <p:nvPr/>
        </p:nvSpPr>
        <p:spPr>
          <a:xfrm>
            <a:off x="7680960" y="4206240"/>
            <a:ext cx="3840480" cy="365760"/>
          </a:xfrm>
          <a:prstGeom prst="rect">
            <a:avLst/>
          </a:prstGeom>
          <a:noFill/>
          <a:ln/>
        </p:spPr>
        <p:txBody>
          <a:bodyPr wrap="square" lIns="0" tIns="0" rIns="0" bIns="0" rtlCol="0" anchor="ctr"/>
          <a:lstStyle/>
          <a:p>
            <a:pPr indent="0" marL="0">
              <a:buNone/>
            </a:pPr>
            <a:r>
              <a:rPr lang="en-US" sz="1350" b="1" dirty="0">
                <a:solidFill>
                  <a:srgbClr val="FFFFFF"/>
                </a:solidFill>
                <a:latin typeface="Yu Gothic" pitchFamily="34" charset="0"/>
                <a:ea typeface="Yu Gothic" pitchFamily="34" charset="-122"/>
                <a:cs typeface="Yu Gothic" pitchFamily="34" charset="-120"/>
              </a:rPr>
              <a:t>② 先行適用業務の選定</a:t>
            </a:r>
            <a:endParaRPr lang="en-US" sz="1350" dirty="0"/>
          </a:p>
        </p:txBody>
      </p:sp>
      <p:sp>
        <p:nvSpPr>
          <p:cNvPr id="28" name="Text 21"/>
          <p:cNvSpPr/>
          <p:nvPr/>
        </p:nvSpPr>
        <p:spPr>
          <a:xfrm>
            <a:off x="7680960" y="4599432"/>
            <a:ext cx="3749040" cy="1097280"/>
          </a:xfrm>
          <a:prstGeom prst="rect">
            <a:avLst/>
          </a:prstGeom>
          <a:noFill/>
          <a:ln/>
        </p:spPr>
        <p:txBody>
          <a:bodyPr wrap="square" lIns="0" tIns="0" rIns="0" bIns="0" rtlCol="0" anchor="t"/>
          <a:lstStyle/>
          <a:p>
            <a:pPr indent="0" marL="0">
              <a:lnSpc>
                <a:spcPct val="128000"/>
              </a:lnSpc>
              <a:buNone/>
            </a:pPr>
            <a:r>
              <a:rPr lang="en-US" sz="1050" dirty="0">
                <a:solidFill>
                  <a:srgbClr val="CADCFC"/>
                </a:solidFill>
                <a:latin typeface="Yu Gothic" pitchFamily="34" charset="0"/>
                <a:ea typeface="Yu Gothic" pitchFamily="34" charset="-122"/>
                <a:cs typeface="Yu Gothic" pitchFamily="34" charset="-120"/>
              </a:rPr>
              <a:t>手順が定型的で、帳票・判断基準が明確な業務から、各部門でパイロット候補の指名をお願いします。</a:t>
            </a:r>
            <a:endParaRPr lang="en-US" sz="1050" dirty="0"/>
          </a:p>
        </p:txBody>
      </p:sp>
      <p:sp>
        <p:nvSpPr>
          <p:cNvPr id="29" name="Text 22"/>
          <p:cNvSpPr/>
          <p:nvPr/>
        </p:nvSpPr>
        <p:spPr>
          <a:xfrm>
            <a:off x="6629400" y="6217920"/>
            <a:ext cx="5010912" cy="320040"/>
          </a:xfrm>
          <a:prstGeom prst="rect">
            <a:avLst/>
          </a:prstGeom>
          <a:noFill/>
          <a:ln/>
        </p:spPr>
        <p:txBody>
          <a:bodyPr wrap="square" lIns="0" tIns="0" rIns="0" bIns="0" rtlCol="0" anchor="ctr"/>
          <a:lstStyle/>
          <a:p>
            <a:pPr indent="0" marL="0">
              <a:buNone/>
            </a:pPr>
            <a:r>
              <a:rPr lang="en-US" sz="1100" i="1" dirty="0">
                <a:solidFill>
                  <a:srgbClr val="5B6478"/>
                </a:solidFill>
                <a:latin typeface="Yu Gothic" pitchFamily="34" charset="0"/>
                <a:ea typeface="Yu Gothic" pitchFamily="34" charset="-122"/>
                <a:cs typeface="Yu Gothic" pitchFamily="34" charset="-120"/>
              </a:rPr>
              <a:t>この2点は技術課題ではなく、組織の意思決定事項です。</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pic>
        <p:nvPicPr>
          <p:cNvPr id="2" name="Image 0" descr="/home/claude/bpo_summary/icons/workflow_ice.png">    </p:cNvPr>
          <p:cNvPicPr>
            <a:picLocks noChangeAspect="1"/>
          </p:cNvPicPr>
          <p:nvPr/>
        </p:nvPicPr>
        <p:blipFill>
          <a:blip r:embed="rId1">
            <a:alphaModFix amt="10000"/>
          </a:blip>
          <a:stretch>
            <a:fillRect/>
          </a:stretch>
        </p:blipFill>
        <p:spPr>
          <a:xfrm>
            <a:off x="8778240" y="3566160"/>
            <a:ext cx="3108960" cy="3108960"/>
          </a:xfrm>
          <a:prstGeom prst="rect">
            <a:avLst/>
          </a:prstGeom>
        </p:spPr>
      </p:pic>
      <p:sp>
        <p:nvSpPr>
          <p:cNvPr id="3" name="Text 0"/>
          <p:cNvSpPr/>
          <p:nvPr/>
        </p:nvSpPr>
        <p:spPr>
          <a:xfrm>
            <a:off x="822960" y="777240"/>
            <a:ext cx="7315200" cy="411480"/>
          </a:xfrm>
          <a:prstGeom prst="rect">
            <a:avLst/>
          </a:prstGeom>
          <a:noFill/>
          <a:ln/>
        </p:spPr>
        <p:txBody>
          <a:bodyPr wrap="square" lIns="0" tIns="0" rIns="0" bIns="0" rtlCol="0" anchor="ctr"/>
          <a:lstStyle/>
          <a:p>
            <a:pPr indent="0" marL="0">
              <a:buNone/>
            </a:pPr>
            <a:r>
              <a:rPr lang="en-US" sz="1500" dirty="0">
                <a:solidFill>
                  <a:srgbClr val="CADCFC"/>
                </a:solidFill>
                <a:latin typeface="Yu Gothic" pitchFamily="34" charset="0"/>
                <a:ea typeface="Yu Gothic" pitchFamily="34" charset="-122"/>
                <a:cs typeface="Yu Gothic" pitchFamily="34" charset="-120"/>
              </a:rPr>
              <a:t>本ツールが目指す姿</a:t>
            </a:r>
            <a:endParaRPr lang="en-US" sz="1500" dirty="0"/>
          </a:p>
        </p:txBody>
      </p:sp>
      <p:sp>
        <p:nvSpPr>
          <p:cNvPr id="4" name="Text 1"/>
          <p:cNvSpPr/>
          <p:nvPr/>
        </p:nvSpPr>
        <p:spPr>
          <a:xfrm>
            <a:off x="822960" y="1325880"/>
            <a:ext cx="10515600" cy="1554480"/>
          </a:xfrm>
          <a:prstGeom prst="rect">
            <a:avLst/>
          </a:prstGeom>
          <a:noFill/>
          <a:ln/>
        </p:spPr>
        <p:txBody>
          <a:bodyPr wrap="square" lIns="0" tIns="0" rIns="0" bIns="0" rtlCol="0" anchor="ctr"/>
          <a:lstStyle/>
          <a:p>
            <a:pPr indent="0" marL="0">
              <a:lnSpc>
                <a:spcPct val="125000"/>
              </a:lnSpc>
              <a:buNone/>
            </a:pPr>
            <a:r>
              <a:rPr lang="en-US" sz="3200" b="1" dirty="0">
                <a:solidFill>
                  <a:srgbClr val="FFFFFF"/>
                </a:solidFill>
                <a:latin typeface="Yu Gothic" pitchFamily="34" charset="0"/>
                <a:ea typeface="Yu Gothic" pitchFamily="34" charset="-122"/>
                <a:cs typeface="Yu Gothic" pitchFamily="34" charset="-120"/>
              </a:rPr>
              <a:t>業務の知見を、失われない</a:t>
            </a:r>
            <a:endParaRPr lang="en-US" sz="3200" dirty="0"/>
          </a:p>
          <a:p>
            <a:pPr indent="0" marL="0">
              <a:lnSpc>
                <a:spcPct val="125000"/>
              </a:lnSpc>
              <a:buNone/>
            </a:pPr>
            <a:r>
              <a:rPr lang="en-US" sz="3200" b="1" dirty="0">
                <a:solidFill>
                  <a:srgbClr val="FFFFFF"/>
                </a:solidFill>
                <a:latin typeface="Yu Gothic" pitchFamily="34" charset="0"/>
                <a:ea typeface="Yu Gothic" pitchFamily="34" charset="-122"/>
                <a:cs typeface="Yu Gothic" pitchFamily="34" charset="-120"/>
              </a:rPr>
              <a:t>「実行可能な資産」へ。</a:t>
            </a:r>
            <a:endParaRPr lang="en-US" sz="3200" dirty="0"/>
          </a:p>
        </p:txBody>
      </p:sp>
      <p:sp>
        <p:nvSpPr>
          <p:cNvPr id="5" name="Shape 2"/>
          <p:cNvSpPr/>
          <p:nvPr/>
        </p:nvSpPr>
        <p:spPr>
          <a:xfrm>
            <a:off x="822960" y="3063240"/>
            <a:ext cx="3566160" cy="548640"/>
          </a:xfrm>
          <a:prstGeom prst="roundRect">
            <a:avLst>
              <a:gd name="adj" fmla="val 13333"/>
            </a:avLst>
          </a:prstGeom>
          <a:solidFill>
            <a:srgbClr val="161D4A"/>
          </a:solidFill>
          <a:ln w="12700">
            <a:solidFill>
              <a:srgbClr val="39437E"/>
            </a:solidFill>
            <a:prstDash val="solid"/>
          </a:ln>
        </p:spPr>
      </p:sp>
      <p:sp>
        <p:nvSpPr>
          <p:cNvPr id="6" name="Text 3"/>
          <p:cNvSpPr/>
          <p:nvPr/>
        </p:nvSpPr>
        <p:spPr>
          <a:xfrm>
            <a:off x="960120" y="3063240"/>
            <a:ext cx="3291840" cy="548640"/>
          </a:xfrm>
          <a:prstGeom prst="rect">
            <a:avLst/>
          </a:prstGeom>
          <a:noFill/>
          <a:ln/>
        </p:spPr>
        <p:txBody>
          <a:bodyPr wrap="square" lIns="0" tIns="0" rIns="0" bIns="0" rtlCol="0" anchor="ctr"/>
          <a:lstStyle/>
          <a:p>
            <a:pPr indent="0" marL="0">
              <a:buNone/>
            </a:pPr>
            <a:r>
              <a:rPr lang="en-US" sz="1250" dirty="0">
                <a:solidFill>
                  <a:srgbClr val="CADCFC"/>
                </a:solidFill>
                <a:latin typeface="Yu Gothic" pitchFamily="34" charset="0"/>
                <a:ea typeface="Yu Gothic" pitchFamily="34" charset="-122"/>
                <a:cs typeface="Yu Gothic" pitchFamily="34" charset="-120"/>
              </a:rPr>
              <a:t>属人化した手順</a:t>
            </a:r>
            <a:endParaRPr lang="en-US" sz="1250" dirty="0"/>
          </a:p>
        </p:txBody>
      </p:sp>
      <p:sp>
        <p:nvSpPr>
          <p:cNvPr id="7" name="Shape 4"/>
          <p:cNvSpPr/>
          <p:nvPr/>
        </p:nvSpPr>
        <p:spPr>
          <a:xfrm>
            <a:off x="4526280" y="3209544"/>
            <a:ext cx="310896" cy="256032"/>
          </a:xfrm>
          <a:prstGeom prst="rightArrow">
            <a:avLst/>
          </a:prstGeom>
          <a:solidFill>
            <a:srgbClr val="0E8C7F"/>
          </a:solidFill>
          <a:ln/>
        </p:spPr>
      </p:sp>
      <p:sp>
        <p:nvSpPr>
          <p:cNvPr id="8" name="Shape 5"/>
          <p:cNvSpPr/>
          <p:nvPr/>
        </p:nvSpPr>
        <p:spPr>
          <a:xfrm>
            <a:off x="4983480" y="3063240"/>
            <a:ext cx="5257800" cy="548640"/>
          </a:xfrm>
          <a:prstGeom prst="roundRect">
            <a:avLst>
              <a:gd name="adj" fmla="val 13333"/>
            </a:avLst>
          </a:prstGeom>
          <a:solidFill>
            <a:srgbClr val="FFFFFF"/>
          </a:solidFill>
          <a:ln/>
        </p:spPr>
      </p:sp>
      <p:sp>
        <p:nvSpPr>
          <p:cNvPr id="9" name="Text 6"/>
          <p:cNvSpPr/>
          <p:nvPr/>
        </p:nvSpPr>
        <p:spPr>
          <a:xfrm>
            <a:off x="5120640" y="3063240"/>
            <a:ext cx="4983480" cy="548640"/>
          </a:xfrm>
          <a:prstGeom prst="rect">
            <a:avLst/>
          </a:prstGeom>
          <a:noFill/>
          <a:ln/>
        </p:spPr>
        <p:txBody>
          <a:bodyPr wrap="square" lIns="0" tIns="0" rIns="0" bIns="0" rtlCol="0" anchor="ctr"/>
          <a:lstStyle/>
          <a:p>
            <a:pPr indent="0" marL="0">
              <a:buNone/>
            </a:pPr>
            <a:r>
              <a:rPr lang="en-US" sz="1250" b="1" dirty="0">
                <a:solidFill>
                  <a:srgbClr val="1E2761"/>
                </a:solidFill>
                <a:latin typeface="Yu Gothic" pitchFamily="34" charset="0"/>
                <a:ea typeface="Yu Gothic" pitchFamily="34" charset="-122"/>
                <a:cs typeface="Yu Gothic" pitchFamily="34" charset="-120"/>
              </a:rPr>
              <a:t>形式知化された標準</a:t>
            </a:r>
            <a:endParaRPr lang="en-US" sz="1250" dirty="0"/>
          </a:p>
        </p:txBody>
      </p:sp>
      <p:sp>
        <p:nvSpPr>
          <p:cNvPr id="10" name="Shape 7"/>
          <p:cNvSpPr/>
          <p:nvPr/>
        </p:nvSpPr>
        <p:spPr>
          <a:xfrm>
            <a:off x="822960" y="3785616"/>
            <a:ext cx="3566160" cy="548640"/>
          </a:xfrm>
          <a:prstGeom prst="roundRect">
            <a:avLst>
              <a:gd name="adj" fmla="val 13333"/>
            </a:avLst>
          </a:prstGeom>
          <a:solidFill>
            <a:srgbClr val="161D4A"/>
          </a:solidFill>
          <a:ln w="12700">
            <a:solidFill>
              <a:srgbClr val="39437E"/>
            </a:solidFill>
            <a:prstDash val="solid"/>
          </a:ln>
        </p:spPr>
      </p:sp>
      <p:sp>
        <p:nvSpPr>
          <p:cNvPr id="11" name="Text 8"/>
          <p:cNvSpPr/>
          <p:nvPr/>
        </p:nvSpPr>
        <p:spPr>
          <a:xfrm>
            <a:off x="960120" y="3785616"/>
            <a:ext cx="3291840" cy="548640"/>
          </a:xfrm>
          <a:prstGeom prst="rect">
            <a:avLst/>
          </a:prstGeom>
          <a:noFill/>
          <a:ln/>
        </p:spPr>
        <p:txBody>
          <a:bodyPr wrap="square" lIns="0" tIns="0" rIns="0" bIns="0" rtlCol="0" anchor="ctr"/>
          <a:lstStyle/>
          <a:p>
            <a:pPr indent="0" marL="0">
              <a:buNone/>
            </a:pPr>
            <a:r>
              <a:rPr lang="en-US" sz="1250" dirty="0">
                <a:solidFill>
                  <a:srgbClr val="CADCFC"/>
                </a:solidFill>
                <a:latin typeface="Yu Gothic" pitchFamily="34" charset="0"/>
                <a:ea typeface="Yu Gothic" pitchFamily="34" charset="-122"/>
                <a:cs typeface="Yu Gothic" pitchFamily="34" charset="-120"/>
              </a:rPr>
              <a:t>人がすべての作業を実施</a:t>
            </a:r>
            <a:endParaRPr lang="en-US" sz="1250" dirty="0"/>
          </a:p>
        </p:txBody>
      </p:sp>
      <p:sp>
        <p:nvSpPr>
          <p:cNvPr id="12" name="Shape 9"/>
          <p:cNvSpPr/>
          <p:nvPr/>
        </p:nvSpPr>
        <p:spPr>
          <a:xfrm>
            <a:off x="4526280" y="3931920"/>
            <a:ext cx="310896" cy="256032"/>
          </a:xfrm>
          <a:prstGeom prst="rightArrow">
            <a:avLst/>
          </a:prstGeom>
          <a:solidFill>
            <a:srgbClr val="0E8C7F"/>
          </a:solidFill>
          <a:ln/>
        </p:spPr>
      </p:sp>
      <p:sp>
        <p:nvSpPr>
          <p:cNvPr id="13" name="Shape 10"/>
          <p:cNvSpPr/>
          <p:nvPr/>
        </p:nvSpPr>
        <p:spPr>
          <a:xfrm>
            <a:off x="4983480" y="3785616"/>
            <a:ext cx="5257800" cy="548640"/>
          </a:xfrm>
          <a:prstGeom prst="roundRect">
            <a:avLst>
              <a:gd name="adj" fmla="val 13333"/>
            </a:avLst>
          </a:prstGeom>
          <a:solidFill>
            <a:srgbClr val="FFFFFF"/>
          </a:solidFill>
          <a:ln/>
        </p:spPr>
      </p:sp>
      <p:sp>
        <p:nvSpPr>
          <p:cNvPr id="14" name="Text 11"/>
          <p:cNvSpPr/>
          <p:nvPr/>
        </p:nvSpPr>
        <p:spPr>
          <a:xfrm>
            <a:off x="5120640" y="3785616"/>
            <a:ext cx="4983480" cy="548640"/>
          </a:xfrm>
          <a:prstGeom prst="rect">
            <a:avLst/>
          </a:prstGeom>
          <a:noFill/>
          <a:ln/>
        </p:spPr>
        <p:txBody>
          <a:bodyPr wrap="square" lIns="0" tIns="0" rIns="0" bIns="0" rtlCol="0" anchor="ctr"/>
          <a:lstStyle/>
          <a:p>
            <a:pPr indent="0" marL="0">
              <a:buNone/>
            </a:pPr>
            <a:r>
              <a:rPr lang="en-US" sz="1250" b="1" dirty="0">
                <a:solidFill>
                  <a:srgbClr val="1E2761"/>
                </a:solidFill>
                <a:latin typeface="Yu Gothic" pitchFamily="34" charset="0"/>
                <a:ea typeface="Yu Gothic" pitchFamily="34" charset="-122"/>
                <a:cs typeface="Yu Gothic" pitchFamily="34" charset="-120"/>
              </a:rPr>
              <a:t>人は判断・承認・例外対応に集中</a:t>
            </a:r>
            <a:endParaRPr lang="en-US" sz="1250" dirty="0"/>
          </a:p>
        </p:txBody>
      </p:sp>
      <p:sp>
        <p:nvSpPr>
          <p:cNvPr id="15" name="Shape 12"/>
          <p:cNvSpPr/>
          <p:nvPr/>
        </p:nvSpPr>
        <p:spPr>
          <a:xfrm>
            <a:off x="822960" y="4507992"/>
            <a:ext cx="3566160" cy="548640"/>
          </a:xfrm>
          <a:prstGeom prst="roundRect">
            <a:avLst>
              <a:gd name="adj" fmla="val 13333"/>
            </a:avLst>
          </a:prstGeom>
          <a:solidFill>
            <a:srgbClr val="161D4A"/>
          </a:solidFill>
          <a:ln w="12700">
            <a:solidFill>
              <a:srgbClr val="39437E"/>
            </a:solidFill>
            <a:prstDash val="solid"/>
          </a:ln>
        </p:spPr>
      </p:sp>
      <p:sp>
        <p:nvSpPr>
          <p:cNvPr id="16" name="Text 13"/>
          <p:cNvSpPr/>
          <p:nvPr/>
        </p:nvSpPr>
        <p:spPr>
          <a:xfrm>
            <a:off x="960120" y="4507992"/>
            <a:ext cx="3291840" cy="548640"/>
          </a:xfrm>
          <a:prstGeom prst="rect">
            <a:avLst/>
          </a:prstGeom>
          <a:noFill/>
          <a:ln/>
        </p:spPr>
        <p:txBody>
          <a:bodyPr wrap="square" lIns="0" tIns="0" rIns="0" bIns="0" rtlCol="0" anchor="ctr"/>
          <a:lstStyle/>
          <a:p>
            <a:pPr indent="0" marL="0">
              <a:buNone/>
            </a:pPr>
            <a:r>
              <a:rPr lang="en-US" sz="1250" dirty="0">
                <a:solidFill>
                  <a:srgbClr val="CADCFC"/>
                </a:solidFill>
                <a:latin typeface="Yu Gothic" pitchFamily="34" charset="0"/>
                <a:ea typeface="Yu Gothic" pitchFamily="34" charset="-122"/>
                <a:cs typeface="Yu Gothic" pitchFamily="34" charset="-120"/>
              </a:rPr>
              <a:t>部署ごとのバラバラなAI活用</a:t>
            </a:r>
            <a:endParaRPr lang="en-US" sz="1250" dirty="0"/>
          </a:p>
        </p:txBody>
      </p:sp>
      <p:sp>
        <p:nvSpPr>
          <p:cNvPr id="17" name="Shape 14"/>
          <p:cNvSpPr/>
          <p:nvPr/>
        </p:nvSpPr>
        <p:spPr>
          <a:xfrm>
            <a:off x="4526280" y="4654296"/>
            <a:ext cx="310896" cy="256032"/>
          </a:xfrm>
          <a:prstGeom prst="rightArrow">
            <a:avLst/>
          </a:prstGeom>
          <a:solidFill>
            <a:srgbClr val="0E8C7F"/>
          </a:solidFill>
          <a:ln/>
        </p:spPr>
      </p:sp>
      <p:sp>
        <p:nvSpPr>
          <p:cNvPr id="18" name="Shape 15"/>
          <p:cNvSpPr/>
          <p:nvPr/>
        </p:nvSpPr>
        <p:spPr>
          <a:xfrm>
            <a:off x="4983480" y="4507992"/>
            <a:ext cx="5257800" cy="548640"/>
          </a:xfrm>
          <a:prstGeom prst="roundRect">
            <a:avLst>
              <a:gd name="adj" fmla="val 13333"/>
            </a:avLst>
          </a:prstGeom>
          <a:solidFill>
            <a:srgbClr val="FFFFFF"/>
          </a:solidFill>
          <a:ln/>
        </p:spPr>
      </p:sp>
      <p:sp>
        <p:nvSpPr>
          <p:cNvPr id="19" name="Text 16"/>
          <p:cNvSpPr/>
          <p:nvPr/>
        </p:nvSpPr>
        <p:spPr>
          <a:xfrm>
            <a:off x="5120640" y="4507992"/>
            <a:ext cx="4983480" cy="548640"/>
          </a:xfrm>
          <a:prstGeom prst="rect">
            <a:avLst/>
          </a:prstGeom>
          <a:noFill/>
          <a:ln/>
        </p:spPr>
        <p:txBody>
          <a:bodyPr wrap="square" lIns="0" tIns="0" rIns="0" bIns="0" rtlCol="0" anchor="ctr"/>
          <a:lstStyle/>
          <a:p>
            <a:pPr indent="0" marL="0">
              <a:buNone/>
            </a:pPr>
            <a:r>
              <a:rPr lang="en-US" sz="1250" b="1" dirty="0">
                <a:solidFill>
                  <a:srgbClr val="1E2761"/>
                </a:solidFill>
                <a:latin typeface="Yu Gothic" pitchFamily="34" charset="0"/>
                <a:ea typeface="Yu Gothic" pitchFamily="34" charset="-122"/>
                <a:cs typeface="Yu Gothic" pitchFamily="34" charset="-120"/>
              </a:rPr>
              <a:t>機械検証で統制されたAIネイティブ業務</a:t>
            </a:r>
            <a:endParaRPr lang="en-US" sz="1250" dirty="0"/>
          </a:p>
        </p:txBody>
      </p:sp>
      <p:sp>
        <p:nvSpPr>
          <p:cNvPr id="20" name="Shape 17"/>
          <p:cNvSpPr/>
          <p:nvPr/>
        </p:nvSpPr>
        <p:spPr>
          <a:xfrm>
            <a:off x="822960" y="5230368"/>
            <a:ext cx="3566160" cy="548640"/>
          </a:xfrm>
          <a:prstGeom prst="roundRect">
            <a:avLst>
              <a:gd name="adj" fmla="val 13333"/>
            </a:avLst>
          </a:prstGeom>
          <a:solidFill>
            <a:srgbClr val="161D4A"/>
          </a:solidFill>
          <a:ln w="12700">
            <a:solidFill>
              <a:srgbClr val="39437E"/>
            </a:solidFill>
            <a:prstDash val="solid"/>
          </a:ln>
        </p:spPr>
      </p:sp>
      <p:sp>
        <p:nvSpPr>
          <p:cNvPr id="21" name="Text 18"/>
          <p:cNvSpPr/>
          <p:nvPr/>
        </p:nvSpPr>
        <p:spPr>
          <a:xfrm>
            <a:off x="960120" y="5230368"/>
            <a:ext cx="3291840" cy="548640"/>
          </a:xfrm>
          <a:prstGeom prst="rect">
            <a:avLst/>
          </a:prstGeom>
          <a:noFill/>
          <a:ln/>
        </p:spPr>
        <p:txBody>
          <a:bodyPr wrap="square" lIns="0" tIns="0" rIns="0" bIns="0" rtlCol="0" anchor="ctr"/>
          <a:lstStyle/>
          <a:p>
            <a:pPr indent="0" marL="0">
              <a:buNone/>
            </a:pPr>
            <a:r>
              <a:rPr lang="en-US" sz="1250" dirty="0">
                <a:solidFill>
                  <a:srgbClr val="CADCFC"/>
                </a:solidFill>
                <a:latin typeface="Yu Gothic" pitchFamily="34" charset="0"/>
                <a:ea typeface="Yu Gothic" pitchFamily="34" charset="-122"/>
                <a:cs typeface="Yu Gothic" pitchFamily="34" charset="-120"/>
              </a:rPr>
              <a:t>つくって終わりの自動化</a:t>
            </a:r>
            <a:endParaRPr lang="en-US" sz="1250" dirty="0"/>
          </a:p>
        </p:txBody>
      </p:sp>
      <p:sp>
        <p:nvSpPr>
          <p:cNvPr id="22" name="Shape 19"/>
          <p:cNvSpPr/>
          <p:nvPr/>
        </p:nvSpPr>
        <p:spPr>
          <a:xfrm>
            <a:off x="4526280" y="5376672"/>
            <a:ext cx="310896" cy="256032"/>
          </a:xfrm>
          <a:prstGeom prst="rightArrow">
            <a:avLst/>
          </a:prstGeom>
          <a:solidFill>
            <a:srgbClr val="0E8C7F"/>
          </a:solidFill>
          <a:ln/>
        </p:spPr>
      </p:sp>
      <p:sp>
        <p:nvSpPr>
          <p:cNvPr id="23" name="Shape 20"/>
          <p:cNvSpPr/>
          <p:nvPr/>
        </p:nvSpPr>
        <p:spPr>
          <a:xfrm>
            <a:off x="4983480" y="5230368"/>
            <a:ext cx="5257800" cy="548640"/>
          </a:xfrm>
          <a:prstGeom prst="roundRect">
            <a:avLst>
              <a:gd name="adj" fmla="val 13333"/>
            </a:avLst>
          </a:prstGeom>
          <a:solidFill>
            <a:srgbClr val="FFFFFF"/>
          </a:solidFill>
          <a:ln/>
        </p:spPr>
      </p:sp>
      <p:sp>
        <p:nvSpPr>
          <p:cNvPr id="24" name="Text 21"/>
          <p:cNvSpPr/>
          <p:nvPr/>
        </p:nvSpPr>
        <p:spPr>
          <a:xfrm>
            <a:off x="5120640" y="5230368"/>
            <a:ext cx="4983480" cy="548640"/>
          </a:xfrm>
          <a:prstGeom prst="rect">
            <a:avLst/>
          </a:prstGeom>
          <a:noFill/>
          <a:ln/>
        </p:spPr>
        <p:txBody>
          <a:bodyPr wrap="square" lIns="0" tIns="0" rIns="0" bIns="0" rtlCol="0" anchor="ctr"/>
          <a:lstStyle/>
          <a:p>
            <a:pPr indent="0" marL="0">
              <a:buNone/>
            </a:pPr>
            <a:r>
              <a:rPr lang="en-US" sz="1250" b="1" dirty="0">
                <a:solidFill>
                  <a:srgbClr val="1E2761"/>
                </a:solidFill>
                <a:latin typeface="Yu Gothic" pitchFamily="34" charset="0"/>
                <a:ea typeface="Yu Gothic" pitchFamily="34" charset="-122"/>
                <a:cs typeface="Yu Gothic" pitchFamily="34" charset="-120"/>
              </a:rPr>
              <a:t>実行結果から改善し続ける仕組み(自己再帰的改善)</a:t>
            </a:r>
            <a:endParaRPr lang="en-US" sz="1250" dirty="0"/>
          </a:p>
        </p:txBody>
      </p:sp>
      <p:sp>
        <p:nvSpPr>
          <p:cNvPr id="25" name="Text 22"/>
          <p:cNvSpPr/>
          <p:nvPr/>
        </p:nvSpPr>
        <p:spPr>
          <a:xfrm>
            <a:off x="822960" y="6126480"/>
            <a:ext cx="10515600" cy="411480"/>
          </a:xfrm>
          <a:prstGeom prst="rect">
            <a:avLst/>
          </a:prstGeom>
          <a:noFill/>
          <a:ln/>
        </p:spPr>
        <p:txBody>
          <a:bodyPr wrap="square" lIns="0" tIns="0" rIns="0" bIns="0" rtlCol="0" anchor="ctr"/>
          <a:lstStyle/>
          <a:p>
            <a:pPr indent="0" marL="0">
              <a:buNone/>
            </a:pPr>
            <a:r>
              <a:rPr lang="en-US" sz="1400" b="1" dirty="0">
                <a:solidFill>
                  <a:srgbClr val="FFFFFF"/>
                </a:solidFill>
                <a:latin typeface="Yu Gothic" pitchFamily="34" charset="0"/>
                <a:ea typeface="Yu Gothic" pitchFamily="34" charset="-122"/>
                <a:cs typeface="Yu Gothic" pitchFamily="34" charset="-120"/>
              </a:rPr>
              <a:t>次の一歩: </a:t>
            </a:r>
            <a:pPr indent="0" marL="0">
              <a:buNone/>
            </a:pPr>
            <a:r>
              <a:rPr lang="en-US" sz="1400" dirty="0">
                <a:solidFill>
                  <a:srgbClr val="CADCFC"/>
                </a:solidFill>
                <a:latin typeface="Yu Gothic" pitchFamily="34" charset="0"/>
                <a:ea typeface="Yu Gothic" pitchFamily="34" charset="-122"/>
                <a:cs typeface="Yu Gothic" pitchFamily="34" charset="-120"/>
              </a:rPr>
              <a:t>「AIに任せる範囲」の基準設定と、パイロット業務の選定から。</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2026-07-16T06:06:01Z</dcterms:created>
  <dcterms:modified xsi:type="dcterms:W3CDTF">2026-07-16T06:06:01Z</dcterms:modified>
</cp:coreProperties>
</file>