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人間主導（改善は人の努力に比例）</c:v>
                </c:pt>
              </c:strCache>
            </c:strRef>
          </c:tx>
          <c:spPr>
            <a:solidFill>
              <a:srgbClr val="8A97A8"/>
            </a:solidFill>
            <a:ln w="31750" cap="flat">
              <a:solidFill>
                <a:srgbClr val="8A97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7A8"/>
              </a:solidFill>
              <a:ln w="9525" cap="flat">
                <a:solidFill>
                  <a:srgbClr val="8A97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  <c:pt idx="7">
                  <c:v>4.5</c:v>
                </c:pt>
                <c:pt idx="8">
                  <c:v>5</c:v>
                </c:pt>
                <c:pt idx="9">
                  <c:v>5.5</c:v>
                </c:pt>
                <c:pt idx="10">
                  <c:v>6</c:v>
                </c:pt>
                <c:pt idx="11">
                  <c:v>6.5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AI主導（改善が構造で回り累積）</c:v>
                </c:pt>
              </c:strCache>
            </c:strRef>
          </c:tx>
          <c:spPr>
            <a:solidFill>
              <a:srgbClr val="1E8A6E"/>
            </a:solidFill>
            <a:ln w="31750" cap="flat">
              <a:solidFill>
                <a:srgbClr val="1E8A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8A6E"/>
              </a:solidFill>
              <a:ln w="9525" cap="flat">
                <a:solidFill>
                  <a:srgbClr val="1E8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1.32</c:v>
                </c:pt>
                <c:pt idx="2">
                  <c:v>1.7424000000000002</c:v>
                </c:pt>
                <c:pt idx="3">
                  <c:v>2.2999680000000002</c:v>
                </c:pt>
                <c:pt idx="4">
                  <c:v>3.0359577600000005</c:v>
                </c:pt>
                <c:pt idx="5">
                  <c:v>4.007464243200001</c:v>
                </c:pt>
                <c:pt idx="6">
                  <c:v>5.289852801024002</c:v>
                </c:pt>
                <c:pt idx="7">
                  <c:v>6.982605697351683</c:v>
                </c:pt>
                <c:pt idx="8">
                  <c:v>9.21703952050422</c:v>
                </c:pt>
                <c:pt idx="9">
                  <c:v>12.166492167065572</c:v>
                </c:pt>
                <c:pt idx="10">
                  <c:v>16.059769660526555</c:v>
                </c:pt>
                <c:pt idx="11">
                  <c:v>21.198895951895054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76839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333F4F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BEFORE → AFTER ― ワークフローの書き換え（開発プロセスの例）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人が回す「直列の7工程」が、AIが回す「契約×並列×検証のループ」に置き換わる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左：現状 ― 全工程を人がリレーする　▶　右：AI主導 ― 工程そのものが書き換わり、人の関与は★の判断だけになる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892040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9525">
            <a:solidFill>
              <a:srgbClr val="E3C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　</a:t>
            </a:r>
            <a:pPr indent="0" marL="0">
              <a:buNone/>
            </a:pPr>
            <a:r>
              <a:rPr lang="en-US" sz="1100" b="1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人間主導 ― 直列の7工程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1984248"/>
            <a:ext cx="0" cy="2715768"/>
          </a:xfrm>
          <a:prstGeom prst="line">
            <a:avLst/>
          </a:prstGeom>
          <a:noFill/>
          <a:ln w="15875">
            <a:solidFill>
              <a:srgbClr val="C9A5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865376"/>
            <a:ext cx="237744" cy="237744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1865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70432" y="1783080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17830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要件定義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人がヒアリングして文書化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3816" y="2318004"/>
            <a:ext cx="237744" cy="237744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23180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70432" y="2235708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223570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設計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人が設計書を作成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3816" y="2770632"/>
            <a:ext cx="237744" cy="237744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70432" y="2688336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268833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実装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人が1件ずつ手作業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" y="3223260"/>
            <a:ext cx="237744" cy="237744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" y="32232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70432" y="3140964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14096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テスト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人が手動で確認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3816" y="3675888"/>
            <a:ext cx="237744" cy="237744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" y="3675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70432" y="3593592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359359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レビュー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上司が目視で確認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3816" y="4128516"/>
            <a:ext cx="237744" cy="237744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" y="41285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170432" y="4046220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40462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リリース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人が手順書で作業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" y="4581144"/>
            <a:ext cx="237744" cy="237744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" y="4581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70432" y="4498848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44988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運用・改善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気づいた人が対応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" y="4992624"/>
            <a:ext cx="4489704" cy="548640"/>
          </a:xfrm>
          <a:prstGeom prst="roundRect">
            <a:avLst>
              <a:gd name="adj" fmla="val 6667"/>
            </a:avLst>
          </a:prstGeom>
          <a:solidFill>
            <a:srgbClr val="FBF0EF"/>
          </a:solidFill>
          <a:ln w="9525">
            <a:solidFill>
              <a:srgbClr val="E3C4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5020056"/>
            <a:ext cx="4233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待ち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：前工程が終わるまで進めない　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手戻り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：不具合は先頭からやり直し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検査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：目視の抜き取りで漏れが出る　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 完了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：「できました」の申告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41264" y="3246120"/>
            <a:ext cx="603504" cy="457200"/>
          </a:xfrm>
          <a:prstGeom prst="rightArrow">
            <a:avLst/>
          </a:prstGeom>
          <a:solidFill>
            <a:srgbClr val="2E75B6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37490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1325880"/>
            <a:ext cx="5376672" cy="4370832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64808" y="141732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　</a:t>
            </a:r>
            <a:pPr indent="0" marL="0">
              <a:buNone/>
            </a:pPr>
            <a:r>
              <a:rPr lang="en-US" sz="1100" b="1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AI主導 ― 契約×並列×検証のループ（8ステップ）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64808" y="183108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30568" y="1783080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0296" y="1783080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自然言語1行で頼む ― 人はここから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64808" y="225628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E8A6E"/>
          </a:solidFill>
          <a:ln/>
        </p:spPr>
      </p:sp>
      <p:sp>
        <p:nvSpPr>
          <p:cNvPr id="46" name="Text 44"/>
          <p:cNvSpPr/>
          <p:nvPr/>
        </p:nvSpPr>
        <p:spPr>
          <a:xfrm>
            <a:off x="6464808" y="225628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30568" y="2180844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0296" y="2180844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S2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契約化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合格条件・範囲・禁止を先に確定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64808" y="2654046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E8A6E"/>
          </a:solidFill>
          <a:ln/>
        </p:spPr>
      </p:sp>
      <p:sp>
        <p:nvSpPr>
          <p:cNvPr id="50" name="Text 48"/>
          <p:cNvSpPr/>
          <p:nvPr/>
        </p:nvSpPr>
        <p:spPr>
          <a:xfrm>
            <a:off x="6464808" y="265404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830568" y="2578608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0296" y="2578608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分解・委譲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並列単位に分割し割り振り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64808" y="305181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E8A6E"/>
          </a:solidFill>
          <a:ln/>
        </p:spPr>
      </p:sp>
      <p:sp>
        <p:nvSpPr>
          <p:cNvPr id="54" name="Text 52"/>
          <p:cNvSpPr/>
          <p:nvPr/>
        </p:nvSpPr>
        <p:spPr>
          <a:xfrm>
            <a:off x="6464808" y="305181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830568" y="2976372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0296" y="2976372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S4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並列実行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worker×Nが同時に作業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64808" y="3449574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E8A6E"/>
          </a:solidFill>
          <a:ln/>
        </p:spPr>
      </p:sp>
      <p:sp>
        <p:nvSpPr>
          <p:cNvPr id="58" name="Text 56"/>
          <p:cNvSpPr/>
          <p:nvPr/>
        </p:nvSpPr>
        <p:spPr>
          <a:xfrm>
            <a:off x="6464808" y="344957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30568" y="3374136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0296" y="3374136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S5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機械検証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全件自動検査＋全体再点検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64808" y="3847338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E8A6E"/>
          </a:solidFill>
          <a:ln/>
        </p:spPr>
      </p:sp>
      <p:sp>
        <p:nvSpPr>
          <p:cNvPr id="62" name="Text 60"/>
          <p:cNvSpPr/>
          <p:nvPr/>
        </p:nvSpPr>
        <p:spPr>
          <a:xfrm>
            <a:off x="6464808" y="384733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830568" y="3771900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0296" y="3771900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S6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独立審査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 / FIX ― FIXはS4へ差し戻し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464808" y="421767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830568" y="4169664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0296" y="4169664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S7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統合・受入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証拠が揃った変更のみ、人が受入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64808" y="4642866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E8A6E"/>
          </a:solidFill>
          <a:ln/>
        </p:spPr>
      </p:sp>
      <p:sp>
        <p:nvSpPr>
          <p:cNvPr id="69" name="Text 67"/>
          <p:cNvSpPr/>
          <p:nvPr/>
        </p:nvSpPr>
        <p:spPr>
          <a:xfrm>
            <a:off x="6464808" y="464286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830568" y="4567428"/>
            <a:ext cx="4261104" cy="352044"/>
          </a:xfrm>
          <a:prstGeom prst="roundRect">
            <a:avLst>
              <a:gd name="adj" fmla="val 10390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0296" y="4567428"/>
            <a:ext cx="405993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 </a:t>
            </a:r>
            <a:pPr indent="0" marL="0">
              <a:buNone/>
            </a:pPr>
            <a:r>
              <a:rPr lang="en-US" sz="9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記録・学習　</a:t>
            </a:r>
            <a:pPr indent="0" marL="0">
              <a:buNone/>
            </a:pPr>
            <a:r>
              <a:rPr lang="en-US" sz="8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記録が仕組みを更新 → 次の周回へ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1329416" y="1959102"/>
            <a:ext cx="0" cy="2960370"/>
          </a:xfrm>
          <a:prstGeom prst="line">
            <a:avLst/>
          </a:prstGeom>
          <a:noFill/>
          <a:ln w="15875">
            <a:solidFill>
              <a:srgbClr val="1E8A6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91672" y="4743450"/>
            <a:ext cx="237744" cy="0"/>
          </a:xfrm>
          <a:prstGeom prst="line">
            <a:avLst/>
          </a:prstGeom>
          <a:noFill/>
          <a:ln w="15875">
            <a:solidFill>
              <a:srgbClr val="1E8A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73384" y="1895094"/>
            <a:ext cx="237744" cy="128016"/>
          </a:xfrm>
          <a:prstGeom prst="leftArrow">
            <a:avLst/>
          </a:prstGeom>
          <a:solidFill>
            <a:srgbClr val="1E8A6E"/>
          </a:solidFill>
          <a:ln/>
        </p:spPr>
      </p:sp>
      <p:sp>
        <p:nvSpPr>
          <p:cNvPr id="75" name="Shape 73"/>
          <p:cNvSpPr/>
          <p:nvPr/>
        </p:nvSpPr>
        <p:spPr>
          <a:xfrm>
            <a:off x="11183112" y="3152394"/>
            <a:ext cx="0" cy="795528"/>
          </a:xfrm>
          <a:prstGeom prst="line">
            <a:avLst/>
          </a:prstGeom>
          <a:noFill/>
          <a:ln w="12700">
            <a:solidFill>
              <a:srgbClr val="C0504D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11000232" y="3097530"/>
            <a:ext cx="182880" cy="109728"/>
          </a:xfrm>
          <a:prstGeom prst="leftArrow">
            <a:avLst/>
          </a:prstGeom>
          <a:solidFill>
            <a:srgbClr val="C0504D"/>
          </a:solidFill>
          <a:ln/>
        </p:spPr>
      </p:sp>
      <p:sp>
        <p:nvSpPr>
          <p:cNvPr id="77" name="Shape 75"/>
          <p:cNvSpPr/>
          <p:nvPr/>
        </p:nvSpPr>
        <p:spPr>
          <a:xfrm>
            <a:off x="11000232" y="3947922"/>
            <a:ext cx="182880" cy="0"/>
          </a:xfrm>
          <a:prstGeom prst="line">
            <a:avLst/>
          </a:prstGeom>
          <a:noFill/>
          <a:ln w="12700">
            <a:solidFill>
              <a:srgbClr val="C0504D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6464808" y="5010912"/>
            <a:ext cx="4974336" cy="548640"/>
          </a:xfrm>
          <a:prstGeom prst="roundRect">
            <a:avLst>
              <a:gd name="adj" fmla="val 6667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92824" y="5038344"/>
            <a:ext cx="4718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並列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：待ち時間ゼロ　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検査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：全件・機械＋独立審査　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手戻り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：ループ内で即時回収
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完了＝証拠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：検証を通過した変更だけが残る ― 周回ごとに仕組みが賢くなる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48640" y="5833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人の関与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645920" y="58338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377440" y="5852160"/>
            <a:ext cx="4160520" cy="182880"/>
          </a:xfrm>
          <a:prstGeom prst="roundRect">
            <a:avLst>
              <a:gd name="adj" fmla="val 10000"/>
            </a:avLst>
          </a:prstGeom>
          <a:solidFill>
            <a:srgbClr val="1F3B63"/>
          </a:solidFill>
          <a:ln/>
        </p:spPr>
      </p:sp>
      <p:sp>
        <p:nvSpPr>
          <p:cNvPr id="83" name="Text 81"/>
          <p:cNvSpPr/>
          <p:nvPr/>
        </p:nvSpPr>
        <p:spPr>
          <a:xfrm>
            <a:off x="2377440" y="583387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全工程に常時（作業も検査も記録も人）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812280" y="5833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452360" y="5852160"/>
            <a:ext cx="685800" cy="182880"/>
          </a:xfrm>
          <a:prstGeom prst="roundRect">
            <a:avLst>
              <a:gd name="adj" fmla="val 10000"/>
            </a:avLst>
          </a:prstGeom>
          <a:solidFill>
            <a:srgbClr val="1E8A6E"/>
          </a:solidFill>
          <a:ln/>
        </p:spPr>
      </p:sp>
      <p:sp>
        <p:nvSpPr>
          <p:cNvPr id="86" name="Text 84"/>
          <p:cNvSpPr/>
          <p:nvPr/>
        </p:nvSpPr>
        <p:spPr>
          <a:xfrm>
            <a:off x="8229600" y="58338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★の判断だけ（S1依頼・S7受入・高リスク承認）― 実数値はPoCで実測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8640" y="6217920"/>
            <a:ext cx="5468112" cy="438912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3232" y="62179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P.2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この新ループを駆動する4要素（①エージェント×②ハーネス×④RSI）の関係と連動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72200" y="6217920"/>
            <a:ext cx="5468112" cy="438912"/>
          </a:xfrm>
          <a:prstGeom prst="roundRect">
            <a:avLst>
              <a:gd name="adj" fmla="val 8333"/>
            </a:avLst>
          </a:prstGeom>
          <a:solidFill>
            <a:srgbClr val="E9F4EF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36792" y="62179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P.3　</a:t>
            </a:r>
            <a:pPr indent="0" marL="0"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ループ一式を③グラフが複製し、チーム→部署→企業・グループへ広げる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実行のしくみ ― 新ワークフローを駆動する4要素（P.1 右側の中身）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①エージェントの三役が回し、②ハーネスが支え、④RSIが賢くし、③グラフが広げる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Anthropic公式のエージェント設計原則（司令塔×ワーカーの動的分解・委譲／独立評価／人間チェックポイント★）に準拠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91672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AIエージェント構成 ― 三役が新ワークフローを回す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5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不合格（FIX）はS4へ差し戻し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326880" y="1371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⟲ S8 → S1：次の周回へ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675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★依頼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9384" y="175564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391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S2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契約化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00984" y="175564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107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分解・委譲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72584" y="175564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823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S4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並列実行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44184" y="175564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539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S5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機械検証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15784" y="175564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255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0F7F4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S6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独立審査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787384" y="175564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8971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S7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統合・★受入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58984" y="1755648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9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268712" y="1755648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E9F4EF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0" y="175564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 </a:t>
            </a:r>
            <a:pPr algn="ctr" indent="0" marL="0"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記録・学習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07592" y="1572768"/>
            <a:ext cx="9601200" cy="0"/>
          </a:xfrm>
          <a:prstGeom prst="line">
            <a:avLst/>
          </a:prstGeom>
          <a:noFill/>
          <a:ln w="15875">
            <a:solidFill>
              <a:srgbClr val="1E8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08792" y="1572768"/>
            <a:ext cx="0" cy="182880"/>
          </a:xfrm>
          <a:prstGeom prst="line">
            <a:avLst/>
          </a:prstGeom>
          <a:noFill/>
          <a:ln w="15875">
            <a:solidFill>
              <a:srgbClr val="1E8A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2728" y="1627632"/>
            <a:ext cx="109728" cy="118872"/>
          </a:xfrm>
          <a:prstGeom prst="downArrow">
            <a:avLst/>
          </a:prstGeom>
          <a:solidFill>
            <a:srgbClr val="1E8A6E"/>
          </a:solidFill>
          <a:ln/>
        </p:spPr>
      </p:sp>
      <p:sp>
        <p:nvSpPr>
          <p:cNvPr id="35" name="Shape 33"/>
          <p:cNvSpPr/>
          <p:nvPr/>
        </p:nvSpPr>
        <p:spPr>
          <a:xfrm>
            <a:off x="5422392" y="1673352"/>
            <a:ext cx="2743200" cy="0"/>
          </a:xfrm>
          <a:prstGeom prst="line">
            <a:avLst/>
          </a:prstGeom>
          <a:noFill/>
          <a:ln w="12700">
            <a:solidFill>
              <a:srgbClr val="C0504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8165592" y="1673352"/>
            <a:ext cx="0" cy="82296"/>
          </a:xfrm>
          <a:prstGeom prst="line">
            <a:avLst/>
          </a:prstGeom>
          <a:noFill/>
          <a:ln w="12700">
            <a:solidFill>
              <a:srgbClr val="C0504D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367528" y="1627632"/>
            <a:ext cx="109728" cy="118872"/>
          </a:xfrm>
          <a:prstGeom prst="downArrow">
            <a:avLst/>
          </a:prstGeom>
          <a:solidFill>
            <a:srgbClr val="C0504D"/>
          </a:solidFill>
          <a:ln/>
        </p:spPr>
      </p:sp>
      <p:sp>
        <p:nvSpPr>
          <p:cNvPr id="38" name="Shape 36"/>
          <p:cNvSpPr/>
          <p:nvPr/>
        </p:nvSpPr>
        <p:spPr>
          <a:xfrm>
            <a:off x="13075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6791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0507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4223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7939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1655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5371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0908792" y="2231136"/>
            <a:ext cx="0" cy="237744"/>
          </a:xfrm>
          <a:prstGeom prst="line">
            <a:avLst/>
          </a:prstGeom>
          <a:noFill/>
          <a:ln w="12700">
            <a:solidFill>
              <a:srgbClr val="AEB9C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67512" y="2487168"/>
            <a:ext cx="1280160" cy="822960"/>
          </a:xfrm>
          <a:prstGeom prst="roundRect">
            <a:avLst>
              <a:gd name="adj" fmla="val 5556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2523744"/>
            <a:ext cx="1152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依頼者（人）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業務の言葉で頼むだけ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039112" y="2487168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1F3B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2523744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司令塔AI（lead）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依頼を契約に変換し、並列単位に分解して委譲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72584" y="2395728"/>
            <a:ext cx="1280160" cy="82296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 w="9525">
            <a:solidFill>
              <a:srgbClr val="AEB9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7448" y="2441448"/>
            <a:ext cx="1280160" cy="82296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 w="9525">
            <a:solidFill>
              <a:srgbClr val="AEB9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82312" y="2487168"/>
            <a:ext cx="1280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523744"/>
            <a:ext cx="1152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実行AI ×N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並列で同時作業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53912" y="2487168"/>
            <a:ext cx="1280160" cy="822960"/>
          </a:xfrm>
          <a:prstGeom prst="roundRect">
            <a:avLst>
              <a:gd name="adj" fmla="val 5556"/>
            </a:avLst>
          </a:prstGeom>
          <a:solidFill>
            <a:srgbClr val="EAF1FA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2523744"/>
            <a:ext cx="1152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検証ゲート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機械が全件検査（②の合格基準）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525512" y="2487168"/>
            <a:ext cx="1280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2523744"/>
            <a:ext cx="1152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監査AI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独立の立場で裁定（編集権なし）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924544" y="2487168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1F3B6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88552" y="2523744"/>
            <a:ext cx="1106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lead（統合）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合格のみ統合し★受入へ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277856" y="2487168"/>
            <a:ext cx="1261872" cy="822960"/>
          </a:xfrm>
          <a:prstGeom prst="roundRect">
            <a:avLst>
              <a:gd name="adj" fmla="val 5556"/>
            </a:avLst>
          </a:prstGeom>
          <a:solidFill>
            <a:srgbClr val="E9F4EF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41864" y="2523744"/>
            <a:ext cx="1133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6B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RSIへ
</a:t>
            </a:r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記録が下段の学習ループへ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7240" y="33649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三役 ＝ 作る者（lead・worker）と認める者（verifier）を分離 ― 増員はworkerの設定変更のみ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023360" y="3749040"/>
            <a:ext cx="0" cy="109728"/>
          </a:xfrm>
          <a:prstGeom prst="line">
            <a:avLst/>
          </a:prstGeom>
          <a:noFill/>
          <a:ln w="12700">
            <a:solidFill>
              <a:srgbClr val="D9C08A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6400800" y="3749040"/>
            <a:ext cx="0" cy="109728"/>
          </a:xfrm>
          <a:prstGeom prst="line">
            <a:avLst/>
          </a:prstGeom>
          <a:noFill/>
          <a:ln w="12700">
            <a:solidFill>
              <a:srgbClr val="D9C08A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8778240" y="3749040"/>
            <a:ext cx="0" cy="109728"/>
          </a:xfrm>
          <a:prstGeom prst="line">
            <a:avLst/>
          </a:prstGeom>
          <a:noFill/>
          <a:ln w="12700">
            <a:solidFill>
              <a:srgbClr val="D9C08A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548640" y="3858768"/>
            <a:ext cx="11091672" cy="877824"/>
          </a:xfrm>
          <a:prstGeom prst="roundRect">
            <a:avLst>
              <a:gd name="adj" fmla="val 6250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ハーネス
</a:t>
            </a:r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S2〜S6へ手順・規範・合格基準を供給（1業務＝1式）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291840" y="4014216"/>
            <a:ext cx="149961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55848" y="40325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rules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してよい事・いけない事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82896" y="4014216"/>
            <a:ext cx="149961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46904" y="40325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仕事の手順書・ノウハウ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73952" y="4014216"/>
            <a:ext cx="149961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40325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Hooks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自動チェック・承認点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065008" y="4014216"/>
            <a:ext cx="1499616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29016" y="40325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Wiki・CI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知識と合格基準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710928" y="3941064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EAF1FA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02368" y="3968496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グラフ　</a:t>
            </a:r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②一式を複製し全社へ配線 </a:t>
            </a:r>
            <a:pPr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P.3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48640" y="484632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" y="49011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RSI
</a:t>
            </a:r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S8「記録・学習」の中身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291840" y="4928616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37560" y="4928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記録が貯まる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230368" y="5102352"/>
            <a:ext cx="146304" cy="128016"/>
          </a:xfrm>
          <a:prstGeom prst="rightArrow">
            <a:avLst/>
          </a:prstGeom>
          <a:solidFill>
            <a:srgbClr val="1E8A6E"/>
          </a:solidFill>
          <a:ln/>
        </p:spPr>
      </p:sp>
      <p:sp>
        <p:nvSpPr>
          <p:cNvPr id="83" name="Shape 81"/>
          <p:cNvSpPr/>
          <p:nvPr/>
        </p:nvSpPr>
        <p:spPr>
          <a:xfrm>
            <a:off x="5394960" y="4928616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E9F4EF"/>
          </a:solidFill>
          <a:ln w="9525">
            <a:solidFill>
              <a:srgbClr val="9CCBB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40680" y="4928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B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AIが改善案を作る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333488" y="5102352"/>
            <a:ext cx="146304" cy="128016"/>
          </a:xfrm>
          <a:prstGeom prst="rightArrow">
            <a:avLst/>
          </a:prstGeom>
          <a:solidFill>
            <a:srgbClr val="1E8A6E"/>
          </a:solidFill>
          <a:ln/>
        </p:spPr>
      </p:sp>
      <p:sp>
        <p:nvSpPr>
          <p:cNvPr id="86" name="Shape 84"/>
          <p:cNvSpPr/>
          <p:nvPr/>
        </p:nvSpPr>
        <p:spPr>
          <a:xfrm>
            <a:off x="7498080" y="4928616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43800" y="4928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人が承認（関門）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436608" y="5102352"/>
            <a:ext cx="146304" cy="128016"/>
          </a:xfrm>
          <a:prstGeom prst="rightArrow">
            <a:avLst/>
          </a:prstGeom>
          <a:solidFill>
            <a:srgbClr val="1E8A6E"/>
          </a:solidFill>
          <a:ln/>
        </p:spPr>
      </p:sp>
      <p:sp>
        <p:nvSpPr>
          <p:cNvPr id="89" name="Shape 87"/>
          <p:cNvSpPr/>
          <p:nvPr/>
        </p:nvSpPr>
        <p:spPr>
          <a:xfrm>
            <a:off x="9601200" y="4928616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E9F4EF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646920" y="4928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6B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ハーネスを更新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0561320" y="4754880"/>
            <a:ext cx="137160" cy="164592"/>
          </a:xfrm>
          <a:prstGeom prst="upArrow">
            <a:avLst/>
          </a:prstGeom>
          <a:solidFill>
            <a:srgbClr val="1E8A6E"/>
          </a:solidFill>
          <a:ln/>
        </p:spPr>
      </p:sp>
      <p:sp>
        <p:nvSpPr>
          <p:cNvPr id="92" name="Shape 90"/>
          <p:cNvSpPr/>
          <p:nvPr/>
        </p:nvSpPr>
        <p:spPr>
          <a:xfrm>
            <a:off x="548640" y="5650992"/>
            <a:ext cx="3575304" cy="768096"/>
          </a:xfrm>
          <a:prstGeom prst="roundRect">
            <a:avLst>
              <a:gd name="adj" fmla="val 5952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6656" y="5696712"/>
            <a:ext cx="3319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①×②　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エージェントは②の上でだけ働く ― 規範・手順・合格基準はすべてハーネスが供給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4306824" y="5650992"/>
            <a:ext cx="3575304" cy="768096"/>
          </a:xfrm>
          <a:prstGeom prst="roundRect">
            <a:avLst>
              <a:gd name="adj" fmla="val 5952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34840" y="5696712"/>
            <a:ext cx="3319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④→②　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RSIが更新するのは②だけ ― 必ず人の承認（★）を経て、統制したまま賢くなる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065008" y="5650992"/>
            <a:ext cx="3575304" cy="768096"/>
          </a:xfrm>
          <a:prstGeom prst="roundRect">
            <a:avLst>
              <a:gd name="adj" fmla="val 5952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193024" y="5696712"/>
            <a:ext cx="33192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③×②　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グラフは②を複製・接続して広げる ― 実行のしくみは全社で同一のまま（▶ P.3）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5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広がり方 ― チームから、部署、企業・グループへ（P.1 S8のその先）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1業務で実証した「ループ一式」を複製・接続し、改善が全社を賢くし続ける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1で新ワークフローを実証 → STEP 2で③グラフが部署へ複製 → STEP 3で企業・グループを配線し、④RSIの改善が全体に配られる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1672" cy="2761488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81328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1F3B6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1｜1業務で実証（チーム）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481328"/>
            <a:ext cx="3246120" cy="274320"/>
          </a:xfrm>
          <a:prstGeom prst="roundRect">
            <a:avLst>
              <a:gd name="adj" fmla="val 13333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2｜部署へ複製（③グラフ）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92440" y="1481328"/>
            <a:ext cx="3319272" cy="274320"/>
          </a:xfrm>
          <a:prstGeom prst="roundRect">
            <a:avLst>
              <a:gd name="adj" fmla="val 13333"/>
            </a:avLst>
          </a:prstGeom>
          <a:solidFill>
            <a:srgbClr val="1E8A6E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4813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3｜企業・グループへ配線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96512" y="2542032"/>
            <a:ext cx="274320" cy="219456"/>
          </a:xfrm>
          <a:prstGeom prst="rightArrow">
            <a:avLst/>
          </a:prstGeom>
          <a:solidFill>
            <a:srgbClr val="9AA9B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54112" y="2542032"/>
            <a:ext cx="274320" cy="219456"/>
          </a:xfrm>
          <a:prstGeom prst="rightArrow">
            <a:avLst/>
          </a:prstGeom>
          <a:solidFill>
            <a:srgbClr val="9AA9B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2176272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1762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ループ一式：受注管理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83080" y="2706624"/>
            <a:ext cx="274320" cy="274320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17" name="Text 15"/>
          <p:cNvSpPr/>
          <p:nvPr/>
        </p:nvSpPr>
        <p:spPr>
          <a:xfrm>
            <a:off x="178308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194560" y="2706624"/>
            <a:ext cx="274320" cy="274320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606040" y="2706624"/>
            <a:ext cx="274320" cy="274320"/>
          </a:xfrm>
          <a:prstGeom prst="ellipse">
            <a:avLst/>
          </a:prstGeom>
          <a:solidFill>
            <a:srgbClr val="1F3B63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" y="305409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三役のエージェントがループを回す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92040" y="2066544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665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ループ一式：受注管理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01768" y="2450592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2450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ループ一式：在庫・購買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11496" y="2834640"/>
            <a:ext cx="1920240" cy="420624"/>
          </a:xfrm>
          <a:prstGeom prst="roundRect">
            <a:avLst>
              <a:gd name="adj" fmla="val 8696"/>
            </a:avLst>
          </a:prstGeom>
          <a:solidFill>
            <a:srgbClr val="FBF4E1"/>
          </a:solidFill>
          <a:ln w="9525">
            <a:solidFill>
              <a:srgbClr val="D9C0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28346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ループ一式：請求・回収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80560" y="32918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部署内の業務へ複製（設定のみ）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412480" y="201168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営業部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869680" y="2377440"/>
            <a:ext cx="1120140" cy="0"/>
          </a:xfrm>
          <a:prstGeom prst="line">
            <a:avLst/>
          </a:prstGeom>
          <a:noFill/>
          <a:ln w="12700">
            <a:solidFill>
              <a:srgbClr val="9AA9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52760" y="201168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527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製造部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 flipH="1">
            <a:off x="9989820" y="2377440"/>
            <a:ext cx="1120140" cy="0"/>
          </a:xfrm>
          <a:prstGeom prst="line">
            <a:avLst/>
          </a:prstGeom>
          <a:noFill/>
          <a:ln w="12700">
            <a:solidFill>
              <a:srgbClr val="9AA9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20040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品証部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869680" y="2980944"/>
            <a:ext cx="1120140" cy="219456"/>
          </a:xfrm>
          <a:prstGeom prst="line">
            <a:avLst/>
          </a:prstGeom>
          <a:noFill/>
          <a:ln w="12700">
            <a:solidFill>
              <a:srgbClr val="9AA9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52760" y="320040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9525">
            <a:solidFill>
              <a:srgbClr val="1E8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5276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管理部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 flipH="1">
            <a:off x="9989820" y="2980944"/>
            <a:ext cx="1120140" cy="219456"/>
          </a:xfrm>
          <a:prstGeom prst="line">
            <a:avLst/>
          </a:prstGeom>
          <a:noFill/>
          <a:ln w="12700">
            <a:solidFill>
              <a:srgbClr val="9AA9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72600" y="2377440"/>
            <a:ext cx="1234440" cy="603504"/>
          </a:xfrm>
          <a:prstGeom prst="ellipse">
            <a:avLst/>
          </a:prstGeom>
          <a:solidFill>
            <a:srgbClr val="EAF1FA"/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237744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共有ナレッジ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（全社で1つ）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77240" y="3730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新ワークフロー1式（②ハーネス）を構築し、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速度・品質・統制を実測 ― 効果を数値で確認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434840" y="37307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検証済みの一式を「コピーと適用」で展開 ―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2件目以降は標準0.5日／業務、品質は同一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8092440" y="373075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全部署を共有ナレッジで接続 ― ④RSIの改善と知見が</a:t>
            </a:r>
            <a:endParaRPr lang="en-US" sz="78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全体に自動配布。グループ会社も同じ型で接続できる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48640" y="4187952"/>
            <a:ext cx="11091672" cy="402336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418795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広がるのは3つ ― </a:t>
            </a:r>
            <a:pPr indent="0" marL="0">
              <a:buNone/>
            </a:pPr>
            <a:r>
              <a:rPr lang="en-US" sz="95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仕組み（②ハーネスの複製）・知見（共有ナレッジ）・改善（④RSIの自動配布）。</a:t>
            </a:r>
            <a:pPr indent="0" marL="0">
              <a:buNone/>
            </a:pPr>
            <a:r>
              <a:rPr lang="en-US" sz="950" b="1" dirty="0">
                <a:solidFill>
                  <a:srgbClr val="1E8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広がるほど記録が増え、改善はさらに速くなる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4681728"/>
            <a:ext cx="1109167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4754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効果の出方 ― 「人の努力に比例」から「仕組みで複利」へ</a:t>
            </a:r>
            <a:endParaRPr lang="en-US" sz="115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777240" y="5029200"/>
          <a:ext cx="5486400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Text 49"/>
          <p:cNvSpPr/>
          <p:nvPr/>
        </p:nvSpPr>
        <p:spPr>
          <a:xfrm>
            <a:off x="6537960" y="5029200"/>
            <a:ext cx="4846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3B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なぜ差が開くのか ―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F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人間主導では改善も展開も人の時間を消費し、効果は線形。AI主導では、検証済みの成果が積み上がり（①②）、複製で横に広がり（③）、使うほど改善が回る（④）― 掛け算で累積する。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7683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曲線は構造の違いを示すイメージ。実数値はPoCで貴社業務にて実測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2026-07-22T06:53:01Z</dcterms:created>
  <dcterms:modified xsi:type="dcterms:W3CDTF">2026-07-22T06:53:01Z</dcterms:modified>
</cp:coreProperties>
</file>