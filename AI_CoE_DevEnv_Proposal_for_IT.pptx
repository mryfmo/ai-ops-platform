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23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1011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 CoE 開発・実行環境 全体構成（ローカル ＋ クラウド ＋ SaaS）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IT部門向け：AI CoE室が全プロジェクト共通で利用する3ゾーン構成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74320"/>
            <a:ext cx="1371600" cy="310896"/>
          </a:xfrm>
          <a:prstGeom prst="roundRect">
            <a:avLst>
              <a:gd name="adj" fmla="val 26471"/>
            </a:avLst>
          </a:prstGeom>
          <a:solidFill>
            <a:srgbClr val="0F3B6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0378440" y="2743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IT部門ご説明資料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3794760" cy="4956048"/>
          </a:xfrm>
          <a:prstGeom prst="roundRect">
            <a:avLst>
              <a:gd name="adj" fmla="val 1928"/>
            </a:avLst>
          </a:prstGeom>
          <a:solidFill>
            <a:srgbClr val="E6F3F4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66928" y="1170432"/>
            <a:ext cx="1737360" cy="292608"/>
          </a:xfrm>
          <a:prstGeom prst="roundRect">
            <a:avLst>
              <a:gd name="adj" fmla="val 28125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66928" y="11704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Ⓐ ローカル環境（開発者単位）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23160" y="11704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リース調達を検討中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94360" y="1600200"/>
            <a:ext cx="342900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5875">
            <a:solidFill>
              <a:srgbClr val="0E7C86"/>
            </a:solidFill>
            <a:prstDash val="solid"/>
          </a:ln>
          <a:effectLst>
            <a:outerShdw blurRad="50800" dist="12700" dir="5400000" algn="bl" rotWithShape="0">
              <a:srgbClr val="9AA5B1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731520" y="16824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MacBook Pro 14″（M5 Max・64GB・1TB）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19202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参考価格 639,800円/台（Apple公式）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31520" y="2176272"/>
            <a:ext cx="1024128" cy="274320"/>
          </a:xfrm>
          <a:prstGeom prst="roundRect">
            <a:avLst>
              <a:gd name="adj" fmla="val 3000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731520" y="217627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Code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819656" y="2176272"/>
            <a:ext cx="960120" cy="274320"/>
          </a:xfrm>
          <a:prstGeom prst="roundRect">
            <a:avLst>
              <a:gd name="adj" fmla="val 3000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1819656" y="21762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Codex CLI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843784" y="2176272"/>
            <a:ext cx="1024128" cy="274320"/>
          </a:xfrm>
          <a:prstGeom prst="roundRect">
            <a:avLst>
              <a:gd name="adj" fmla="val 3000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2843784" y="217627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Factory Droid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31520" y="25237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 Zed／Ghostty／herdr／mise・uv／Playwright 等（無償OSS）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31520" y="28529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エディタ・ターミナル・エージェント多重化は追加費用ゼロ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94360" y="3401568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E7C86"/>
            </a:solidFill>
            <a:prstDash val="solid"/>
          </a:ln>
          <a:effectLst>
            <a:outerShdw blurRad="50800" dist="12700" dir="5400000" algn="bl" rotWithShape="0">
              <a:srgbClr val="9AA5B1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731520" y="34015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LiteLLM（GW）→ Anthropic／OpenAI LLM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0" y="3172968"/>
            <a:ext cx="0" cy="22860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594360" y="4114800"/>
            <a:ext cx="342900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5875">
            <a:solidFill>
              <a:srgbClr val="0E7C86"/>
            </a:solidFill>
            <a:prstDash val="solid"/>
          </a:ln>
          <a:effectLst>
            <a:outerShdw blurRad="50800" dist="12700" dir="5400000" algn="bl" rotWithShape="0">
              <a:srgbClr val="9AA5B1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731520" y="41879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NVIDIA DGX Spark（GB10・128GBユニファイド）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44256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参考価格 919,000円/台（Applied Net）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31520" y="46451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GPU検証・ローカルLLM PoC（CUDA／Docker＋NVIDIA Runtime同梱）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31520" y="499262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サーバー計算資源として別途用意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96112" y="3172968"/>
            <a:ext cx="0" cy="941832"/>
          </a:xfrm>
          <a:prstGeom prst="line">
            <a:avLst/>
          </a:prstGeom>
          <a:noFill/>
          <a:ln w="19050">
            <a:solidFill>
              <a:srgbClr val="0E7C86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566928" y="54406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C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Tailscale VPN（Mac ⇄ DGX：SSH／Zed Remote）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389120" y="1051560"/>
            <a:ext cx="4526280" cy="4956048"/>
          </a:xfrm>
          <a:prstGeom prst="roundRect">
            <a:avLst>
              <a:gd name="adj" fmla="val 1616"/>
            </a:avLst>
          </a:prstGeom>
          <a:solidFill>
            <a:srgbClr val="E8F0FA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4544568" y="1170432"/>
            <a:ext cx="2286000" cy="292608"/>
          </a:xfrm>
          <a:prstGeom prst="roundRect">
            <a:avLst>
              <a:gd name="adj" fmla="val 28125"/>
            </a:avLst>
          </a:prstGeom>
          <a:solidFill>
            <a:srgbClr val="1D5F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4544568" y="11704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Ⓑ クラウド環境（AWS）PoC → 本番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0" y="1600200"/>
            <a:ext cx="41605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1D5FA8"/>
            </a:solidFill>
            <a:prstDash val="solid"/>
          </a:ln>
          <a:effectLst>
            <a:outerShdw blurRad="50800" dist="12700" dir="5400000" algn="bl" rotWithShape="0">
              <a:srgbClr val="9AA5B1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4681728" y="160020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LiteLLM ゲートウェイ（全社共通のLLM出入口・利用量計測）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0" y="2212848"/>
            <a:ext cx="4160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D5FA8"/>
            </a:solidFill>
            <a:prstDash val="solid"/>
          </a:ln>
          <a:effectLst>
            <a:outerShdw blurRad="50800" dist="12700" dir="5400000" algn="bl" rotWithShape="0">
              <a:srgbClr val="9AA5B1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4681728" y="221284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Amazon Bedrock ─ Anthropic LLM（OpenAI LLM）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47688" y="2039112"/>
            <a:ext cx="0" cy="173736"/>
          </a:xfrm>
          <a:prstGeom prst="line">
            <a:avLst/>
          </a:prstGeom>
          <a:noFill/>
          <a:ln w="22225">
            <a:solidFill>
              <a:srgbClr val="1D5FA8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4023360" y="3630168"/>
            <a:ext cx="548640" cy="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4572000" y="2852928"/>
            <a:ext cx="201168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5875">
            <a:solidFill>
              <a:srgbClr val="1D5FA8"/>
            </a:solidFill>
            <a:prstDash val="solid"/>
          </a:ln>
          <a:effectLst>
            <a:outerShdw blurRad="50800" dist="12700" dir="5400000" algn="bl" rotWithShape="0">
              <a:srgbClr val="9AA5B1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4663440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3B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UC① AIネイティブDB基盤（RAG）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09160" y="3310128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Amazon S3（文書格納）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Bedrock Knowledge Bases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OpenSearch Serverless（ベクトルDB）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720840" y="2852928"/>
            <a:ext cx="201168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5875">
            <a:solidFill>
              <a:srgbClr val="1D5FA8"/>
            </a:solidFill>
            <a:prstDash val="solid"/>
          </a:ln>
          <a:effectLst>
            <a:outerShdw blurRad="50800" dist="12700" dir="5400000" algn="bl" rotWithShape="0">
              <a:srgbClr val="9AA5B1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6812280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3B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UC② 汎用AIエージェント基盤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858000" y="3310128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Agents for Amazon Bedrock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Lambda／Step Functions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DynamoDB（セッション管理）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577840" y="2670048"/>
            <a:ext cx="0" cy="182880"/>
          </a:xfrm>
          <a:prstGeom prst="line">
            <a:avLst/>
          </a:prstGeom>
          <a:noFill/>
          <a:ln w="22225">
            <a:solidFill>
              <a:srgbClr val="1D5FA8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Shape 45"/>
          <p:cNvSpPr/>
          <p:nvPr/>
        </p:nvSpPr>
        <p:spPr>
          <a:xfrm>
            <a:off x="7726680" y="2670048"/>
            <a:ext cx="0" cy="182880"/>
          </a:xfrm>
          <a:prstGeom prst="line">
            <a:avLst/>
          </a:prstGeom>
          <a:noFill/>
          <a:ln w="22225">
            <a:solidFill>
              <a:srgbClr val="1D5FA8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Shape 46"/>
          <p:cNvSpPr/>
          <p:nvPr/>
        </p:nvSpPr>
        <p:spPr>
          <a:xfrm>
            <a:off x="4572000" y="4526280"/>
            <a:ext cx="4160520" cy="1298448"/>
          </a:xfrm>
          <a:prstGeom prst="roundRect">
            <a:avLst>
              <a:gd name="adj" fmla="val 4225"/>
            </a:avLst>
          </a:prstGeom>
          <a:solidFill>
            <a:srgbClr val="FDF3E3"/>
          </a:solidFill>
          <a:ln w="1587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4681728" y="459028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共通セキュリティ・アクセス制御基盤（全PJで共有）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681728" y="486460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VPC＋PrivateLink（閉域）／ KMS（暗号化）／ GuardDuty ／ Security Hub ／ CloudTrail（組織証跡）／ WAF ／ Bedrock Guardrails ／ Organizations＋Transit Gateway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098280" y="1051560"/>
            <a:ext cx="2679192" cy="4956048"/>
          </a:xfrm>
          <a:prstGeom prst="roundRect">
            <a:avLst>
              <a:gd name="adj" fmla="val 2730"/>
            </a:avLst>
          </a:prstGeom>
          <a:solidFill>
            <a:srgbClr val="EFEBF7"/>
          </a:solidFill>
          <a:ln w="12700">
            <a:solidFill>
              <a:srgbClr val="5B4B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Shape 50"/>
          <p:cNvSpPr/>
          <p:nvPr/>
        </p:nvSpPr>
        <p:spPr>
          <a:xfrm>
            <a:off x="9253728" y="1170432"/>
            <a:ext cx="2011680" cy="292608"/>
          </a:xfrm>
          <a:prstGeom prst="roundRect">
            <a:avLst>
              <a:gd name="adj" fmla="val 28125"/>
            </a:avLst>
          </a:prstGeom>
          <a:solidFill>
            <a:srgbClr val="5B4B8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9253728" y="11704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Ⓒ SaaS（全社契約・共通）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9253728" y="1600200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5B4B8A"/>
            </a:solidFill>
            <a:prstDash val="solid"/>
          </a:ln>
          <a:effectLst>
            <a:outerShdw blurRad="50800" dist="12700" dir="5400000" algn="bl" rotWithShape="0">
              <a:srgbClr val="9AA5B1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9363456" y="16459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Enterprise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9363456" y="18836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4,000席（Code／Cowork込）＋従量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9253728" y="2276856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5B4B8A"/>
            </a:solidFill>
            <a:prstDash val="solid"/>
          </a:ln>
          <a:effectLst>
            <a:outerShdw blurRad="50800" dist="12700" dir="5400000" algn="bl" rotWithShape="0">
              <a:srgbClr val="9AA5B1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8" name="Text 56"/>
          <p:cNvSpPr/>
          <p:nvPr/>
        </p:nvSpPr>
        <p:spPr>
          <a:xfrm>
            <a:off x="9363456" y="232257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 Business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9363456" y="25603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Codex用・席数は要確定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9253728" y="2953512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5B4B8A"/>
            </a:solidFill>
            <a:prstDash val="solid"/>
          </a:ln>
          <a:effectLst>
            <a:outerShdw blurRad="50800" dist="12700" dir="5400000" algn="bl" rotWithShape="0">
              <a:srgbClr val="9AA5B1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9"/>
          <p:cNvSpPr/>
          <p:nvPr/>
        </p:nvSpPr>
        <p:spPr>
          <a:xfrm>
            <a:off x="9363456" y="29992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Factory Droid Teams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9363456" y="323697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席数は要確定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9253728" y="3630168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5B4B8A"/>
            </a:solidFill>
            <a:prstDash val="solid"/>
          </a:ln>
          <a:effectLst>
            <a:outerShdw blurRad="50800" dist="12700" dir="5400000" algn="bl" rotWithShape="0">
              <a:srgbClr val="9AA5B1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4" name="Text 62"/>
          <p:cNvSpPr/>
          <p:nvPr/>
        </p:nvSpPr>
        <p:spPr>
          <a:xfrm>
            <a:off x="9363456" y="36758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Tailscale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9363456" y="39136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Mac⇄DGX接続（席課金）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9253728" y="4306824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5B4B8A"/>
            </a:solidFill>
            <a:prstDash val="solid"/>
          </a:ln>
          <a:effectLst>
            <a:outerShdw blurRad="50800" dist="12700" dir="5400000" algn="bl" rotWithShape="0">
              <a:srgbClr val="9AA5B1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7" name="Text 65"/>
          <p:cNvSpPr/>
          <p:nvPr/>
        </p:nvSpPr>
        <p:spPr>
          <a:xfrm>
            <a:off x="9363456" y="43525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1Password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9363456" y="45902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APIキー・SSH鍵管理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9253728" y="5001768"/>
            <a:ext cx="2377440" cy="0"/>
          </a:xfrm>
          <a:prstGeom prst="line">
            <a:avLst/>
          </a:prstGeom>
          <a:noFill/>
          <a:ln w="9525">
            <a:solidFill>
              <a:srgbClr val="5B4B8A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0" name="Text 68"/>
          <p:cNvSpPr/>
          <p:nvPr/>
        </p:nvSpPr>
        <p:spPr>
          <a:xfrm>
            <a:off x="9253728" y="50566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 err="1">
                <a:solidFill>
                  <a:srgbClr val="5B4B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既存契約を流用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9253728" y="527608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 ／ Microsoft Teams ／ Outlook ／ Entra ID　→ AI Ops Platform（14エージェント運用基盤）の前提はこの4つのみ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費用目安（AWS標準構成の試算）：PoC 約25〜50万円/月 ／ 本番 約250〜870万円/月（UC①②＋共通基盤。OSS・OSS LLM採用時は別途見積）｜機材・SaaS席数は開発者数確定後に積算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FY27 各プロジェクトは、この共通環境の「どこ」を使うか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個別最適で環境を都度構築せず、Ⓐ〜Ⓒの共通環境に相乗りする方針（重複投資・審査の重複を排除）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777240" cy="274320"/>
          </a:xfrm>
          <a:prstGeom prst="roundRect">
            <a:avLst>
              <a:gd name="adj" fmla="val 3000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6012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Ⓐ ローカル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0442448" y="274320"/>
            <a:ext cx="777240" cy="274320"/>
          </a:xfrm>
          <a:prstGeom prst="roundRect">
            <a:avLst>
              <a:gd name="adj" fmla="val 30000"/>
            </a:avLst>
          </a:prstGeom>
          <a:solidFill>
            <a:srgbClr val="1D5F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0442448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Ⓑ AWS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1283696" y="274320"/>
            <a:ext cx="502920" cy="274320"/>
          </a:xfrm>
          <a:prstGeom prst="roundRect">
            <a:avLst>
              <a:gd name="adj" fmla="val 30000"/>
            </a:avLst>
          </a:prstGeom>
          <a:solidFill>
            <a:srgbClr val="5B4B8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11283696" y="2743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Ⓒ SaaS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" y="1097280"/>
            <a:ext cx="11384280" cy="502920"/>
          </a:xfrm>
          <a:prstGeom prst="rect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502920" y="1207008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0F3B6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02920" y="12070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L3-A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88720" y="10972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4,000名展開・活用定着（利用率85%目標）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97880" y="1207008"/>
            <a:ext cx="329184" cy="274320"/>
          </a:xfrm>
          <a:prstGeom prst="roundRect">
            <a:avLst>
              <a:gd name="adj" fmla="val 30000"/>
            </a:avLst>
          </a:prstGeom>
          <a:solidFill>
            <a:srgbClr val="5B4B8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5897880" y="120700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Ⓒ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12280" y="10972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Enterprise席＋従量。トークン利用量はⒷのLiteLLMダッシュボードで一元計測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1709928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0F3B6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02920" y="170992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L3-A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88720" y="160020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AI駆動開発環境／SOL開発環境整備（AI開発課）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97880" y="1709928"/>
            <a:ext cx="329184" cy="274320"/>
          </a:xfrm>
          <a:prstGeom prst="roundRect">
            <a:avLst>
              <a:gd name="adj" fmla="val 3000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5897880" y="170992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Ⓐ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81928" y="1709928"/>
            <a:ext cx="329184" cy="274320"/>
          </a:xfrm>
          <a:prstGeom prst="roundRect">
            <a:avLst>
              <a:gd name="adj" fmla="val 30000"/>
            </a:avLst>
          </a:prstGeom>
          <a:solidFill>
            <a:srgbClr val="5B4B8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6281928" y="170992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12280" y="16002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開発者ごとにⒶ一式＋Ⓒの開発系SaaS（Codex・Droid・Tailscale・1Password）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11480" y="2103120"/>
            <a:ext cx="11384280" cy="502920"/>
          </a:xfrm>
          <a:prstGeom prst="rect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502920" y="2212848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0F3B6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502920" y="221284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L3-A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88720" y="210312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Mphasis／PopcornSAR エージェントPoC・手の内化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897880" y="2212848"/>
            <a:ext cx="329184" cy="274320"/>
          </a:xfrm>
          <a:prstGeom prst="roundRect">
            <a:avLst>
              <a:gd name="adj" fmla="val 3000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5897880" y="221284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Ⓐ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81928" y="2212848"/>
            <a:ext cx="329184" cy="274320"/>
          </a:xfrm>
          <a:prstGeom prst="roundRect">
            <a:avLst>
              <a:gd name="adj" fmla="val 30000"/>
            </a:avLst>
          </a:prstGeom>
          <a:solidFill>
            <a:srgbClr val="1D5F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6281928" y="221284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Ⓑ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12280" y="21031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Ⓐで検証 → ⒷのPoCアカウントで顧客提案用の再現環境を構築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02920" y="2715768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0F3B6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502920" y="271576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L3-B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88720" y="26060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AIキャリアアドバイザー（AMS／タレントポータル連携）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897880" y="2715768"/>
            <a:ext cx="329184" cy="274320"/>
          </a:xfrm>
          <a:prstGeom prst="roundRect">
            <a:avLst>
              <a:gd name="adj" fmla="val 30000"/>
            </a:avLst>
          </a:prstGeom>
          <a:solidFill>
            <a:srgbClr val="1D5F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5897880" y="271576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Ⓑ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281928" y="2715768"/>
            <a:ext cx="329184" cy="274320"/>
          </a:xfrm>
          <a:prstGeom prst="roundRect">
            <a:avLst>
              <a:gd name="adj" fmla="val 30000"/>
            </a:avLst>
          </a:prstGeom>
          <a:solidFill>
            <a:srgbClr val="5B4B8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6281928" y="271576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Ⓒ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812280" y="26060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Ⓑ UC②（Agent基盤）で構築。個人情報のため共通セキュリティ基盤＋審査必須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11480" y="3108960"/>
            <a:ext cx="11384280" cy="502920"/>
          </a:xfrm>
          <a:prstGeom prst="rect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41"/>
          <p:cNvSpPr/>
          <p:nvPr/>
        </p:nvSpPr>
        <p:spPr>
          <a:xfrm>
            <a:off x="502920" y="3218688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0F3B6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502920" y="321868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L1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188720" y="310896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営業Enablement／SOWコンフィグレーター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897880" y="3218688"/>
            <a:ext cx="329184" cy="274320"/>
          </a:xfrm>
          <a:prstGeom prst="roundRect">
            <a:avLst>
              <a:gd name="adj" fmla="val 30000"/>
            </a:avLst>
          </a:prstGeom>
          <a:solidFill>
            <a:srgbClr val="5B4B8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5897880" y="321868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Ⓒ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281928" y="3218688"/>
            <a:ext cx="329184" cy="274320"/>
          </a:xfrm>
          <a:prstGeom prst="roundRect">
            <a:avLst>
              <a:gd name="adj" fmla="val 30000"/>
            </a:avLst>
          </a:prstGeom>
          <a:solidFill>
            <a:srgbClr val="1D5F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6281928" y="321868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Ⓑ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812280" y="31089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営業はⒸのClaude活用が主。SOW自動化はⒷ UC②のワークフローを流用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02920" y="3721608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0F3B6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2" name="Text 50"/>
          <p:cNvSpPr/>
          <p:nvPr/>
        </p:nvSpPr>
        <p:spPr>
          <a:xfrm>
            <a:off x="502920" y="37216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L1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188720" y="36118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OSS LLM Platform（従量課金爆発対策）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897880" y="3721608"/>
            <a:ext cx="329184" cy="274320"/>
          </a:xfrm>
          <a:prstGeom prst="roundRect">
            <a:avLst>
              <a:gd name="adj" fmla="val 30000"/>
            </a:avLst>
          </a:prstGeom>
          <a:solidFill>
            <a:srgbClr val="1D5F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5897880" y="372160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Ⓑ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281928" y="3721608"/>
            <a:ext cx="329184" cy="274320"/>
          </a:xfrm>
          <a:prstGeom prst="roundRect">
            <a:avLst>
              <a:gd name="adj" fmla="val 3000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6281928" y="372160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Ⓐ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812280" y="36118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ⒷのLiteLLMゲートウェイ配下にOSS LLMを追加。事前検証はⒶのDGX Sparkで実施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11480" y="4114800"/>
            <a:ext cx="11384280" cy="502920"/>
          </a:xfrm>
          <a:prstGeom prst="rect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0" name="Shape 58"/>
          <p:cNvSpPr/>
          <p:nvPr/>
        </p:nvSpPr>
        <p:spPr>
          <a:xfrm>
            <a:off x="502920" y="4224528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0F3B6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9"/>
          <p:cNvSpPr/>
          <p:nvPr/>
        </p:nvSpPr>
        <p:spPr>
          <a:xfrm>
            <a:off x="502920" y="422452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L4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1188720" y="411480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製造業Vertical／暗黙知可視化（荏原・PKSHA協業）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5897880" y="4224528"/>
            <a:ext cx="329184" cy="274320"/>
          </a:xfrm>
          <a:prstGeom prst="roundRect">
            <a:avLst>
              <a:gd name="adj" fmla="val 30000"/>
            </a:avLst>
          </a:prstGeom>
          <a:solidFill>
            <a:srgbClr val="1D5F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4" name="Text 62"/>
          <p:cNvSpPr/>
          <p:nvPr/>
        </p:nvSpPr>
        <p:spPr>
          <a:xfrm>
            <a:off x="5897880" y="422452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Ⓑ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812280" y="41148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Ⓑ UC①（RAG基盤）を業界テンプレートとして横展開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02920" y="4727448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0F3B6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7" name="Text 65"/>
          <p:cNvSpPr/>
          <p:nvPr/>
        </p:nvSpPr>
        <p:spPr>
          <a:xfrm>
            <a:off x="502920" y="472744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L4/L6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1188720" y="461772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社内業務DX（Pragma）／社長AIエージェント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5897880" y="4727448"/>
            <a:ext cx="329184" cy="274320"/>
          </a:xfrm>
          <a:prstGeom prst="roundRect">
            <a:avLst>
              <a:gd name="adj" fmla="val 30000"/>
            </a:avLst>
          </a:prstGeom>
          <a:solidFill>
            <a:srgbClr val="1D5F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0" name="Text 68"/>
          <p:cNvSpPr/>
          <p:nvPr/>
        </p:nvSpPr>
        <p:spPr>
          <a:xfrm>
            <a:off x="5897880" y="472744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Ⓑ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281928" y="4727448"/>
            <a:ext cx="329184" cy="274320"/>
          </a:xfrm>
          <a:prstGeom prst="roundRect">
            <a:avLst>
              <a:gd name="adj" fmla="val 30000"/>
            </a:avLst>
          </a:prstGeom>
          <a:solidFill>
            <a:srgbClr val="5B4B8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2" name="Text 70"/>
          <p:cNvSpPr/>
          <p:nvPr/>
        </p:nvSpPr>
        <p:spPr>
          <a:xfrm>
            <a:off x="6281928" y="472744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Ⓒ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812280" y="4617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Ⓑ UC①②＋ⒸのMCP連携（申請・承認フロー経由）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11480" y="5120640"/>
            <a:ext cx="11384280" cy="502920"/>
          </a:xfrm>
          <a:prstGeom prst="rect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5" name="Shape 73"/>
          <p:cNvSpPr/>
          <p:nvPr/>
        </p:nvSpPr>
        <p:spPr>
          <a:xfrm>
            <a:off x="502920" y="5230368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0F3B6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6" name="Text 74"/>
          <p:cNvSpPr/>
          <p:nvPr/>
        </p:nvSpPr>
        <p:spPr>
          <a:xfrm>
            <a:off x="502920" y="523036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L6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1188720" y="51206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オンサイト向けローカルLLM PoC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5897880" y="5230368"/>
            <a:ext cx="329184" cy="274320"/>
          </a:xfrm>
          <a:prstGeom prst="roundRect">
            <a:avLst>
              <a:gd name="adj" fmla="val 3000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9" name="Text 77"/>
          <p:cNvSpPr/>
          <p:nvPr/>
        </p:nvSpPr>
        <p:spPr>
          <a:xfrm>
            <a:off x="5897880" y="523036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Ⓐ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812280" y="51206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ⒶのDGX Sparkでオフライン検証（顧客データを外部に出さない）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502920" y="5733288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0F3B6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2" name="Text 80"/>
          <p:cNvSpPr/>
          <p:nvPr/>
        </p:nvSpPr>
        <p:spPr>
          <a:xfrm>
            <a:off x="502920" y="573328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1188720" y="562356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 Ops Platform（PrjOps／DevOps 14エージェント）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5897880" y="5733288"/>
            <a:ext cx="329184" cy="274320"/>
          </a:xfrm>
          <a:prstGeom prst="roundRect">
            <a:avLst>
              <a:gd name="adj" fmla="val 30000"/>
            </a:avLst>
          </a:prstGeom>
          <a:solidFill>
            <a:srgbClr val="5B4B8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5" name="Text 83"/>
          <p:cNvSpPr/>
          <p:nvPr/>
        </p:nvSpPr>
        <p:spPr>
          <a:xfrm>
            <a:off x="5897880" y="573328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Ⓒ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6812280" y="56235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既存4契約のみで稼働（新規SaaS 0）。DevOps常駐コンテナの実行環境割当のみ依頼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457200" y="62362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各PJの予算・ライセンス数の明細は別紙「FY27 IT部門向けリソース計画（Excel）」参照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 AI CoE室で構築・運用し、課題を抽出したうえで全社展開へ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本提案の趣旨：いきなり全社導入はしない。今回ご承認いただきたいのは STEP 1（AI CoE室スコープ）の環境のみ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3520440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49808" y="1481328"/>
            <a:ext cx="960120" cy="329184"/>
          </a:xfrm>
          <a:prstGeom prst="roundRect">
            <a:avLst>
              <a:gd name="adj" fmla="val 2500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49808" y="1481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3127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FY27：AI CoE室で先行構築・運用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487168"/>
            <a:ext cx="31272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利用者は AI CoE室＋AI開発課に限定（全社公開しない）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Ⓐ開発機は必要最小台数、Ⓑは単一のPoCアカウントで開始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実案件PoC（UC①RAG／UC②Agent）で実運用データ・コスト実績を取得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49808" y="4133088"/>
            <a:ext cx="3127248" cy="329184"/>
          </a:xfrm>
          <a:prstGeom prst="roundRect">
            <a:avLst>
              <a:gd name="adj" fmla="val 16667"/>
            </a:avLst>
          </a:prstGeom>
          <a:solidFill>
            <a:srgbClr val="FFF3D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49808" y="4133088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7C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今回の承認範囲はここまで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33088" y="2697480"/>
            <a:ext cx="384048" cy="502920"/>
          </a:xfrm>
          <a:prstGeom prst="chevron">
            <a:avLst/>
          </a:prstGeom>
          <a:solidFill>
            <a:srgbClr val="FFD98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4526280" y="1298448"/>
            <a:ext cx="3520440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4727448" y="1481328"/>
            <a:ext cx="960120" cy="329184"/>
          </a:xfrm>
          <a:prstGeom prst="roundRect">
            <a:avLst>
              <a:gd name="adj" fmla="val 25000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727448" y="1481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27448" y="1883664"/>
            <a:ext cx="3127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運用しながら問題点・課題を抽出 → 型化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82312" y="2487168"/>
            <a:ext cx="31272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セキュリティ（権限・データ持出し）／コスト（従量課金）／運用負荷の課題を洗い出し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申請・承認フロー、ガイドライン、構成テンプレートとして標準化（IT部門と共同）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月次で経営ダッシュボードへ報告し、FY28投資判断の材料に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27448" y="4133088"/>
            <a:ext cx="3127248" cy="329184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4727448" y="4133088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IT部門と共同で実施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110728" y="2697480"/>
            <a:ext cx="384048" cy="502920"/>
          </a:xfrm>
          <a:prstGeom prst="chevron">
            <a:avLst/>
          </a:prstGeom>
          <a:solidFill>
            <a:srgbClr val="FFD98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8503920" y="1298448"/>
            <a:ext cx="3520440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8705088" y="1481328"/>
            <a:ext cx="960120" cy="329184"/>
          </a:xfrm>
          <a:prstGeom prst="roundRect">
            <a:avLst>
              <a:gd name="adj" fmla="val 25000"/>
            </a:avLst>
          </a:prstGeom>
          <a:solidFill>
            <a:srgbClr val="1D5F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8705088" y="14813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705088" y="1883664"/>
            <a:ext cx="3127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FY28〜：</a:t>
            </a:r>
            <a:r>
              <a:rPr lang="en-US" sz="1300" b="1" dirty="0" err="1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検証済みの構成で</a:t>
            </a:r>
            <a:r>
              <a:rPr lang="ja-JP" altLang="en-US" sz="13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顧客及び必要部署へ</a:t>
            </a:r>
            <a:r>
              <a:rPr lang="en-US" sz="1300" b="1" dirty="0" err="1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展開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59952" y="2487168"/>
            <a:ext cx="31272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 err="1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課題をつぶした構成・ルールを</a:t>
            </a:r>
            <a:r>
              <a:rPr lang="ja-JP" altLang="en-US" sz="9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顧客・必要部署</a:t>
            </a:r>
            <a:r>
              <a:rPr lang="en-US" sz="950" dirty="0" err="1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へ横展開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4,000名 → </a:t>
            </a:r>
            <a:r>
              <a:rPr lang="ja-JP" altLang="en-US" sz="9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大企業約</a:t>
            </a:r>
            <a:r>
              <a:rPr lang="en-US" altLang="ja-JP" sz="9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</a:t>
            </a:r>
            <a:r>
              <a:rPr lang="en-US" sz="9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,000人スケールを見据えた基盤へ拡張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OSS／OSS LLM への移行でコスト構造を最適化（再見積のうえ改めて申請）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705088" y="4133088"/>
            <a:ext cx="3127248" cy="329184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8705088" y="4133088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5F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改めて申請・承認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89204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1B3A5C"/>
          </a:solidFill>
          <a:ln w="12700">
            <a:solidFill>
              <a:srgbClr val="FFD98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777240" y="489204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IT部門へのお願い：STEP 1 は「限定スコープの先行運用」としてご承認ください。課題抽出の結果（STEP 2）をIT部門と共有・共同で型化し、全社展開（STEP 3）は根拠データを添えて改めて申請します。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5779008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D98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約25〜50万円/月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548640" y="6254496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 のクラウド費用目安（PoC・共通基盤込）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315968" y="5779008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 err="1">
                <a:solidFill>
                  <a:srgbClr val="FFD98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新規SaaS</a:t>
            </a:r>
            <a:r>
              <a:rPr lang="en-US" sz="2100" b="1" dirty="0">
                <a:solidFill>
                  <a:srgbClr val="FFD98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4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4315968" y="6254496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 Ops運用基盤（既存1+</a:t>
            </a:r>
            <a:r>
              <a:rPr lang="ja-JP" altLang="en-US" sz="9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</a:t>
            </a:r>
            <a:r>
              <a:rPr lang="en-US" altLang="ja-JP" sz="9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r>
              <a:rPr lang="en-US" sz="9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契約で稼働）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083296" y="5779008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D98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FY28に再申請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8083296" y="6254496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9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必要部署</a:t>
            </a:r>
            <a:r>
              <a:rPr lang="en-US" sz="9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展開（約250〜870万円/月目安）は再見積のうえ判断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認証・認可：なにが・どのように必要か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原則：SSO＋MFAで「人」を一元認証し、権限は最小権限ロールで「取得側」に強制する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0F3B66"/>
            </a:solidFill>
            <a:prstDash val="solid"/>
          </a:ln>
          <a:effectLst>
            <a:outerShdw blurRad="50800" dist="12700" dir="5400000" algn="bl" rotWithShape="0">
              <a:srgbClr val="9AA5B1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社内ユーザー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社員・AI CoE・運用者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194560" y="1463040"/>
            <a:ext cx="502920" cy="0"/>
          </a:xfrm>
          <a:prstGeom prst="line">
            <a:avLst/>
          </a:prstGeom>
          <a:noFill/>
          <a:ln w="22225">
            <a:solidFill>
              <a:srgbClr val="0F3B66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2697480" y="1078992"/>
            <a:ext cx="3063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0F3B66"/>
            </a:solidFill>
            <a:prstDash val="solid"/>
          </a:ln>
          <a:effectLst>
            <a:outerShdw blurRad="50800" dist="12700" dir="5400000" algn="bl" rotWithShape="0">
              <a:srgbClr val="9AA5B1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2697480" y="113385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IdP（一元認証・SSO＋MFA）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88920" y="14173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Entra ID（既存M365）＋ AWS IAM Identity Center／Cognito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760720" y="1463040"/>
            <a:ext cx="502920" cy="0"/>
          </a:xfrm>
          <a:prstGeom prst="line">
            <a:avLst/>
          </a:prstGeom>
          <a:noFill/>
          <a:ln w="22225">
            <a:solidFill>
              <a:srgbClr val="0F3B66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6263640" y="1078992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0E7C86"/>
            </a:solidFill>
            <a:prstDash val="solid"/>
          </a:ln>
          <a:effectLst>
            <a:outerShdw blurRad="50800" dist="12700" dir="5400000" algn="bl" rotWithShape="0">
              <a:srgbClr val="9AA5B1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6263640" y="113385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C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Ⓐ ローカル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18504" y="1389888"/>
            <a:ext cx="1673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Tailscale ACL（ユーザー/タグ）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138160" y="1078992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D5FA8"/>
            </a:solidFill>
            <a:prstDash val="solid"/>
          </a:ln>
          <a:effectLst>
            <a:outerShdw blurRad="50800" dist="12700" dir="5400000" algn="bl" rotWithShape="0">
              <a:srgbClr val="9AA5B1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8138160" y="113385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5F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Ⓑ AWS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193024" y="1389888"/>
            <a:ext cx="1673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IAM 最小権限ロール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012680" y="1078992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5B4B8A"/>
            </a:solidFill>
            <a:prstDash val="solid"/>
          </a:ln>
          <a:effectLst>
            <a:outerShdw blurRad="50800" dist="12700" dir="5400000" algn="bl" rotWithShape="0">
              <a:srgbClr val="9AA5B1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10012680" y="113385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4B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Ⓒ SaaS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67544" y="1389888"/>
            <a:ext cx="1673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各SaaSへSSO/SCIM連携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148840"/>
            <a:ext cx="5532120" cy="1938528"/>
          </a:xfrm>
          <a:prstGeom prst="roundRect">
            <a:avLst>
              <a:gd name="adj" fmla="val 3302"/>
            </a:avLst>
          </a:prstGeom>
          <a:solidFill>
            <a:srgbClr val="F7F9FC"/>
          </a:solidFill>
          <a:ln w="15875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621792" y="2295144"/>
            <a:ext cx="310896" cy="310896"/>
          </a:xfrm>
          <a:prstGeom prst="ellipse">
            <a:avLst/>
          </a:prstGeom>
          <a:solidFill>
            <a:srgbClr val="1D5F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621792" y="2295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4128" y="227685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認証（Authentication）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2660904"/>
            <a:ext cx="51206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AWS：IAM Identity Center／Cognito で SSO＋MFA（全アカウント共通の入口）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Microsoft 365／AI Ops Platform WebUI：Entra ID 認証（既存基盤を流用）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SaaS（Claude Enterprise 等）：SSO・SCIM で入退社に連動した自動プロビジョニング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72200" y="2148840"/>
            <a:ext cx="5532120" cy="1938528"/>
          </a:xfrm>
          <a:prstGeom prst="roundRect">
            <a:avLst>
              <a:gd name="adj" fmla="val 3302"/>
            </a:avLst>
          </a:prstGeom>
          <a:solidFill>
            <a:srgbClr val="F7F9FC"/>
          </a:solidFill>
          <a:ln w="15875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6336792" y="2295144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6336792" y="2295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39128" y="227685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認可（Authorization：最小権限）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46520" y="2660904"/>
            <a:ext cx="51206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IAM：モデル呼出・エージェント実行・Knowledge Bases アクセスをロール別に最小権限化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 Ops Platform：6ペルソナ別権限フィルタを「データ取得側」で強制（後付けマスキング禁止）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GitHub：ブランチ保護＝AIはPR作成まで・mainへのマージは人間レビュアーのみ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4233672"/>
            <a:ext cx="5532120" cy="1938528"/>
          </a:xfrm>
          <a:prstGeom prst="roundRect">
            <a:avLst>
              <a:gd name="adj" fmla="val 3302"/>
            </a:avLst>
          </a:prstGeom>
          <a:solidFill>
            <a:srgbClr val="F7F9FC"/>
          </a:solidFill>
          <a:ln w="15875">
            <a:solidFill>
              <a:srgbClr val="5B4B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621792" y="4379976"/>
            <a:ext cx="310896" cy="310896"/>
          </a:xfrm>
          <a:prstGeom prst="ellipse">
            <a:avLst/>
          </a:prstGeom>
          <a:solidFill>
            <a:srgbClr val="5B4B8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621792" y="4379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24128" y="436168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鍵・シークレット管理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31520" y="4745736"/>
            <a:ext cx="51206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APIキー・SSH鍵は 1Password で一元管理（平文配布・共有ドライブ保管を禁止）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保存データは AWS KMS（カスタマー管理キー）で暗号化（S3／OpenSearch／DynamoDB）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AI入出力は3層サニタイズ（DB保存前・AI入力前・出力前）で秘密情報を除去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72200" y="4233672"/>
            <a:ext cx="5532120" cy="1938528"/>
          </a:xfrm>
          <a:prstGeom prst="roundRect">
            <a:avLst>
              <a:gd name="adj" fmla="val 3302"/>
            </a:avLst>
          </a:prstGeom>
          <a:solidFill>
            <a:srgbClr val="F7F9FC"/>
          </a:solidFill>
          <a:ln w="1587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6336792" y="4379976"/>
            <a:ext cx="310896" cy="310896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6336792" y="4379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39128" y="436168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監査・failsafe（失効）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46520" y="4745736"/>
            <a:ext cx="51206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CloudTrail 組織証跡＋追記専用監査ログ（UPDATE/DELETE は権限層でも禁止）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JIT権限：AGT-SEC が毎分失効判定。本番デプロイ・重要報告は人間承認ゲート必須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GuardDuty／Security Hub で不審挙動を常時検知し、月次で経営報告へ反映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" y="6355080"/>
            <a:ext cx="11292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B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IT部門への依頼：① Entra ID⇄IAM Identity Center のフェデレーション設定　② SaaS各社のSSO/SCIM接続承認　③ MCP・社内システム接続の申請・承認フロー（WBS No.5）の共同整備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1054</Words>
  <Application>Microsoft Office PowerPoint</Application>
  <PresentationFormat>ワイド画面</PresentationFormat>
  <Paragraphs>161</Paragraphs>
  <Slides>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7" baseType="lpstr">
      <vt:lpstr>Yu Gothic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守屋 文雄/TechnoPro Holdings</cp:lastModifiedBy>
  <cp:revision>4</cp:revision>
  <dcterms:created xsi:type="dcterms:W3CDTF">2026-07-14T23:55:54Z</dcterms:created>
  <dcterms:modified xsi:type="dcterms:W3CDTF">2026-07-16T23:52:38Z</dcterms:modified>
</cp:coreProperties>
</file>