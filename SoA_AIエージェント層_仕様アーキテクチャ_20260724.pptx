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566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｜ ① 方針 ― PKSHA社協業の再定義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 → AFTER ― 「個別エージェントを開発する」から「基盤に設定を載せる」へ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47888" y="21945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47888" y="21945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共通基盤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400032" y="21945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400032" y="21945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個別設定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552176" y="21945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552176" y="21945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共同開発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F1F3F6"/>
          </a:solidFill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02920" y="1078992"/>
            <a:ext cx="5349240" cy="365760"/>
          </a:xfrm>
          <a:prstGeom prst="roundRect">
            <a:avLst>
              <a:gd name="adj" fmla="val 15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107899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 ― PKSHA社ご提案（個別開発 → 型化Lv1〜Lv3）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1591056"/>
            <a:ext cx="157276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0664" y="16276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ノウハウ抽出AI
</a:t>
            </a:r>
            <a:r>
              <a:rPr lang="en-US" sz="7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顧客ごとに個別開発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0" y="1591056"/>
            <a:ext cx="157276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432304" y="16276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意思決定支援AI
</a:t>
            </a:r>
            <a:r>
              <a:rPr lang="en-US" sz="7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顧客ごとに個別開発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9080" y="1591056"/>
            <a:ext cx="157276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123944" y="16276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業務特化AI
</a:t>
            </a:r>
            <a:r>
              <a:rPr lang="en-US" sz="7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顧客ごとに個別開発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22128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型化Lv1（PKSHA社が個別ソリューションとして開発）→ Lv2（類似案件で効率化）→ Lv3（TP/CPのみで提供）へ段階的に移行する構想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2779776"/>
            <a:ext cx="4983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C7C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95528" y="27797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エージェント＝「開発物」。顧客・業務が増えるほど個別開発も増える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3236976"/>
            <a:ext cx="4983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C7C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95528" y="32369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Lv3到達までPKSHA社リソースへの依存が続き、スケールが人に律速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3694176"/>
            <a:ext cx="4983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C7C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95528" y="36941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知見が案件ごとに閉じ、次の現場へ複利が効きにくい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25312" y="2377440"/>
            <a:ext cx="384048" cy="548640"/>
          </a:xfrm>
          <a:prstGeom prst="rightArrow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355080" y="1078992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E9F5F6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355080" y="1078992"/>
            <a:ext cx="5349240" cy="36576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92240" y="107899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 ― AI CoE構想（共通のエージェント基盤 ＋ 個別の設定）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1572768"/>
            <a:ext cx="4983480" cy="512064"/>
          </a:xfrm>
          <a:prstGeom prst="roundRect">
            <a:avLst>
              <a:gd name="adj" fmla="val 8929"/>
            </a:avLst>
          </a:prstGeom>
          <a:solidFill>
            <a:srgbClr val="FBF0E1"/>
          </a:solidFill>
          <a:ln w="15875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647688" y="1572768"/>
            <a:ext cx="4764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個別＝設定ファイル（Harness）　</a:t>
            </a: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rules・SKILLS・task契約・検証ゲート ― 1業務ごとに1本のハーネスとして構築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47404" y="2103120"/>
            <a:ext cx="164592" cy="146304"/>
          </a:xfrm>
          <a:prstGeom prst="downArrow">
            <a:avLst/>
          </a:prstGeom>
          <a:solidFill>
            <a:srgbClr val="5B65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537960" y="2267712"/>
            <a:ext cx="49834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647688" y="2267712"/>
            <a:ext cx="4764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共通＝エージェント基盤　</a:t>
            </a: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lead・worker・verifier ＋ 検証ゲート ＋ Ontosphere接続（全顧客で同一）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37960" y="2871216"/>
            <a:ext cx="4983480" cy="512064"/>
          </a:xfrm>
          <a:prstGeom prst="roundRect">
            <a:avLst>
              <a:gd name="adj" fmla="val 8929"/>
            </a:avLst>
          </a:prstGeom>
          <a:solidFill>
            <a:srgbClr val="F5EBF1"/>
          </a:solidFill>
          <a:ln w="15875">
            <a:solidFill>
              <a:srgbClr val="7A3E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647688" y="2871216"/>
            <a:ext cx="4764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展開・運用＝Graph ＋ RSI　</a:t>
            </a: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複数ハーネスを部署・企業へ配線（Graph）し、運用後はAI自身が継続最適化（Gated RSI）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37960" y="3474720"/>
            <a:ext cx="49834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647688" y="3474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 個別開発は設定のみ ― 初日から型化Lv3相当、2社目以降は速く・安く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37960" y="3895344"/>
            <a:ext cx="49834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647688" y="38953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 知見は基盤へ還流し、AI自身の改善で全顧客の品質が複利で向上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" y="4425696"/>
            <a:ext cx="11201400" cy="1755648"/>
          </a:xfrm>
          <a:prstGeom prst="roundRect">
            <a:avLst>
              <a:gd name="adj" fmla="val 3125"/>
            </a:avLst>
          </a:prstGeom>
          <a:solidFill>
            <a:srgbClr val="EFEAF7"/>
          </a:solidFill>
          <a:ln w="19050">
            <a:solidFill>
              <a:srgbClr val="6D4F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58368" y="44988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PKSHA社との共同開発領域 ― 3つに限定し、双方の強みを「基盤に載る部品」にする（位置はP.2の全体図に紫色で図示）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" y="4791456"/>
            <a:ext cx="3547872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58952" y="484632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ナレッジ抽出Agent部品
</a:t>
            </a: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ヒアリングAI（動的対話戦略）・先輩AI（解の共同探索）を、基盤上で動くAgentパターン＋SKILLSとして共同で型化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8952" y="561441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P.2では紫：SoA層の「共同開発の部品」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334256" y="4791456"/>
            <a:ext cx="3547872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434840" y="484632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中間層との標準I/F
</a:t>
            </a: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セマンティック（凍結済みの定義）×コンテキスト（解釈）を、SoAから共通の仕組みで呼び出す接続仕様を共同設計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434840" y="561441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P.2では紫：SoA⇄中間層の「標準I/F」ブロック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010144" y="4791456"/>
            <a:ext cx="3547872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8110728" y="484632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業種×工程パターン
</a:t>
            </a: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テスト営業でニーズ確認済みの「設計」「保全」から、設定ファイル一式のパターンテンプレートを共同整備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110728" y="561441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P.2では紫：ハーネスの部品欄（横展開はP.4）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58368" y="59070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役割分担：エージェント基盤・UI・現場定着（現場常駐エンジニア＋FDE）＝テクノプロ ／ ナレッジ抽出技術・先行ユースケース＝PKSHA社 ― 既製品・投資先で充当する領域はP.2の灰色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2920" y="6327648"/>
            <a:ext cx="1120140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85800" y="63276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PKSHA社の技術を「案件ごとの個別開発」でなく「基盤に載る部品」に ― 協業の成果が案件を重ねるほど複利で積み上がる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｜ ② 全体像 ― 4層アーキテクチャと役割分担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SoAエージェント基盤の全体像 ― 色がそのまま役割分担：誰が作り、何を買い、どこを共同開発するか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0" y="219456"/>
            <a:ext cx="1207008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0" y="2194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テクノプロ内製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863840" y="219456"/>
            <a:ext cx="1207008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863840" y="2194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PKSHA共同開発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0" y="219456"/>
            <a:ext cx="1207008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0" y="2194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決定済プロダクト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424160" y="219456"/>
            <a:ext cx="1207008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424160" y="2194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既製品・投資先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060704"/>
            <a:ext cx="749808" cy="566928"/>
          </a:xfrm>
          <a:prstGeom prst="roundRect">
            <a:avLst>
              <a:gd name="adj" fmla="val 9677"/>
            </a:avLst>
          </a:prstGeom>
          <a:solidFill>
            <a:srgbClr val="C96A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02920" y="106070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1883664"/>
            <a:ext cx="749808" cy="2761488"/>
          </a:xfrm>
          <a:prstGeom prst="roundRect">
            <a:avLst>
              <a:gd name="adj" fmla="val 7317"/>
            </a:avLst>
          </a:prstGeom>
          <a:solidFill>
            <a:srgbClr val="C96A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2920" y="1883664"/>
            <a:ext cx="74980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5029200"/>
            <a:ext cx="749808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02920" y="502920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5797296"/>
            <a:ext cx="749808" cy="402336"/>
          </a:xfrm>
          <a:prstGeom prst="roundRect">
            <a:avLst>
              <a:gd name="adj" fmla="val 13636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02920" y="579729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89888" y="1060704"/>
            <a:ext cx="10314432" cy="566928"/>
          </a:xfrm>
          <a:prstGeom prst="roundRect">
            <a:avLst>
              <a:gd name="adj" fmla="val 8065"/>
            </a:avLst>
          </a:prstGeom>
          <a:solidFill>
            <a:srgbClr val="F7F9FC"/>
          </a:solidFill>
          <a:ln w="9525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527048" y="10607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業務ユーザとの接点（UI層）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67328" y="1170432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767328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意思決定支援UI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33288" y="1170432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733288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業務特化UI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99248" y="1170432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699248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ノウハウ抽出UI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56648" y="11155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+ Droid で高速内製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122408" y="13716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6350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0122408" y="1371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テクノプロ内製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88920" y="1664208"/>
            <a:ext cx="201168" cy="219456"/>
          </a:xfrm>
          <a:prstGeom prst="downArrow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035808" y="16459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依頼を task契約 に翻訳（変更範囲・受け入れ条件・検証方法）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229600" y="1664208"/>
            <a:ext cx="201168" cy="219456"/>
          </a:xfrm>
          <a:prstGeom prst="upArrow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76488" y="16459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 を通過した成果のみ返す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389888" y="1883664"/>
            <a:ext cx="10314432" cy="2761488"/>
          </a:xfrm>
          <a:prstGeom prst="roundRect">
            <a:avLst>
              <a:gd name="adj" fmla="val 1987"/>
            </a:avLst>
          </a:prstGeom>
          <a:solidFill>
            <a:srgbClr val="FDFDFE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499616" y="1956816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6350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499616" y="1956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テクノプロ内製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68880" y="1956816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2468880" y="1956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標準Agent群は決定済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44768" y="1947672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この枠内＝1プロジェクト単位に構築する「ハーネス」（Harness Engineering ― 作り方・広げ方はP.4）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554480" y="21945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三役のチーム構成（lead・worker・verifier）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554480" y="2450592"/>
            <a:ext cx="32461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645920" y="2487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lead ― 統括・調停（人間=FDEの窓口）
</a:t>
            </a: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task分割と dispatch。review を通った成果のみ統合する唯一の編集者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04388" y="3054096"/>
            <a:ext cx="146304" cy="128016"/>
          </a:xfrm>
          <a:prstGeom prst="downArrow">
            <a:avLst/>
          </a:prstGeom>
          <a:solidFill>
            <a:srgbClr val="5B65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554480" y="3163824"/>
            <a:ext cx="32461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164592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worker × N ― 実行
</a:t>
            </a: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task契約を claim し、隔離環境で並列実装。増減は設定変更のみ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104388" y="3767328"/>
            <a:ext cx="146304" cy="128016"/>
          </a:xfrm>
          <a:prstGeom prst="downArrow">
            <a:avLst/>
          </a:prstGeom>
          <a:solidFill>
            <a:srgbClr val="5B65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1554480" y="3877056"/>
            <a:ext cx="32461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1645920" y="39136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verifier ― 独立検証
</a:t>
            </a: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編集権を持たない審査役。OK / FIX / ASK_LEAD を返し監査を成立させる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47488" y="2194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taskライフサイクル = 改善ループの実体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47488" y="2450592"/>
            <a:ext cx="3108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120640" y="2450592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task契約の作成（lead）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537960" y="2770632"/>
            <a:ext cx="128016" cy="109728"/>
          </a:xfrm>
          <a:prstGeom prst="downArrow">
            <a:avLst/>
          </a:prstGeom>
          <a:solidFill>
            <a:srgbClr val="5B65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5047488" y="2866644"/>
            <a:ext cx="3108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120640" y="286664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dispatch → claim → 実装（worker）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537960" y="3186684"/>
            <a:ext cx="128016" cy="109728"/>
          </a:xfrm>
          <a:prstGeom prst="downArrow">
            <a:avLst/>
          </a:prstGeom>
          <a:solidFill>
            <a:srgbClr val="5B65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5047488" y="3282696"/>
            <a:ext cx="3108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22225">
            <a:solidFill>
              <a:srgbClr val="A625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5120640" y="3282696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625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検証ゲート：format・lint・type・test・smoke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537960" y="3602736"/>
            <a:ext cx="128016" cy="109728"/>
          </a:xfrm>
          <a:prstGeom prst="downArrow">
            <a:avLst/>
          </a:prstGeom>
          <a:solidFill>
            <a:srgbClr val="5B65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5047488" y="3698748"/>
            <a:ext cx="3108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5120640" y="3698748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review（verifier）：OK / FIX / ASK_LEAD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537960" y="4018788"/>
            <a:ext cx="128016" cy="109728"/>
          </a:xfrm>
          <a:prstGeom prst="downArrow">
            <a:avLst/>
          </a:prstGeom>
          <a:solidFill>
            <a:srgbClr val="5B65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5047488" y="4114800"/>
            <a:ext cx="31089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5120640" y="4114800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統合（lead）― 通過した成果のみ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047488" y="4480560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FIX＝workerへ差し戻し ／ ASK_LEAD＝leadが調停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476488" y="21945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ハーネス ― 設定と部品（エージェントが働く環境）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476488" y="2450592"/>
            <a:ext cx="96926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8522208" y="2478024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rules
</a:t>
            </a:r>
            <a:r>
              <a:rPr lang="en-US" sz="6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行動規範・統制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518904" y="2450592"/>
            <a:ext cx="96926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9564624" y="2478024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
</a:t>
            </a:r>
            <a:r>
              <a:rPr lang="en-US" sz="6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工程ノウハウの型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0561320" y="2450592"/>
            <a:ext cx="96926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10607040" y="2478024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Hooks
</a:t>
            </a:r>
            <a:r>
              <a:rPr lang="en-US" sz="6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自動チェック介入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476488" y="3017520"/>
            <a:ext cx="96926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8522208" y="3044952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Wiki
</a:t>
            </a:r>
            <a:r>
              <a:rPr lang="en-US" sz="6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知識・失敗様式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518904" y="3017520"/>
            <a:ext cx="96926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9564624" y="3044952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
</a:t>
            </a:r>
            <a:r>
              <a:rPr lang="en-US" sz="6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合格条件の機械化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0561320" y="3017520"/>
            <a:ext cx="96926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10607040" y="3044952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queue
</a:t>
            </a:r>
            <a:r>
              <a:rPr lang="en-US" sz="6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task台帳(file正本)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476488" y="3602736"/>
            <a:ext cx="3063240" cy="621792"/>
          </a:xfrm>
          <a:prstGeom prst="roundRect">
            <a:avLst>
              <a:gd name="adj" fmla="val 7353"/>
            </a:avLst>
          </a:prstGeom>
          <a:solidFill>
            <a:srgbClr val="EFEAF7"/>
          </a:solidFill>
          <a:ln w="15875">
            <a:solidFill>
              <a:srgbClr val="6D4F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8567928" y="36484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PKSHA共同開発の部品（P.1の①③）
</a:t>
            </a:r>
            <a:r>
              <a:rPr lang="en-US" sz="7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ナレッジ抽出Agent部品（ヒアリングAI・先輩AI）／業種×工程パターンテンプレ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476488" y="4297680"/>
            <a:ext cx="3063240" cy="310896"/>
          </a:xfrm>
          <a:prstGeom prst="roundRect">
            <a:avLst>
              <a:gd name="adj" fmla="val 14706"/>
            </a:avLst>
          </a:prstGeom>
          <a:solidFill>
            <a:srgbClr val="F5EBF1"/>
          </a:solidFill>
          <a:ln w="9525">
            <a:solidFill>
              <a:srgbClr val="7A3E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8558784" y="4306824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運用ログ・失敗報告 → AI自身が rules・SKILLS を継続改善（Gated RSI → P.4）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2395728" y="4718304"/>
            <a:ext cx="182880" cy="237744"/>
          </a:xfrm>
          <a:prstGeom prst="downArrow">
            <a:avLst/>
          </a:prstGeom>
          <a:solidFill>
            <a:srgbClr val="6D4FA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2651760" y="4718304"/>
            <a:ext cx="182880" cy="237744"/>
          </a:xfrm>
          <a:prstGeom prst="upArrow">
            <a:avLst/>
          </a:prstGeom>
          <a:solidFill>
            <a:srgbClr val="6D4FA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3017520" y="4700016"/>
            <a:ext cx="7223760" cy="292608"/>
          </a:xfrm>
          <a:prstGeom prst="roundRect">
            <a:avLst>
              <a:gd name="adj" fmla="val 15625"/>
            </a:avLst>
          </a:prstGeom>
          <a:solidFill>
            <a:srgbClr val="EFEAF7"/>
          </a:solidFill>
          <a:ln w="15875">
            <a:solidFill>
              <a:srgbClr val="6D4F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3127248" y="4700016"/>
            <a:ext cx="7004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標準I/F（PKSHA共同開発＝P.1の②）　</a:t>
            </a: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セマンティック×コンテキストを共通の仕組み（MCP）で呼び出す ― 参照 ⇄ 蓄積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10424160" y="4718304"/>
            <a:ext cx="182880" cy="237744"/>
          </a:xfrm>
          <a:prstGeom prst="downArrow">
            <a:avLst/>
          </a:prstGeom>
          <a:solidFill>
            <a:srgbClr val="6D4FA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10680192" y="4718304"/>
            <a:ext cx="182880" cy="237744"/>
          </a:xfrm>
          <a:prstGeom prst="upArrow">
            <a:avLst/>
          </a:prstGeom>
          <a:solidFill>
            <a:srgbClr val="6D4FA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Shape 87"/>
          <p:cNvSpPr/>
          <p:nvPr/>
        </p:nvSpPr>
        <p:spPr>
          <a:xfrm>
            <a:off x="1389888" y="5029200"/>
            <a:ext cx="10314432" cy="548640"/>
          </a:xfrm>
          <a:prstGeom prst="roundRect">
            <a:avLst>
              <a:gd name="adj" fmla="val 8333"/>
            </a:avLst>
          </a:prstGeom>
          <a:solidFill>
            <a:srgbClr val="E9F5F6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/>
          <p:nvPr/>
        </p:nvSpPr>
        <p:spPr>
          <a:xfrm>
            <a:off x="1527048" y="5029200"/>
            <a:ext cx="9308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Ontosphere ナレッジグラフ（Mphasis NeoIP）　</a:t>
            </a:r>
            <a:r>
              <a:rPr lang="en-US" sz="8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凍結済みの「定義」（セマンティック）と状況で変わる「解釈」（コンテキスト）を分離して保持 ― 全AgentとUIが同じ知識を共有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0863072" y="5202936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90"/>
          <p:cNvSpPr/>
          <p:nvPr/>
        </p:nvSpPr>
        <p:spPr>
          <a:xfrm>
            <a:off x="10863072" y="52029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決定済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749040" y="5605272"/>
            <a:ext cx="182880" cy="146304"/>
          </a:xfrm>
          <a:prstGeom prst="up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" name="Text 92"/>
          <p:cNvSpPr/>
          <p:nvPr/>
        </p:nvSpPr>
        <p:spPr>
          <a:xfrm>
            <a:off x="4023360" y="55778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記録データに意味づけ（セマンティック統合）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1389888" y="5797296"/>
            <a:ext cx="10314432" cy="402336"/>
          </a:xfrm>
          <a:prstGeom prst="roundRect">
            <a:avLst>
              <a:gd name="adj" fmla="val 11364"/>
            </a:avLst>
          </a:prstGeom>
          <a:solidFill>
            <a:srgbClr val="F1F3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94"/>
          <p:cNvSpPr/>
          <p:nvPr/>
        </p:nvSpPr>
        <p:spPr>
          <a:xfrm>
            <a:off x="1527048" y="5797296"/>
            <a:ext cx="9079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基幹・現場システム連携（記録系）　</a:t>
            </a:r>
            <a:r>
              <a:rPr lang="en-US" sz="8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PLM・MES・ERP・センサー ― OTコネクタ＋データ連携。既製品・BX投資先製品で充当し、買って速く確実に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10643616" y="5897880"/>
            <a:ext cx="932688" cy="201168"/>
          </a:xfrm>
          <a:prstGeom prst="roundRect">
            <a:avLst>
              <a:gd name="adj" fmla="val 22727"/>
            </a:avLst>
          </a:prstGeom>
          <a:solidFill>
            <a:srgbClr val="6B7280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Text 96"/>
          <p:cNvSpPr/>
          <p:nvPr/>
        </p:nvSpPr>
        <p:spPr>
          <a:xfrm>
            <a:off x="10643616" y="589788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既製品・投資先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02920" y="6291072"/>
            <a:ext cx="1120140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" name="Text 98"/>
          <p:cNvSpPr/>
          <p:nvPr/>
        </p:nvSpPr>
        <p:spPr>
          <a:xfrm>
            <a:off x="685800" y="62910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成果はモデルの賢さでなく「働く環境」で決まる ― 検証ゲートを通った成果だけが業務に届き、失敗は基盤を鍛える入力になる</a:t>
            </a:r>
            <a:endParaRPr lang="en-US" sz="1150" dirty="0"/>
          </a:p>
        </p:txBody>
      </p:sp>
      <p:sp>
        <p:nvSpPr>
          <p:cNvPr id="101" name="Text 99"/>
          <p:cNvSpPr/>
          <p:nvPr/>
        </p:nvSpPr>
        <p:spPr>
          <a:xfrm>
            <a:off x="502920" y="6684264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本アーキテクチャはAnthropic公式のエージェント設計原則（オーケストレーター×サブエージェント／独立コンテキスト／検証の組み込み／Skills・Hooks・MCPによる拡張）に準拠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8686800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577"/>
                </a:solidFill>
                <a:latin typeface="Meiryo"/>
                <a:ea typeface="Meiryo"/>
              </a:rPr>
              <a:t>SoA AIエージェント層 ｜ ②-2 中間層の詳解 ― オントロジー × ナレッジグラフ（Ontosphere）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96A1B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テクノプロ内製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6D4FA1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PKSHA共同開発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E7C86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決定済プロダクト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既製品・投資先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"/>
            <a:ext cx="11247120" cy="4754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"/>
            <a:ext cx="10927080" cy="47548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中間層の内部構造 ― 凍結された「定義」（オントロジー）と、更新され続ける「解釈」（ナレッジグラフ）を分けて持つ「共通の脳」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60704"/>
            <a:ext cx="749808" cy="694944"/>
          </a:xfrm>
          <a:prstGeom prst="roundRect">
            <a:avLst>
              <a:gd name="adj" fmla="val 12000"/>
            </a:avLst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060704"/>
            <a:ext cx="749808" cy="6949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</a:rPr>
              <a:t>SoA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24912"/>
            <a:ext cx="749808" cy="283464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724912"/>
            <a:ext cx="749808" cy="283464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</a:rPr>
              <a:t>中間層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Meiryo"/>
                <a:ea typeface="Meiryo"/>
              </a:rPr>
              <a:t>本頁の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Meiryo"/>
                <a:ea typeface="Meiryo"/>
              </a:rPr>
              <a:t>主題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797296"/>
            <a:ext cx="749808" cy="402336"/>
          </a:xfrm>
          <a:prstGeom prst="roundRect">
            <a:avLst>
              <a:gd name="adj" fmla="val 1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797296"/>
            <a:ext cx="74980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89888" y="1060704"/>
            <a:ext cx="10314432" cy="694944"/>
          </a:xfrm>
          <a:prstGeom prst="roundRect">
            <a:avLst>
              <a:gd name="adj" fmla="val 6000"/>
            </a:avLst>
          </a:prstGeom>
          <a:solidFill>
            <a:srgbClr val="FB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480" y="1115568"/>
            <a:ext cx="2240280" cy="58521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2A4A"/>
                </a:solidFill>
                <a:latin typeface="Meiryo"/>
                <a:ea typeface="Meiryo"/>
              </a:rPr>
              <a:t>エージェント基盤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7"/>
                </a:solidFill>
                <a:latin typeface="Meiryo"/>
                <a:ea typeface="Meiryo"/>
              </a:rPr>
              <a:t>lead・worker・verifier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7"/>
                </a:solidFill>
                <a:latin typeface="Meiryo"/>
                <a:ea typeface="Meiryo"/>
              </a:rPr>
              <a:t>＝ 中間層の「利用者」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152144"/>
            <a:ext cx="2121408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05072" y="1152144"/>
            <a:ext cx="1993392" cy="51206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lead ― task設計で参照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業務の定義・制約を確認し、task契約（受け入れ条件）を作る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152144"/>
            <a:ext cx="2121408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54496" y="1152144"/>
            <a:ext cx="1993392" cy="51206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6A1B"/>
                </a:solidFill>
                <a:latin typeface="Meiryo"/>
                <a:ea typeface="Meiryo"/>
              </a:rPr>
              <a:t>worker ― 実装で検索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事実・過去トラ・根拠を引き当てながら並列実装する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30767" y="1152144"/>
            <a:ext cx="2121408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19" y="1152144"/>
            <a:ext cx="1993392" cy="51206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verifier ― 検証で照合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成果を制約・整合ルールと突き合わせ OK / FIX を判定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80192" y="1106424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80192" y="1106424"/>
            <a:ext cx="914400" cy="1828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Meiryo"/>
                <a:ea typeface="Meiryo"/>
              </a:rPr>
              <a:t>テクノプロ内製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1371600"/>
            <a:ext cx="1298448" cy="32918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詳細はP.2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2724912" y="1828800"/>
            <a:ext cx="146304" cy="128016"/>
          </a:xfrm>
          <a:prstGeom prst="downArrow">
            <a:avLst/>
          </a:prstGeom>
          <a:solidFill>
            <a:srgbClr val="6D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44368" y="1801368"/>
            <a:ext cx="4206240" cy="1828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7"/>
                </a:solidFill>
                <a:latin typeface="Meiryo"/>
                <a:ea typeface="Meiryo"/>
              </a:rPr>
              <a:t>参照（読む）―「この設備の故障モードと対策は？」と意味で問い合わせ</a:t>
            </a:r>
          </a:p>
        </p:txBody>
      </p:sp>
      <p:sp>
        <p:nvSpPr>
          <p:cNvPr id="32" name="Up Arrow 31"/>
          <p:cNvSpPr/>
          <p:nvPr/>
        </p:nvSpPr>
        <p:spPr>
          <a:xfrm>
            <a:off x="7589520" y="1828800"/>
            <a:ext cx="146304" cy="128016"/>
          </a:xfrm>
          <a:prstGeom prst="upArrow">
            <a:avLst/>
          </a:prstGeom>
          <a:solidFill>
            <a:srgbClr val="6D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08975" y="1801368"/>
            <a:ext cx="3840480" cy="1828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7"/>
                </a:solidFill>
                <a:latin typeface="Meiryo"/>
                <a:ea typeface="Meiryo"/>
              </a:rPr>
              <a:t>蓄積（書く）― 検証を通った学び・失敗報告を書き戻す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89888" y="2048256"/>
            <a:ext cx="10314432" cy="548640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54480" y="2084831"/>
            <a:ext cx="2926080" cy="47548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D4FA1"/>
                </a:solidFill>
                <a:latin typeface="Meiryo"/>
                <a:ea typeface="Meiryo"/>
              </a:rPr>
              <a:t>標準I/F（MCP）</a:t>
            </a:r>
            <a:r>
              <a:rPr sz="750" b="0">
                <a:solidFill>
                  <a:srgbClr val="6D4FA1"/>
                </a:solidFill>
                <a:latin typeface="Meiryo"/>
                <a:ea typeface="Meiryo"/>
              </a:rPr>
              <a:t>　PKSHA共同開発＝P.1の②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全Agent・UIが同じ作法で使う「知識の窓口」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2112264"/>
            <a:ext cx="167335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B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81728" y="2112264"/>
            <a:ext cx="1572768" cy="42062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FA1"/>
                </a:solidFill>
                <a:latin typeface="Meiryo"/>
                <a:ea typeface="Meiryo"/>
              </a:rPr>
              <a:t>① 意味検索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表記ゆれを越えて意味で探す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2112264"/>
            <a:ext cx="167335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B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64808" y="2112264"/>
            <a:ext cx="1572768" cy="42062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FA1"/>
                </a:solidFill>
                <a:latin typeface="Meiryo"/>
                <a:ea typeface="Meiryo"/>
              </a:rPr>
              <a:t>② グラフ探索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知識のつながりを辿る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2112264"/>
            <a:ext cx="167335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B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47888" y="2112264"/>
            <a:ext cx="1572768" cy="42062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FA1"/>
                </a:solidFill>
                <a:latin typeface="Meiryo"/>
                <a:ea typeface="Meiryo"/>
              </a:rPr>
              <a:t>③ 文脈取得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いまの状況・履歴を得る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66959" y="2112264"/>
            <a:ext cx="167335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B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30967" y="2112264"/>
            <a:ext cx="1572768" cy="42062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FA1"/>
                </a:solidFill>
                <a:latin typeface="Meiryo"/>
                <a:ea typeface="Meiryo"/>
              </a:rPr>
              <a:t>④ 書き戻し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学びを検証付きで蓄積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89888" y="2724912"/>
            <a:ext cx="10314432" cy="2834640"/>
          </a:xfrm>
          <a:prstGeom prst="roundRect">
            <a:avLst>
              <a:gd name="adj" fmla="val 3000"/>
            </a:avLst>
          </a:prstGeom>
          <a:solidFill>
            <a:srgbClr val="E9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54480" y="2779776"/>
            <a:ext cx="9052560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86"/>
                </a:solidFill>
                <a:latin typeface="Meiryo"/>
                <a:ea typeface="Meiryo"/>
              </a:rPr>
              <a:t>Ontosphere ナレッジグラフ基盤（Mphasis NeoIP）</a:t>
            </a:r>
            <a:r>
              <a:rPr sz="900" b="0">
                <a:solidFill>
                  <a:srgbClr val="5B6577"/>
                </a:solidFill>
                <a:latin typeface="Meiryo"/>
                <a:ea typeface="Meiryo"/>
              </a:rPr>
              <a:t>　― 全AgentとUIが同じ知識を共有する、SoAとSoRの「翻訳者」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89920" y="2798064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89920" y="2798064"/>
            <a:ext cx="713232" cy="20116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</a:rPr>
              <a:t>決定済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27048" y="3090672"/>
            <a:ext cx="3218688" cy="38404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618488" y="3090672"/>
            <a:ext cx="3035808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eiryo"/>
                <a:ea typeface="Meiryo"/>
              </a:rPr>
              <a:t>オントロジー ―『定義』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DDE5EC"/>
                </a:solidFill>
                <a:latin typeface="Meiryo"/>
                <a:ea typeface="Meiryo"/>
              </a:rPr>
              <a:t>セマンティック層（凍結済み）≒ 辞書・地図の凡例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27048" y="3529584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618488" y="3529584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クラス階層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設備・工程・部品・故障モードの分類体系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527048" y="3931920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618488" y="3931920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関係定義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「一部である」「引き起こす」等のつながり方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27048" y="4334256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618488" y="4334256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制約・ルール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単位・値域・整合条件 ― verifierの照合先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27048" y="4736592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618488" y="4736592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用語辞書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現場語・略語・表記ゆれを正式名に統一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10328" y="3090672"/>
            <a:ext cx="3218688" cy="38404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01768" y="3090672"/>
            <a:ext cx="3035808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eiryo"/>
                <a:ea typeface="Meiryo"/>
              </a:rPr>
              <a:t>ナレッジグラフ ―『解釈』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DDE5EC"/>
                </a:solidFill>
                <a:latin typeface="Meiryo"/>
                <a:ea typeface="Meiryo"/>
              </a:rPr>
              <a:t>コンテキスト層（継続更新）≒ 地図本体：実物と出来事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10328" y="3529584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01768" y="3529584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インスタンス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実在の設備・案件・文書・人をノード化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10328" y="3931920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01768" y="3931920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イベント履歴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稼働・保全・不具合の時系列を関係で記録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10328" y="4334256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01768" y="4334256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過去トラ・知見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失敗事例と対策をリンク ― SKILLSの源泉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10328" y="4736592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01768" y="4736592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根拠リンク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全知識にSoR記録・文書の出典を紐づけ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93608" y="3090672"/>
            <a:ext cx="3218688" cy="384048"/>
          </a:xfrm>
          <a:prstGeom prst="roundRect">
            <a:avLst>
              <a:gd name="adj" fmla="val 10000"/>
            </a:avLst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85048" y="3090672"/>
            <a:ext cx="3035808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eiryo"/>
                <a:ea typeface="Meiryo"/>
              </a:rPr>
              <a:t>共通機能群 ― 維持装置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DDE5EC"/>
                </a:solidFill>
                <a:latin typeface="Meiryo"/>
                <a:ea typeface="Meiryo"/>
              </a:rPr>
              <a:t>知識を「使える状態」に保つ仕組み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93608" y="3529584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85048" y="3529584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B6577"/>
                </a:solidFill>
                <a:latin typeface="Meiryo"/>
                <a:ea typeface="Meiryo"/>
              </a:rPr>
              <a:t>セマンティック統合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SoRデータを名寄せ・ID解決してグラフ化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93608" y="3931920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85048" y="3931920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B6577"/>
                </a:solidFill>
                <a:latin typeface="Meiryo"/>
                <a:ea typeface="Meiryo"/>
              </a:rPr>
              <a:t>推論エンジン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関係を辿り、暗黙のつながり・矛盾を検出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93608" y="4334256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85048" y="4334256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B6577"/>
                </a:solidFill>
                <a:latin typeface="Meiryo"/>
                <a:ea typeface="Meiryo"/>
              </a:rPr>
              <a:t>ハイブリッド検索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ベクトル（意味）×グラフ（構造）の複合索引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93608" y="4736592"/>
            <a:ext cx="321868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85048" y="4736592"/>
            <a:ext cx="3035808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B6577"/>
                </a:solidFill>
                <a:latin typeface="Meiryo"/>
                <a:ea typeface="Meiryo"/>
              </a:rPr>
              <a:t>ガバナンス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版管理・凍結承認・アクセス制御・監査ログ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527048" y="5175504"/>
            <a:ext cx="6601968" cy="292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618488" y="5175504"/>
            <a:ext cx="6419088" cy="29260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E7C86"/>
                </a:solidFill>
                <a:latin typeface="Meiryo"/>
                <a:ea typeface="Meiryo"/>
              </a:rPr>
              <a:t>◀ 定義が解釈を「型付け」</a:t>
            </a: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（グラフは必ずオントロジーに従う）　／　</a:t>
            </a:r>
            <a:r>
              <a:rPr sz="800" b="1">
                <a:solidFill>
                  <a:srgbClr val="1B2A4A"/>
                </a:solidFill>
                <a:latin typeface="Meiryo"/>
                <a:ea typeface="Meiryo"/>
              </a:rPr>
              <a:t>解釈の蓄積が定義改訂の材料に 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93608" y="5175504"/>
            <a:ext cx="3218688" cy="29260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定義の変更は版管理＋人の承認ゲートのみ（凍結プロセス）</a:t>
            </a:r>
          </a:p>
        </p:txBody>
      </p:sp>
      <p:sp>
        <p:nvSpPr>
          <p:cNvPr id="81" name="Up Arrow 80"/>
          <p:cNvSpPr/>
          <p:nvPr/>
        </p:nvSpPr>
        <p:spPr>
          <a:xfrm>
            <a:off x="3017520" y="5605272"/>
            <a:ext cx="146304" cy="128016"/>
          </a:xfrm>
          <a:prstGeom prst="up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236976" y="5577840"/>
            <a:ext cx="4480560" cy="1828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7"/>
                </a:solidFill>
                <a:latin typeface="Meiryo"/>
                <a:ea typeface="Meiryo"/>
              </a:rPr>
              <a:t>取り込み ― 記録データに意味づけ（セマンティック統合）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5577840"/>
            <a:ext cx="3657600" cy="1828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7"/>
                </a:solidFill>
                <a:latin typeface="Meiryo"/>
                <a:ea typeface="Meiryo"/>
              </a:rPr>
              <a:t>※ SoRは「事実の正本」― 中間層は読むだけで書き換えない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389888" y="5797296"/>
            <a:ext cx="10314432" cy="402336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554480" y="5797296"/>
            <a:ext cx="9052560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7280"/>
                </a:solidFill>
                <a:latin typeface="Meiryo"/>
                <a:ea typeface="Meiryo"/>
              </a:rPr>
              <a:t>基幹・現場システム連携（記録系）　</a:t>
            </a:r>
            <a:r>
              <a:rPr sz="850" b="0">
                <a:solidFill>
                  <a:srgbClr val="5B6577"/>
                </a:solidFill>
                <a:latin typeface="Meiryo"/>
                <a:ea typeface="Meiryo"/>
              </a:rPr>
              <a:t>PLM・MES・ERP・センサー ― 起きた事実の正本。中間層はここから読み取り、意味を付けて保持する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643616" y="5897880"/>
            <a:ext cx="932688" cy="20116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643616" y="5897880"/>
            <a:ext cx="932688" cy="20116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Meiryo"/>
                <a:ea typeface="Meiryo"/>
              </a:rPr>
              <a:t>既製品・投資先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6291072"/>
            <a:ext cx="1120140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85800" y="6291072"/>
            <a:ext cx="1088136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定義は凍結し、解釈は更新する ― 分けて持つから、AIの答えは常に根拠付きで検証でき、知識は現場と一緒に育ち続ける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6684264"/>
            <a:ext cx="11201400" cy="1554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※ 用語対応：セマンティック＝オントロジー（定義・スキーマ）／コンテキスト＝ナレッジグラフ（実体・履歴）。全体像はP.2、標準I/Fの共同開発スコープはP.1の②、運用改善（Gated RSI）はP.4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｜ ③ 展開 ― 作り、広げ、AI自身に改善させる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Harness × Graph × RSI ― 1プロジェクトの環境構築から、企業全体への配線、AI自身の継続最適化へ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400032" y="21945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400032" y="21945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共通基盤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552176" y="21945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552176" y="21945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個別設定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3602736" cy="4956048"/>
          </a:xfrm>
          <a:prstGeom prst="roundRect">
            <a:avLst>
              <a:gd name="adj" fmla="val 1523"/>
            </a:avLst>
          </a:prstGeom>
          <a:solidFill>
            <a:srgbClr val="FDFDFE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02920" y="1078992"/>
            <a:ext cx="3602736" cy="585216"/>
          </a:xfrm>
          <a:prstGeom prst="roundRect">
            <a:avLst>
              <a:gd name="adj" fmla="val 937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30936" y="1124712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1｜Harness Engineering
</a:t>
            </a: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1プロジェクト（1業務・1ライン）の作業環境を作る ― P.2の中身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078992"/>
            <a:ext cx="3602736" cy="4956048"/>
          </a:xfrm>
          <a:prstGeom prst="roundRect">
            <a:avLst>
              <a:gd name="adj" fmla="val 1523"/>
            </a:avLst>
          </a:prstGeom>
          <a:solidFill>
            <a:srgbClr val="FDFDFE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434840" y="1078992"/>
            <a:ext cx="3602736" cy="585216"/>
          </a:xfrm>
          <a:prstGeom prst="roundRect">
            <a:avLst>
              <a:gd name="adj" fmla="val 9375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62856" y="1124712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2｜Graph Engineering
</a:t>
            </a: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複数ハーネスを工程・部署・企業スケールへ配線する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66760" y="1078992"/>
            <a:ext cx="3602736" cy="4956048"/>
          </a:xfrm>
          <a:prstGeom prst="roundRect">
            <a:avLst>
              <a:gd name="adj" fmla="val 1523"/>
            </a:avLst>
          </a:prstGeom>
          <a:solidFill>
            <a:srgbClr val="FDFDFE"/>
          </a:solidFill>
          <a:ln w="19050">
            <a:solidFill>
              <a:srgbClr val="7A3E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366760" y="1078992"/>
            <a:ext cx="3602736" cy="585216"/>
          </a:xfrm>
          <a:prstGeom prst="roundRect">
            <a:avLst>
              <a:gd name="adj" fmla="val 9375"/>
            </a:avLst>
          </a:prstGeom>
          <a:solidFill>
            <a:srgbClr val="7A3E6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494776" y="1124712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3｜RSI（再帰的自己改善）
</a:t>
            </a: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AI自身に、働く環境を継続最適化させる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42232" y="3291840"/>
            <a:ext cx="274320" cy="402336"/>
          </a:xfrm>
          <a:prstGeom prst="rightArrow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074152" y="3291840"/>
            <a:ext cx="274320" cy="402336"/>
          </a:xfrm>
          <a:prstGeom prst="rightArrow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30936" y="175564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個別＝設定ファイル（プロジェクトごとに作成）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" y="1993392"/>
            <a:ext cx="160934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94944" y="202996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rules
</a:t>
            </a:r>
            <a:r>
              <a:rPr lang="en-US" sz="675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規制・統制・禁止事項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68296" y="1993392"/>
            <a:ext cx="160934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432304" y="202996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
</a:t>
            </a:r>
            <a:r>
              <a:rPr lang="en-US" sz="675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工程ノウハウ・手順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0936" y="2560320"/>
            <a:ext cx="160934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94944" y="259689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task契約
</a:t>
            </a:r>
            <a:r>
              <a:rPr lang="en-US" sz="675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受け入れ条件・検証法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68296" y="2560320"/>
            <a:ext cx="160934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2432304" y="259689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検証ゲート定義
</a:t>
            </a:r>
            <a:r>
              <a:rPr lang="en-US" sz="675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何を通れば合格か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0936" y="3127248"/>
            <a:ext cx="160934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94944" y="316382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Hooks（HITL）
</a:t>
            </a:r>
            <a:r>
              <a:rPr lang="en-US" sz="675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人の承認・介入点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68296" y="3127248"/>
            <a:ext cx="1609344" cy="493776"/>
          </a:xfrm>
          <a:prstGeom prst="roundRect">
            <a:avLst>
              <a:gd name="adj" fmla="val 9259"/>
            </a:avLst>
          </a:prstGeom>
          <a:solidFill>
            <a:srgbClr val="FBF0E1"/>
          </a:solidFill>
          <a:ln w="9525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432304" y="316382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Wiki
</a:t>
            </a:r>
            <a:r>
              <a:rPr lang="en-US" sz="675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ドメイン知識・過去トラ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21992" y="3730752"/>
            <a:ext cx="164592" cy="182880"/>
          </a:xfrm>
          <a:prstGeom prst="downArrow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30936" y="3931920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基盤に装着（現場常駐エンジニア＋FDE）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0936" y="4169664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共通＝エージェント基盤（全業種・全顧客で再利用）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" y="4389120"/>
            <a:ext cx="3346704" cy="1170432"/>
          </a:xfrm>
          <a:prstGeom prst="roundRect">
            <a:avLst>
              <a:gd name="adj" fmla="val 3906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740664" y="4462272"/>
            <a:ext cx="31272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・三役の実行基盤（lead・worker・verifier）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・検証ゲート機構／queue・file正本（監査可能）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・Ontosphere接続の標準I/F（MCP）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・AI開発基盤（Claude Code＋Factory AI Droid）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0936" y="565099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1業務につき1本の「ハーネス」が立ち上がる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76088" y="2039112"/>
            <a:ext cx="960120" cy="758952"/>
          </a:xfrm>
          <a:prstGeom prst="line">
            <a:avLst/>
          </a:prstGeom>
          <a:noFill/>
          <a:ln w="12700">
            <a:solidFill>
              <a:srgbClr val="9AA6B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 flipH="1">
            <a:off x="6236208" y="2039112"/>
            <a:ext cx="960120" cy="758952"/>
          </a:xfrm>
          <a:prstGeom prst="line">
            <a:avLst/>
          </a:prstGeom>
          <a:noFill/>
          <a:ln w="12700">
            <a:solidFill>
              <a:srgbClr val="9AA6B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 flipH="1">
            <a:off x="5276088" y="2798064"/>
            <a:ext cx="960120" cy="667512"/>
          </a:xfrm>
          <a:prstGeom prst="line">
            <a:avLst/>
          </a:prstGeom>
          <a:noFill/>
          <a:ln w="12700">
            <a:solidFill>
              <a:srgbClr val="9AA6B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6236208" y="2798064"/>
            <a:ext cx="960120" cy="667512"/>
          </a:xfrm>
          <a:prstGeom prst="line">
            <a:avLst/>
          </a:prstGeom>
          <a:noFill/>
          <a:ln w="12700">
            <a:solidFill>
              <a:srgbClr val="9AA6B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4636008" y="1865376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4636008" y="1865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ハーネス：設計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556248" y="1865376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556248" y="1865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ハーネス：保全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36008" y="32918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4636008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ハーネス：製造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56248" y="32918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6556248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ハーネス：品証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86400" y="2560320"/>
            <a:ext cx="1499616" cy="475488"/>
          </a:xfrm>
          <a:prstGeom prst="roundRect">
            <a:avLst>
              <a:gd name="adj" fmla="val 15385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5486400" y="2560320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Ontosphere</a:t>
            </a:r>
            <a:endParaRPr lang="en-US" sz="8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ナレッジグラフ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62856" y="376732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部署・企業に増えていくハーネス群を、共通ハブ（ナレッジグラフ）を介して配線 ― 知見と状態が企業全体で流通する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62856" y="4206240"/>
            <a:ext cx="3346704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4654296" y="4261104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配線の型（Loopの繋ぎ方）　</a:t>
            </a:r>
            <a:r>
              <a:rPr lang="en-US" sz="7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ペア（生成×検証）・階層（統括）・調停（競合解決）・監査（独立点検）・アンカー（漂流防止）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62856" y="4992624"/>
            <a:ext cx="3346704" cy="914400"/>
          </a:xfrm>
          <a:prstGeom prst="roundRect">
            <a:avLst>
              <a:gd name="adj" fmla="val 5000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4654296" y="504748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業種×工程のパターン再利用（P.1の③）
</a:t>
            </a:r>
            <a:r>
              <a:rPr lang="en-US" sz="7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業種（プロセス／組立・機械／食品CPG）×工程（設計〜SCM）で設定一式をテンプレ化。2社目以降は適用のみ ― 標準0.5日/社（先行：設計・保全）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494776" y="1920240"/>
            <a:ext cx="288950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7A3E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8577072" y="192024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運用データ・失敗報告が蓄積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875520" y="2423160"/>
            <a:ext cx="128016" cy="146304"/>
          </a:xfrm>
          <a:prstGeom prst="downArrow">
            <a:avLst/>
          </a:prstGeom>
          <a:solidFill>
            <a:srgbClr val="7A3E6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8494776" y="2560320"/>
            <a:ext cx="288950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7A3E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8577072" y="256032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AIが rules・SKILLS・配線の改善案を生成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875520" y="3063240"/>
            <a:ext cx="128016" cy="146304"/>
          </a:xfrm>
          <a:prstGeom prst="downArrow">
            <a:avLst/>
          </a:prstGeom>
          <a:solidFill>
            <a:srgbClr val="7A3E6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8494776" y="3200400"/>
            <a:ext cx="288950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9050">
            <a:solidFill>
              <a:srgbClr val="A625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8577072" y="320040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625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harnessテスト＋人の承認ゲート（HITL）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875520" y="3703320"/>
            <a:ext cx="128016" cy="146304"/>
          </a:xfrm>
          <a:prstGeom prst="downArrow">
            <a:avLst/>
          </a:prstGeom>
          <a:solidFill>
            <a:srgbClr val="7A3E6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64"/>
          <p:cNvSpPr/>
          <p:nvPr/>
        </p:nvSpPr>
        <p:spPr>
          <a:xfrm>
            <a:off x="8494776" y="3840480"/>
            <a:ext cx="288950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7A3E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8577072" y="384048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反映 ― 環境が賢くなり、次の改善も上手くなる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457432" y="4096512"/>
            <a:ext cx="219456" cy="0"/>
          </a:xfrm>
          <a:prstGeom prst="line">
            <a:avLst/>
          </a:prstGeom>
          <a:noFill/>
          <a:ln w="19050">
            <a:solidFill>
              <a:srgbClr val="7A3E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7"/>
          <p:cNvSpPr/>
          <p:nvPr/>
        </p:nvSpPr>
        <p:spPr>
          <a:xfrm>
            <a:off x="11676888" y="2176272"/>
            <a:ext cx="0" cy="1920240"/>
          </a:xfrm>
          <a:prstGeom prst="line">
            <a:avLst/>
          </a:prstGeom>
          <a:noFill/>
          <a:ln w="19050">
            <a:solidFill>
              <a:srgbClr val="7A3E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Shape 68"/>
          <p:cNvSpPr/>
          <p:nvPr/>
        </p:nvSpPr>
        <p:spPr>
          <a:xfrm>
            <a:off x="11457432" y="2176272"/>
            <a:ext cx="219456" cy="0"/>
          </a:xfrm>
          <a:prstGeom prst="line">
            <a:avLst/>
          </a:prstGeom>
          <a:noFill/>
          <a:ln w="19050">
            <a:solidFill>
              <a:srgbClr val="7A3E63"/>
            </a:solidFill>
            <a:prstDash val="solid"/>
            <a:head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8494776" y="437083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④→① 改善が次の改善を生む ― 再帰ループ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494776" y="4535424"/>
            <a:ext cx="3346704" cy="841248"/>
          </a:xfrm>
          <a:prstGeom prst="roundRect">
            <a:avLst>
              <a:gd name="adj" fmla="val 5435"/>
            </a:avLst>
          </a:prstGeom>
          <a:solidFill>
            <a:srgbClr val="F5EBF1"/>
          </a:solidFill>
          <a:ln w="12700">
            <a:solidFill>
              <a:srgbClr val="7A3E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71"/>
          <p:cNvSpPr/>
          <p:nvPr/>
        </p:nvSpPr>
        <p:spPr>
          <a:xfrm>
            <a:off x="8586216" y="4590288"/>
            <a:ext cx="3163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ゲート付き（Gated RSI）で統制
</a:t>
            </a:r>
            <a:r>
              <a:rPr lang="en-US" sz="75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改善機構そのものへの変更にも関門を置き、暴走・漂流を防ぐ。AIの自律度は実績に応じて段階的に昇格させる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494776" y="5522976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人が改善するのではなく「改善が自動で回る構造」を作る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02920" y="6291072"/>
            <a:ext cx="1120140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4"/>
          <p:cNvSpPr/>
          <p:nvPr/>
        </p:nvSpPr>
        <p:spPr>
          <a:xfrm>
            <a:off x="685800" y="62910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1本の環境を作る（Harness）→ 企業全体へ配線する（Graph）→ AI自身に改善させ続ける（RSI）― 「自己改善する企業」への三段階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502920" y="6684264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Harness＝エージェントを動かす環境一式（Anthropic Agent SDK等の公式定義）／企業スケールの共有ナレッジグラフ×多エージェント配線／ゲート付き自己改善（Bounded RSI）― いずれも公式ドキュメント・最新研究（2026）の標準的整理に準拠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5989320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577"/>
                </a:solidFill>
                <a:latin typeface="Meiryo"/>
                <a:ea typeface="Meiryo"/>
              </a:rPr>
              <a:t>SoA AIエージェント層 ｜ ④-1 実例：現場の課題と設計原則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E7C86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構造化データ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96A1B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非構造化データ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7A3E63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暗黙知（脳内）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F7D4F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AI生成知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"/>
            <a:ext cx="11247120" cy="4754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"/>
            <a:ext cx="10927080" cy="47548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止まる工場・消える知恵 ― 真の課題は知識の分断。解く原則は「差分をエージェントに持たせない」こと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42415"/>
            <a:ext cx="5440680" cy="29260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1042415"/>
            <a:ext cx="5257800" cy="29260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eiryo"/>
                <a:ea typeface="Meiryo"/>
              </a:rPr>
              <a:t>実例｜成形ライン3号機の突発停止（装置部品メーカーA社・保全）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371600"/>
            <a:ext cx="5440680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371600"/>
            <a:ext cx="5166360" cy="87782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263042"/>
                </a:solidFill>
                <a:latin typeface="Meiryo"/>
                <a:ea typeface="Meiryo"/>
              </a:rPr>
              <a:t>深夜、成形機から異音 → 2時間後に軸受損傷で緊急停止。復旧はベテラン保全員・佐藤氏（入社32年）の出社待ちで</a:t>
            </a:r>
            <a:r>
              <a:rPr sz="850" b="1">
                <a:solidFill>
                  <a:srgbClr val="A6252F"/>
                </a:solidFill>
                <a:latin typeface="Meiryo"/>
                <a:ea typeface="Meiryo"/>
              </a:rPr>
              <a:t>6時間</a:t>
            </a:r>
            <a:r>
              <a:rPr sz="850" b="0">
                <a:solidFill>
                  <a:srgbClr val="263042"/>
                </a:solidFill>
                <a:latin typeface="Meiryo"/>
                <a:ea typeface="Meiryo"/>
              </a:rPr>
              <a:t>。類似の停止は3年で4回目 ― 過去の対処は</a:t>
            </a:r>
            <a:r>
              <a:rPr sz="850" b="1">
                <a:solidFill>
                  <a:srgbClr val="7A3E63"/>
                </a:solidFill>
                <a:latin typeface="Meiryo"/>
                <a:ea typeface="Meiryo"/>
              </a:rPr>
              <a:t>佐藤氏の記憶と個人ノートにしか無い</a:t>
            </a:r>
            <a:r>
              <a:rPr sz="850" b="0">
                <a:solidFill>
                  <a:srgbClr val="263042"/>
                </a:solidFill>
                <a:latin typeface="Meiryo"/>
                <a:ea typeface="Meiryo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59152"/>
            <a:ext cx="5440680" cy="21945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A4A"/>
                </a:solidFill>
                <a:latin typeface="Meiryo"/>
                <a:ea typeface="Meiryo"/>
              </a:rPr>
              <a:t>表面に見える問題（よくある課題設定）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15184"/>
            <a:ext cx="54406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615184"/>
            <a:ext cx="5212080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B6577"/>
                </a:solidFill>
                <a:latin typeface="Meiryo"/>
                <a:ea typeface="Meiryo"/>
              </a:rPr>
              <a:t>△ 復旧が遅い</a:t>
            </a:r>
            <a:r>
              <a:rPr sz="800" b="0">
                <a:solidFill>
                  <a:srgbClr val="5B6577"/>
                </a:solidFill>
                <a:latin typeface="Meiryo"/>
                <a:ea typeface="Meiryo"/>
              </a:rPr>
              <a:t>　特定の人しか直せず、夜間・休日は「待つ」しかない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35808"/>
            <a:ext cx="54406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035808"/>
            <a:ext cx="5212080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B6577"/>
                </a:solidFill>
                <a:latin typeface="Meiryo"/>
                <a:ea typeface="Meiryo"/>
              </a:rPr>
              <a:t>△ 再発する</a:t>
            </a:r>
            <a:r>
              <a:rPr sz="800" b="0">
                <a:solidFill>
                  <a:srgbClr val="5B6577"/>
                </a:solidFill>
                <a:latin typeface="Meiryo"/>
                <a:ea typeface="Meiryo"/>
              </a:rPr>
              <a:t>　対策が個人メモ止まりで、他ライン・他工場へ広がらない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56432"/>
            <a:ext cx="54406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456432"/>
            <a:ext cx="5212080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B6577"/>
                </a:solidFill>
                <a:latin typeface="Meiryo"/>
                <a:ea typeface="Meiryo"/>
              </a:rPr>
              <a:t>△ 若手が育たない</a:t>
            </a:r>
            <a:r>
              <a:rPr sz="800" b="0">
                <a:solidFill>
                  <a:srgbClr val="5B6577"/>
                </a:solidFill>
                <a:latin typeface="Meiryo"/>
                <a:ea typeface="Meiryo"/>
              </a:rPr>
              <a:t>　「なぜその判断か」が見えず、教える時間も無い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13632"/>
            <a:ext cx="5440680" cy="566928"/>
          </a:xfrm>
          <a:prstGeom prst="roundRect">
            <a:avLst>
              <a:gd name="adj" fmla="val 8000"/>
            </a:avLst>
          </a:prstGeom>
          <a:solidFill>
            <a:srgbClr val="F8ECEC"/>
          </a:solidFill>
          <a:ln w="9525">
            <a:solidFill>
              <a:srgbClr val="A62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913632"/>
            <a:ext cx="5212080" cy="56692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A6252F"/>
                </a:solidFill>
                <a:latin typeface="Meiryo"/>
                <a:ea typeface="Meiryo"/>
              </a:rPr>
              <a:t>単発のAIツール導入では解けない</a:t>
            </a:r>
          </a:p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汎用AIは社内の事実・経験を知らない。エージェントを業務ごとに作り込めば、P.1で否定した「個別開発の増殖」に戻る。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1042415"/>
            <a:ext cx="5577840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A4A"/>
                </a:solidFill>
                <a:latin typeface="Meiryo"/>
                <a:ea typeface="Meiryo"/>
              </a:rPr>
              <a:t>真の問題 ― 知識が「3つの形」で分断され、AIにも組織にも届かない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335024"/>
            <a:ext cx="5577840" cy="822960"/>
          </a:xfrm>
          <a:prstGeom prst="roundRect">
            <a:avLst>
              <a:gd name="adj" fmla="val 6000"/>
            </a:avLst>
          </a:prstGeom>
          <a:solidFill>
            <a:srgbClr val="E9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91072" y="1417320"/>
            <a:ext cx="1188720" cy="65836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91072" y="1417320"/>
            <a:ext cx="1188720" cy="65836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</a:rPr>
              <a:t>構造化データ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1389888"/>
            <a:ext cx="4041648" cy="34747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0E7C86"/>
                </a:solidFill>
                <a:latin typeface="Meiryo"/>
                <a:ea typeface="Meiryo"/>
              </a:rPr>
              <a:t>どこに：</a:t>
            </a:r>
            <a:r>
              <a:rPr sz="750" b="0">
                <a:solidFill>
                  <a:srgbClr val="263042"/>
                </a:solidFill>
                <a:latin typeface="Meiryo"/>
                <a:ea typeface="Meiryo"/>
              </a:rPr>
              <a:t>MES稼働ログ・ERP台帳・センサー波形 ― 量は膨大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1755648"/>
            <a:ext cx="4041648" cy="34747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A6252F"/>
                </a:solidFill>
                <a:latin typeface="Meiryo"/>
                <a:ea typeface="Meiryo"/>
              </a:rPr>
              <a:t>なぜ困る：</a:t>
            </a: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システム毎にIDと呼び名がバラバラで、つながらず「意味」が無い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240280"/>
            <a:ext cx="5577840" cy="822960"/>
          </a:xfrm>
          <a:prstGeom prst="roundRect">
            <a:avLst>
              <a:gd name="adj" fmla="val 6000"/>
            </a:avLst>
          </a:prstGeom>
          <a:solidFill>
            <a:srgbClr val="FB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91072" y="2322576"/>
            <a:ext cx="1188720" cy="658368"/>
          </a:xfrm>
          <a:prstGeom prst="roundRect">
            <a:avLst>
              <a:gd name="adj" fmla="val 10000"/>
            </a:avLst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91072" y="2322576"/>
            <a:ext cx="1188720" cy="65836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</a:rPr>
              <a:t>非構造化データ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2295144"/>
            <a:ext cx="4041648" cy="34747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C96A1B"/>
                </a:solidFill>
                <a:latin typeface="Meiryo"/>
                <a:ea typeface="Meiryo"/>
              </a:rPr>
              <a:t>どこに：</a:t>
            </a:r>
            <a:r>
              <a:rPr sz="750" b="0">
                <a:solidFill>
                  <a:srgbClr val="263042"/>
                </a:solidFill>
                <a:latin typeface="Meiryo"/>
                <a:ea typeface="Meiryo"/>
              </a:rPr>
              <a:t>保全日報・点検表PDF・図面・写真 ― フォルダと紙に死蔵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2660904"/>
            <a:ext cx="4041648" cy="34747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A6252F"/>
                </a:solidFill>
                <a:latin typeface="Meiryo"/>
                <a:ea typeface="Meiryo"/>
              </a:rPr>
              <a:t>なぜ困る：</a:t>
            </a: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検索できず、設備・故障モードと紐づかず、価値を引き出せない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3145536"/>
            <a:ext cx="5577840" cy="822960"/>
          </a:xfrm>
          <a:prstGeom prst="roundRect">
            <a:avLst>
              <a:gd name="adj" fmla="val 6000"/>
            </a:avLst>
          </a:prstGeom>
          <a:solidFill>
            <a:srgbClr val="F5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291072" y="3227832"/>
            <a:ext cx="1188720" cy="658368"/>
          </a:xfrm>
          <a:prstGeom prst="roundRect">
            <a:avLst>
              <a:gd name="adj" fmla="val 10000"/>
            </a:avLst>
          </a:prstGeom>
          <a:solidFill>
            <a:srgbClr val="7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91072" y="3227832"/>
            <a:ext cx="1188720" cy="65836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</a:rPr>
              <a:t>暗黙知（脳内のみ）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3200400"/>
            <a:ext cx="4041648" cy="34747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7A3E63"/>
                </a:solidFill>
                <a:latin typeface="Meiryo"/>
                <a:ea typeface="Meiryo"/>
              </a:rPr>
              <a:t>どこに：</a:t>
            </a:r>
            <a:r>
              <a:rPr sz="750" b="0">
                <a:solidFill>
                  <a:srgbClr val="263042"/>
                </a:solidFill>
                <a:latin typeface="Meiryo"/>
                <a:ea typeface="Meiryo"/>
              </a:rPr>
              <a:t>「あの音なら軸受」という判断基準・勘所 ― 佐藤氏の頭の中だけ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3566160"/>
            <a:ext cx="4041648" cy="34747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A6252F"/>
                </a:solidFill>
                <a:latin typeface="Meiryo"/>
                <a:ea typeface="Meiryo"/>
              </a:rPr>
              <a:t>なぜ困る：</a:t>
            </a: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データ化されておらず、退職とともに消滅。最重要の知識ほどここに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4059936"/>
            <a:ext cx="5577840" cy="512064"/>
          </a:xfrm>
          <a:prstGeom prst="roundRect">
            <a:avLst>
              <a:gd name="adj" fmla="val 8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4059936"/>
            <a:ext cx="5303520" cy="51206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では、この3つの知識をAIエージェントに「持たせる」のか？ ― 持たせない。</a:t>
            </a:r>
          </a:p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差分を抱えたエージェントは個別開発物になり、増やすほど破綻する。答えは下段の設計原則。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608576"/>
            <a:ext cx="11247120" cy="21945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A4A"/>
                </a:solidFill>
                <a:latin typeface="Meiryo"/>
                <a:ea typeface="Meiryo"/>
              </a:rPr>
              <a:t>設計原則 ― 差分はエージェントではなく「2つの置き場」が吸収する。エージェントは実行時にそれを読むだけ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882896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4937760"/>
            <a:ext cx="3017520" cy="804672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Meiryo"/>
                <a:ea typeface="Meiryo"/>
              </a:rPr>
              <a:t>AIエージェント ＝ 共通・無個性</a:t>
            </a:r>
          </a:p>
          <a:p>
            <a:pPr algn="l">
              <a:lnSpc>
                <a:spcPct val="110000"/>
              </a:lnSpc>
            </a:pPr>
            <a:r>
              <a:rPr sz="750" b="0">
                <a:solidFill>
                  <a:srgbClr val="C9D3E6"/>
                </a:solidFill>
                <a:latin typeface="Meiryo"/>
                <a:ea typeface="Meiryo"/>
              </a:rPr>
              <a:t>lead・worker・verifierは全顧客・全業務で同一。作り込みもFTもしない ― だから品質改善が全員に効く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886200" y="5120640"/>
            <a:ext cx="310896" cy="164592"/>
          </a:xfrm>
          <a:prstGeom prst="rightArrow">
            <a:avLst/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40480" y="5303520"/>
            <a:ext cx="420624" cy="16459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読む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3886200" y="5504688"/>
            <a:ext cx="310896" cy="164592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315968" y="4882896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BF0E1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34840" y="4937760"/>
            <a:ext cx="3419856" cy="804672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96A1B"/>
                </a:solidFill>
                <a:latin typeface="Meiryo"/>
                <a:ea typeface="Meiryo"/>
              </a:rPr>
              <a:t>ハーネス ＝「やり方の差分」を吸収</a:t>
            </a:r>
          </a:p>
          <a:p>
            <a:pPr algn="l">
              <a:lnSpc>
                <a:spcPct val="11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rules・SKILLS・task契約・検証ゲート・Hooks ― どう働くか／何が合格か／どこで人が介入するか。変更は承認制・低頻度（凍結→改訂）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92440" y="4882896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11312" y="4937760"/>
            <a:ext cx="3419856" cy="804672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E7C86"/>
                </a:solidFill>
                <a:latin typeface="Meiryo"/>
                <a:ea typeface="Meiryo"/>
              </a:rPr>
              <a:t>中間層 ＝「事実と意味」を共有</a:t>
            </a:r>
          </a:p>
          <a:p>
            <a:pPr algn="l">
              <a:lnSpc>
                <a:spcPct val="11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設備・履歴・因果・用語 ― 何が事実か／言葉が何を意味するか。運用で継続更新・高頻度。全ハーネス・全Agent共通の正本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5888736"/>
            <a:ext cx="11247120" cy="31089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5888736"/>
            <a:ext cx="10972800" cy="31089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置き場所の判定は一行 ― </a:t>
            </a:r>
            <a:r>
              <a:rPr sz="850" b="1">
                <a:solidFill>
                  <a:srgbClr val="C96A1B"/>
                </a:solidFill>
                <a:latin typeface="Meiryo"/>
                <a:ea typeface="Meiryo"/>
              </a:rPr>
              <a:t>「やり方・合格基準・介入点」→ ハーネス（橙）</a:t>
            </a:r>
            <a:r>
              <a:rPr sz="850" b="0">
                <a:solidFill>
                  <a:srgbClr val="5B6577"/>
                </a:solidFill>
                <a:latin typeface="Meiryo"/>
                <a:ea typeface="Meiryo"/>
              </a:rPr>
              <a:t> ／ </a:t>
            </a: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「事実・意味・履歴」→ 中間層（青緑）</a:t>
            </a: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。エージェント自身には何も持たせない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6291072"/>
            <a:ext cx="1120140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85800" y="6291072"/>
            <a:ext cx="1088136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個別の賢さはエージェントの中ではなく「置き場」にある ― だから基盤は共通のまま、どの現場でも正しく動く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684264"/>
            <a:ext cx="11201400" cy="1554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※ 実例は保全業務の代表的シナリオ（ニーズ確認済み工程＝P.1の③）。人物・数値は説明用の設定。置き場の実体はP.2のハーネス欄とP.3の中間層。この設計思想の先行実証との対比はP.9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5989320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577"/>
                </a:solidFill>
                <a:latin typeface="Meiryo"/>
                <a:ea typeface="Meiryo"/>
              </a:rPr>
              <a:t>SoA AIエージェント層 ｜ ④-2 実例：STEP 1 データ化と振り分け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E7C86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構造化データ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96A1B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非構造化データ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7A3E63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暗黙知（脳内）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F7D4F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AI生成知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"/>
            <a:ext cx="11247120" cy="4754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"/>
            <a:ext cx="10927080" cy="47548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STEP 1｜データ化 ― 3つの知識を変換し、「事実は中間層へ・やり方はハーネスへ」仕分けて格納する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024128"/>
            <a:ext cx="1737360" cy="21945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577"/>
                </a:solidFill>
                <a:latin typeface="Meiryo"/>
                <a:ea typeface="Meiryo"/>
              </a:rPr>
              <a:t>① 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1024128"/>
            <a:ext cx="2514600" cy="21945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577"/>
                </a:solidFill>
                <a:latin typeface="Meiryo"/>
                <a:ea typeface="Meiryo"/>
              </a:rPr>
              <a:t>② 変換・整理（誰が何をする）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24128"/>
            <a:ext cx="4965192" cy="21945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577"/>
                </a:solidFill>
                <a:latin typeface="Meiryo"/>
                <a:ea typeface="Meiryo"/>
              </a:rPr>
              <a:t>③ 格納 ― P.3の12の棚／P.2の6つの棚（縮小再掲・並びも同一）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664208"/>
            <a:ext cx="548640" cy="117043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1664208"/>
            <a:ext cx="548640" cy="11704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</a:rPr>
              <a:t>構造化</a:t>
            </a:r>
          </a:p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</a:rPr>
              <a:t>データ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1664208"/>
            <a:ext cx="1737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25296" y="1737360"/>
            <a:ext cx="1572768" cy="1024128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l">
              <a:lnSpc>
                <a:spcPct val="108000"/>
              </a:lnSpc>
            </a:pPr>
            <a:r>
              <a:rPr sz="800" b="1">
                <a:solidFill>
                  <a:srgbClr val="0E7C86"/>
                </a:solidFill>
                <a:latin typeface="Meiryo"/>
                <a:ea typeface="Meiryo"/>
              </a:rPr>
              <a:t>MES・ERP・センサー（SoR）</a:t>
            </a:r>
          </a:p>
          <a:p>
            <a:pPr algn="l">
              <a:lnSpc>
                <a:spcPct val="108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稼働ログ・台帳・波形 ― 「意味」が無い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907792" y="2167128"/>
            <a:ext cx="182880" cy="164592"/>
          </a:xfrm>
          <a:prstGeom prst="right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127248" y="1664208"/>
            <a:ext cx="2514600" cy="1170432"/>
          </a:xfrm>
          <a:prstGeom prst="roundRect">
            <a:avLst>
              <a:gd name="adj" fmla="val 8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27832" y="1728216"/>
            <a:ext cx="2313432" cy="1042416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E7C86"/>
                </a:solidFill>
                <a:latin typeface="Meiryo"/>
                <a:ea typeface="Meiryo"/>
              </a:rPr>
              <a:t>OTコネクタ → セマンティック統合</a:t>
            </a:r>
          </a:p>
          <a:p>
            <a:pPr algn="l">
              <a:lnSpc>
                <a:spcPct val="106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名寄せ・ID解決（「M-003」＝「3号機」）。中身を事実と基準に分けて出力</a:t>
            </a:r>
          </a:p>
          <a:p>
            <a:pPr algn="l">
              <a:lnSpc>
                <a:spcPct val="106000"/>
              </a:lnSpc>
            </a:pP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＝ P.3 共通機能群「セマンティック統合」が実行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669280" y="2167128"/>
            <a:ext cx="182880" cy="164592"/>
          </a:xfrm>
          <a:prstGeom prst="right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2980944"/>
            <a:ext cx="548640" cy="1170432"/>
          </a:xfrm>
          <a:prstGeom prst="roundRect">
            <a:avLst>
              <a:gd name="adj" fmla="val 10000"/>
            </a:avLst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2980944"/>
            <a:ext cx="548640" cy="11704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</a:rPr>
              <a:t>非構造化</a:t>
            </a:r>
          </a:p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</a:rPr>
              <a:t>データ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2980944"/>
            <a:ext cx="1737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25296" y="3054096"/>
            <a:ext cx="1572768" cy="1024128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l">
              <a:lnSpc>
                <a:spcPct val="108000"/>
              </a:lnSpc>
            </a:pPr>
            <a:r>
              <a:rPr sz="800" b="1">
                <a:solidFill>
                  <a:srgbClr val="C96A1B"/>
                </a:solidFill>
                <a:latin typeface="Meiryo"/>
                <a:ea typeface="Meiryo"/>
              </a:rPr>
              <a:t>日報・点検表・図面・写真</a:t>
            </a:r>
          </a:p>
          <a:p>
            <a:pPr algn="l">
              <a:lnSpc>
                <a:spcPct val="108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紙とフォルダ ― 検索できずつながらない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907792" y="3483863"/>
            <a:ext cx="182880" cy="164592"/>
          </a:xfrm>
          <a:prstGeom prst="right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127248" y="2980944"/>
            <a:ext cx="2514600" cy="1170432"/>
          </a:xfrm>
          <a:prstGeom prst="roundRect">
            <a:avLst>
              <a:gd name="adj" fmla="val 8000"/>
            </a:avLst>
          </a:prstGeom>
          <a:solidFill>
            <a:srgbClr val="FBF0E1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27832" y="3044951"/>
            <a:ext cx="2313432" cy="1042416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C96A1B"/>
                </a:solidFill>
                <a:latin typeface="Meiryo"/>
                <a:ea typeface="Meiryo"/>
              </a:rPr>
              <a:t>文書解析Agent ＋ 用語辞書</a:t>
            </a:r>
          </a:p>
          <a:p>
            <a:pPr algn="l">
              <a:lnSpc>
                <a:spcPct val="106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「一行質問・要約・対処・参照先」の4属性に蒸留し、表記ゆれを正規化。出典リンク付きで仕分け</a:t>
            </a:r>
          </a:p>
          <a:p>
            <a:pPr algn="l">
              <a:lnSpc>
                <a:spcPct val="106000"/>
              </a:lnSpc>
            </a:pP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＝ P.3「用語辞書」を参照し、共通機能群が実行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669280" y="3483863"/>
            <a:ext cx="182880" cy="164592"/>
          </a:xfrm>
          <a:prstGeom prst="right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02920" y="4297679"/>
            <a:ext cx="548640" cy="1170432"/>
          </a:xfrm>
          <a:prstGeom prst="roundRect">
            <a:avLst>
              <a:gd name="adj" fmla="val 10000"/>
            </a:avLst>
          </a:prstGeom>
          <a:solidFill>
            <a:srgbClr val="7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297679"/>
            <a:ext cx="548640" cy="11704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</a:rPr>
              <a:t>暗黙知</a:t>
            </a:r>
          </a:p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</a:rPr>
              <a:t>（脳内）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297679"/>
            <a:ext cx="1737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A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25296" y="4370831"/>
            <a:ext cx="1572768" cy="1024128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l">
              <a:lnSpc>
                <a:spcPct val="108000"/>
              </a:lnSpc>
            </a:pPr>
            <a:r>
              <a:rPr sz="800" b="1">
                <a:solidFill>
                  <a:srgbClr val="7A3E63"/>
                </a:solidFill>
                <a:latin typeface="Meiryo"/>
                <a:ea typeface="Meiryo"/>
              </a:rPr>
              <a:t>ベテランの頭の中</a:t>
            </a:r>
          </a:p>
          <a:p>
            <a:pPr algn="l">
              <a:lnSpc>
                <a:spcPct val="108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佐藤氏の判断基準 ― まだデータですらない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907792" y="4800599"/>
            <a:ext cx="182880" cy="164592"/>
          </a:xfrm>
          <a:prstGeom prst="right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127248" y="4297679"/>
            <a:ext cx="2514600" cy="1170432"/>
          </a:xfrm>
          <a:prstGeom prst="roundRect">
            <a:avLst>
              <a:gd name="adj" fmla="val 8000"/>
            </a:avLst>
          </a:prstGeom>
          <a:solidFill>
            <a:srgbClr val="F5EBF1"/>
          </a:solidFill>
          <a:ln w="9525">
            <a:solidFill>
              <a:srgbClr val="7A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27832" y="4361688"/>
            <a:ext cx="2313432" cy="1042416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7A3E63"/>
                </a:solidFill>
                <a:latin typeface="Meiryo"/>
                <a:ea typeface="Meiryo"/>
              </a:rPr>
              <a:t>ヒアリングAI・先輩AI（PKSHA）</a:t>
            </a:r>
          </a:p>
          <a:p>
            <a:pPr algn="l">
              <a:lnSpc>
                <a:spcPct val="106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対話で「なぜ？」を掘り下げ文章化。本人検証（HITL）を経て因果の知識と判断の手順に分ける</a:t>
            </a:r>
          </a:p>
          <a:p>
            <a:pPr algn="l">
              <a:lnSpc>
                <a:spcPct val="106000"/>
              </a:lnSpc>
            </a:pP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＝ P.2 紫「PKSHA共同開発の部品」（P.1の①）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669280" y="4800599"/>
            <a:ext cx="182880" cy="164592"/>
          </a:xfrm>
          <a:prstGeom prst="right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897880" y="1664208"/>
            <a:ext cx="640080" cy="3803904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97880" y="1664208"/>
            <a:ext cx="640080" cy="380390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</a:rPr>
              <a:t>振り</a:t>
            </a:r>
          </a:p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</a:rPr>
              <a:t>分け</a:t>
            </a:r>
          </a:p>
          <a:p>
            <a:pPr algn="ctr">
              <a:lnSpc>
                <a:spcPct val="100000"/>
              </a:lnSpc>
            </a:pPr>
            <a:endParaRPr sz="850" b="1">
              <a:solidFill>
                <a:srgbClr val="FFFFFF"/>
              </a:solidFill>
              <a:latin typeface="Meiryo"/>
              <a:ea typeface="Meiryo"/>
            </a:endParaRPr>
          </a:p>
          <a:p>
            <a:pPr algn="ctr">
              <a:lnSpc>
                <a:spcPct val="100000"/>
              </a:lnSpc>
            </a:pPr>
            <a:r>
              <a:rPr sz="750" b="1">
                <a:solidFill>
                  <a:srgbClr val="8FD8DE"/>
                </a:solidFill>
                <a:latin typeface="Meiryo"/>
                <a:ea typeface="Meiryo"/>
              </a:rPr>
              <a:t>事実?</a:t>
            </a:r>
          </a:p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3B87A"/>
                </a:solidFill>
                <a:latin typeface="Meiryo"/>
                <a:ea typeface="Meiryo"/>
              </a:rPr>
              <a:t>やり方?</a:t>
            </a:r>
          </a:p>
          <a:p>
            <a:pPr algn="ctr">
              <a:lnSpc>
                <a:spcPct val="100000"/>
              </a:lnSpc>
            </a:pPr>
            <a:endParaRPr sz="750" b="1">
              <a:solidFill>
                <a:srgbClr val="F3B87A"/>
              </a:solidFill>
              <a:latin typeface="Meiryo"/>
              <a:ea typeface="Meiryo"/>
            </a:endParaRPr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C9D3E6"/>
                </a:solidFill>
                <a:latin typeface="Meiryo"/>
                <a:ea typeface="Meiryo"/>
              </a:rPr>
              <a:t>判定は</a:t>
            </a:r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C9D3E6"/>
                </a:solidFill>
                <a:latin typeface="Meiryo"/>
                <a:ea typeface="Meiryo"/>
              </a:rPr>
              <a:t>P.5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6565392" y="2377440"/>
            <a:ext cx="182880" cy="164592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ght Arrow 42"/>
          <p:cNvSpPr/>
          <p:nvPr/>
        </p:nvSpPr>
        <p:spPr>
          <a:xfrm>
            <a:off x="6565392" y="4937760"/>
            <a:ext cx="182880" cy="164592"/>
          </a:xfrm>
          <a:prstGeom prst="rightArrow">
            <a:avLst/>
          </a:prstGeom>
          <a:solidFill>
            <a:srgbClr val="C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784848" y="1298448"/>
            <a:ext cx="4965192" cy="2798064"/>
          </a:xfrm>
          <a:prstGeom prst="roundRect">
            <a:avLst>
              <a:gd name="adj" fmla="val 4000"/>
            </a:avLst>
          </a:prstGeom>
          <a:solidFill>
            <a:srgbClr val="E9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12864" y="1335024"/>
            <a:ext cx="4709160" cy="20116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E7C86"/>
                </a:solidFill>
                <a:latin typeface="Meiryo"/>
                <a:ea typeface="Meiryo"/>
              </a:rPr>
              <a:t>中間層 ― P.3の縮小図（12の棚・名前と並びは同一）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2864" y="1536192"/>
            <a:ext cx="4709160" cy="16459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650" b="1">
                <a:solidFill>
                  <a:srgbClr val="0E7C86"/>
                </a:solidFill>
                <a:latin typeface="Meiryo"/>
                <a:ea typeface="Meiryo"/>
              </a:rPr>
              <a:t>●</a:t>
            </a:r>
            <a:r>
              <a:rPr sz="650" b="1">
                <a:solidFill>
                  <a:srgbClr val="C96A1B"/>
                </a:solidFill>
                <a:latin typeface="Meiryo"/>
                <a:ea typeface="Meiryo"/>
              </a:rPr>
              <a:t>●</a:t>
            </a:r>
            <a:r>
              <a:rPr sz="650" b="1">
                <a:solidFill>
                  <a:srgbClr val="7A3E63"/>
                </a:solidFill>
                <a:latin typeface="Meiryo"/>
                <a:ea typeface="Meiryo"/>
              </a:rPr>
              <a:t>●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＝現場データを随時書込　</a:t>
            </a: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◆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＝準備・承認経路（凍結）で整備　⚙＝装置（設定・索引もデータ化）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12864" y="1737360"/>
            <a:ext cx="1517904" cy="219456"/>
          </a:xfrm>
          <a:prstGeom prst="roundRect">
            <a:avLst>
              <a:gd name="adj" fmla="val 1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12864" y="1737360"/>
            <a:ext cx="1517904" cy="21945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Meiryo"/>
                <a:ea typeface="Meiryo"/>
              </a:rPr>
              <a:t>オントロジー『定義』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12864" y="2011680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76872" y="2039112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クラス階層</a:t>
            </a:r>
          </a:p>
          <a:p>
            <a:pPr algn="l">
              <a:lnSpc>
                <a:spcPct val="102000"/>
              </a:lnSpc>
            </a:pP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◆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凍結整備 ― 型付けの土台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12864" y="2523744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76872" y="2551176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関係定義</a:t>
            </a:r>
          </a:p>
          <a:p>
            <a:pPr algn="l">
              <a:lnSpc>
                <a:spcPct val="102000"/>
              </a:lnSpc>
            </a:pP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◆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凍結 ― </a:t>
            </a:r>
            <a:r>
              <a:rPr sz="650" b="1">
                <a:solidFill>
                  <a:srgbClr val="7A3E63"/>
                </a:solidFill>
                <a:latin typeface="Meiryo"/>
                <a:ea typeface="Meiryo"/>
              </a:rPr>
              <a:t>●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因果が従う型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12864" y="3035808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76872" y="3063240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制約・ルール</a:t>
            </a:r>
          </a:p>
          <a:p>
            <a:pPr algn="l">
              <a:lnSpc>
                <a:spcPct val="102000"/>
              </a:lnSpc>
            </a:pP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◆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凍結 ― </a:t>
            </a:r>
            <a:r>
              <a:rPr sz="650" b="1">
                <a:solidFill>
                  <a:srgbClr val="0E7C86"/>
                </a:solidFill>
                <a:latin typeface="Meiryo"/>
                <a:ea typeface="Meiryo"/>
              </a:rPr>
              <a:t>●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の値域を検査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12864" y="3547872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76872" y="3575304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用語辞書</a:t>
            </a:r>
          </a:p>
          <a:p>
            <a:pPr algn="l">
              <a:lnSpc>
                <a:spcPct val="102000"/>
              </a:lnSpc>
            </a:pP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◆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凍結 ― </a:t>
            </a:r>
            <a:r>
              <a:rPr sz="650" b="1">
                <a:solidFill>
                  <a:srgbClr val="C96A1B"/>
                </a:solidFill>
                <a:latin typeface="Meiryo"/>
                <a:ea typeface="Meiryo"/>
              </a:rPr>
              <a:t>●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の正規化に使用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40496" y="1737360"/>
            <a:ext cx="1517904" cy="219456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40496" y="1737360"/>
            <a:ext cx="1517904" cy="21945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Meiryo"/>
                <a:ea typeface="Meiryo"/>
              </a:rPr>
              <a:t>ナレッジグラフ『解釈』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40496" y="2011680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04504" y="2039112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インスタンス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● 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設備・部品を実体化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40496" y="2523744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04504" y="2551176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イベント履歴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● 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稼働・停止の時系列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40496" y="3035808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04504" y="3063240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過去トラ・知見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●</a:t>
            </a:r>
            <a:r>
              <a:rPr sz="700" b="1">
                <a:solidFill>
                  <a:srgbClr val="7A3E63"/>
                </a:solidFill>
                <a:latin typeface="Meiryo"/>
                <a:ea typeface="Meiryo"/>
              </a:rPr>
              <a:t>●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 対処と因果を格納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40496" y="3547872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04504" y="3575304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根拠リンク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●</a:t>
            </a: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●</a:t>
            </a:r>
            <a:r>
              <a:rPr sz="700" b="1">
                <a:solidFill>
                  <a:srgbClr val="7A3E63"/>
                </a:solidFill>
                <a:latin typeface="Meiryo"/>
                <a:ea typeface="Meiryo"/>
              </a:rPr>
              <a:t>●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 全て出典必須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68128" y="1737360"/>
            <a:ext cx="1517904" cy="219456"/>
          </a:xfrm>
          <a:prstGeom prst="roundRect">
            <a:avLst>
              <a:gd name="adj" fmla="val 14000"/>
            </a:avLst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168128" y="1737360"/>
            <a:ext cx="1517904" cy="21945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Meiryo"/>
                <a:ea typeface="Meiryo"/>
              </a:rPr>
              <a:t>共通機能群（装置）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68128" y="2011680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B6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232136" y="2039112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セマンティック統合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⚙ 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●構の変換を実行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68128" y="2523744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B6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232136" y="2551176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推論エンジン</a:t>
            </a:r>
          </a:p>
          <a:p>
            <a:pPr algn="l">
              <a:lnSpc>
                <a:spcPct val="102000"/>
              </a:lnSpc>
            </a:pP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⚙ 取込時に整合・矛盾を検査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168128" y="3035808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B6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232136" y="3063240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ハイブリッド検索</a:t>
            </a:r>
          </a:p>
          <a:p>
            <a:pPr algn="l">
              <a:lnSpc>
                <a:spcPct val="102000"/>
              </a:lnSpc>
            </a:pP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⚙ 取込と同時に索引を構築</a:t>
            </a:r>
            <a:r>
              <a:rPr sz="600" b="0">
                <a:solidFill>
                  <a:srgbClr val="9AA3B2"/>
                </a:solidFill>
                <a:latin typeface="Meiryo"/>
                <a:ea typeface="Meiryo"/>
              </a:rPr>
              <a:t>（利用はP.7）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168128" y="3547872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B6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232136" y="3575304"/>
            <a:ext cx="1389888" cy="4023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263042"/>
                </a:solidFill>
                <a:latin typeface="Meiryo"/>
                <a:ea typeface="Meiryo"/>
              </a:rPr>
              <a:t>ガバナンス</a:t>
            </a:r>
          </a:p>
          <a:p>
            <a:pPr algn="l">
              <a:lnSpc>
                <a:spcPct val="102000"/>
              </a:lnSpc>
            </a:pP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⚙ 品質ゲート・版管理・凍結承認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784848" y="4206240"/>
            <a:ext cx="4965192" cy="1847088"/>
          </a:xfrm>
          <a:prstGeom prst="roundRect">
            <a:avLst>
              <a:gd name="adj" fmla="val 4000"/>
            </a:avLst>
          </a:prstGeom>
          <a:solidFill>
            <a:srgbClr val="FB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912864" y="4242816"/>
            <a:ext cx="4709160" cy="20116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C96A1B"/>
                </a:solidFill>
                <a:latin typeface="Meiryo"/>
                <a:ea typeface="Meiryo"/>
              </a:rPr>
              <a:t>ハーネス ― P.2の縮小図（6つの棚・名前と並びは同一）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12864" y="4480560"/>
            <a:ext cx="1517904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976872" y="4507992"/>
            <a:ext cx="1389888" cy="45720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C96A1B"/>
                </a:solidFill>
                <a:latin typeface="Meiryo"/>
                <a:ea typeface="Meiryo"/>
              </a:rPr>
              <a:t>rules</a:t>
            </a:r>
            <a:r>
              <a:rPr sz="600" b="0">
                <a:solidFill>
                  <a:srgbClr val="5B6577"/>
                </a:solidFill>
                <a:latin typeface="Meiryo"/>
                <a:ea typeface="Meiryo"/>
              </a:rPr>
              <a:t>　行動規範・統制</a:t>
            </a:r>
          </a:p>
          <a:p>
            <a:pPr algn="l">
              <a:lnSpc>
                <a:spcPct val="102000"/>
              </a:lnSpc>
            </a:pP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◆</a:t>
            </a: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●</a:t>
            </a:r>
            <a:r>
              <a:rPr sz="700" b="1">
                <a:solidFill>
                  <a:srgbClr val="7A3E63"/>
                </a:solidFill>
                <a:latin typeface="Meiryo"/>
                <a:ea typeface="Meiryo"/>
              </a:rPr>
              <a:t>●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 規程・不文律を明文化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540496" y="4480560"/>
            <a:ext cx="1517904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604504" y="4507992"/>
            <a:ext cx="1389888" cy="45720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C96A1B"/>
                </a:solidFill>
                <a:latin typeface="Meiryo"/>
                <a:ea typeface="Meiryo"/>
              </a:rPr>
              <a:t>SKILLS</a:t>
            </a:r>
            <a:r>
              <a:rPr sz="600" b="0">
                <a:solidFill>
                  <a:srgbClr val="5B6577"/>
                </a:solidFill>
                <a:latin typeface="Meiryo"/>
                <a:ea typeface="Meiryo"/>
              </a:rPr>
              <a:t>　工程ノウハウの型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●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標準対処 </a:t>
            </a:r>
            <a:r>
              <a:rPr sz="700" b="1">
                <a:solidFill>
                  <a:srgbClr val="7A3E63"/>
                </a:solidFill>
                <a:latin typeface="Meiryo"/>
                <a:ea typeface="Meiryo"/>
              </a:rPr>
              <a:t>●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判断基準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168128" y="4480560"/>
            <a:ext cx="1517904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232136" y="4507992"/>
            <a:ext cx="1389888" cy="45720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C96A1B"/>
                </a:solidFill>
                <a:latin typeface="Meiryo"/>
                <a:ea typeface="Meiryo"/>
              </a:rPr>
              <a:t>Hooks</a:t>
            </a:r>
            <a:r>
              <a:rPr sz="600" b="0">
                <a:solidFill>
                  <a:srgbClr val="5B6577"/>
                </a:solidFill>
                <a:latin typeface="Meiryo"/>
                <a:ea typeface="Meiryo"/>
              </a:rPr>
              <a:t>　自動チェック介入</a:t>
            </a:r>
          </a:p>
          <a:p>
            <a:pPr algn="l">
              <a:lnSpc>
                <a:spcPct val="102000"/>
              </a:lnSpc>
            </a:pP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◆</a:t>
            </a:r>
            <a:r>
              <a:rPr sz="700" b="1">
                <a:solidFill>
                  <a:srgbClr val="7A3E63"/>
                </a:solidFill>
                <a:latin typeface="Meiryo"/>
                <a:ea typeface="Meiryo"/>
              </a:rPr>
              <a:t>●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 人の介入点を定義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912864" y="5047488"/>
            <a:ext cx="1517904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976872" y="5074920"/>
            <a:ext cx="1389888" cy="45720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C96A1B"/>
                </a:solidFill>
                <a:latin typeface="Meiryo"/>
                <a:ea typeface="Meiryo"/>
              </a:rPr>
              <a:t>Wiki</a:t>
            </a:r>
            <a:r>
              <a:rPr sz="600" b="0">
                <a:solidFill>
                  <a:srgbClr val="5B6577"/>
                </a:solidFill>
                <a:latin typeface="Meiryo"/>
                <a:ea typeface="Meiryo"/>
              </a:rPr>
              <a:t>　知識・失敗様式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● 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背景解説・原文の置き場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40496" y="5047488"/>
            <a:ext cx="1517904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604504" y="5074920"/>
            <a:ext cx="1389888" cy="45720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C96A1B"/>
                </a:solidFill>
                <a:latin typeface="Meiryo"/>
                <a:ea typeface="Meiryo"/>
              </a:rPr>
              <a:t>CI</a:t>
            </a:r>
            <a:r>
              <a:rPr sz="600" b="0">
                <a:solidFill>
                  <a:srgbClr val="5B6577"/>
                </a:solidFill>
                <a:latin typeface="Meiryo"/>
                <a:ea typeface="Meiryo"/>
              </a:rPr>
              <a:t>　合格条件の機械化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● 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閾値→合格条件に翻訳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168128" y="5047488"/>
            <a:ext cx="1517904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232136" y="5074920"/>
            <a:ext cx="1389888" cy="45720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750" b="1">
                <a:solidFill>
                  <a:srgbClr val="C96A1B"/>
                </a:solidFill>
                <a:latin typeface="Meiryo"/>
                <a:ea typeface="Meiryo"/>
              </a:rPr>
              <a:t>queue</a:t>
            </a:r>
            <a:r>
              <a:rPr sz="600" b="0">
                <a:solidFill>
                  <a:srgbClr val="5B6577"/>
                </a:solidFill>
                <a:latin typeface="Meiryo"/>
                <a:ea typeface="Meiryo"/>
              </a:rPr>
              <a:t>　task台帳(file正本)</a:t>
            </a:r>
          </a:p>
          <a:p>
            <a:pPr algn="l">
              <a:lnSpc>
                <a:spcPct val="102000"/>
              </a:lnSpc>
            </a:pPr>
            <a:r>
              <a:rPr sz="650" b="1">
                <a:solidFill>
                  <a:srgbClr val="1B2A4A"/>
                </a:solidFill>
                <a:latin typeface="Meiryo"/>
                <a:ea typeface="Meiryo"/>
              </a:rPr>
              <a:t>◆</a:t>
            </a:r>
            <a:r>
              <a:rPr sz="650" b="0">
                <a:solidFill>
                  <a:srgbClr val="5B6577"/>
                </a:solidFill>
                <a:latin typeface="Meiryo"/>
                <a:ea typeface="Meiryo"/>
              </a:rPr>
              <a:t> 台帳の様式を整備／中身はP.7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" y="6089904"/>
            <a:ext cx="6035040" cy="1828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※ 右2枚＝P.2・P.3の縮小再掲（棚の名前・数・並び同一）。18の棚すべてがSTEP1でデータ化される ― ●随時／◆承認・凍結の2経路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02920" y="5614416"/>
            <a:ext cx="6035040" cy="4389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0080" y="5614416"/>
            <a:ext cx="5806440" cy="43891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変換の共通原則：</a:t>
            </a:r>
            <a:r>
              <a:rPr sz="800" b="0">
                <a:solidFill>
                  <a:srgbClr val="5B6577"/>
                </a:solidFill>
                <a:latin typeface="Meiryo"/>
                <a:ea typeface="Meiryo"/>
              </a:rPr>
              <a:t>① 名寄せ（同じモノを同じIDに）　② 正規化（同じ意味を同じ言葉に）　③ 出典を必ず残す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" y="6291072"/>
            <a:ext cx="1120140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85800" y="6291072"/>
            <a:ext cx="1088136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全ての棚をデータ化する ― 経路は2つ：事実は随時（●）、定義とやり方は承認・凍結（◆）。だからAgentは迷わない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" y="6684264"/>
            <a:ext cx="11201400" cy="1554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※ 例：佐藤氏の暗黙知は、①因果の知識（→中間層・全業務で共有）と②判断の手順（→保全ハーネスのSKILLS・承認済みの型）の2つに分解される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5989320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577"/>
                </a:solidFill>
                <a:latin typeface="Meiryo"/>
                <a:ea typeface="Meiryo"/>
              </a:rPr>
              <a:t>SoA AIエージェント層 ｜ ④-3 実例：STEP 2 実行（共通Agent × 2つの置き場）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E7C86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構造化データ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96A1B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非構造化データ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7A3E63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暗黙知（脳内）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F7D4F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AI生成知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"/>
            <a:ext cx="11247120" cy="4754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"/>
            <a:ext cx="10927080" cy="47548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STEP 2｜実行 ― エージェント自身は無個性。「2つの置き場」を読み、検証を通った答えだけを返す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42415"/>
            <a:ext cx="7498079" cy="36576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042415"/>
            <a:ext cx="7223760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FC3E8"/>
                </a:solidFill>
                <a:latin typeface="Meiryo"/>
                <a:ea typeface="Meiryo"/>
              </a:rPr>
              <a:t>依頼（SoE・業務UI）｜</a:t>
            </a:r>
            <a:r>
              <a:rPr sz="900" b="1">
                <a:solidFill>
                  <a:srgbClr val="FFFFFF"/>
                </a:solidFill>
                <a:latin typeface="Meiryo"/>
                <a:ea typeface="Meiryo"/>
              </a:rPr>
              <a:t>「3号機からまた異音。止まる前に原因と対処を」― 現場リーダーが入力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426464"/>
            <a:ext cx="7498079" cy="274320"/>
          </a:xfrm>
          <a:prstGeom prst="roundRect">
            <a:avLst>
              <a:gd name="adj" fmla="val 12000"/>
            </a:avLst>
          </a:prstGeom>
          <a:solidFill>
            <a:srgbClr val="EF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426464"/>
            <a:ext cx="7269480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6D4FA1"/>
                </a:solidFill>
                <a:latin typeface="Meiryo"/>
                <a:ea typeface="Meiryo"/>
              </a:rPr>
              <a:t>参照⇄蓄積は標準I/F経由（P.3）：</a:t>
            </a: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①意味検索 ②グラフ探索 ③文脈取得 ④書き戻し ― 参照タグの丸数字＝この機能番号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755648"/>
            <a:ext cx="5669280" cy="16459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5B6577"/>
                </a:solidFill>
                <a:latin typeface="Meiryo"/>
                <a:ea typeface="Meiryo"/>
              </a:rPr>
              <a:t>◀ 読む棚 ― </a:t>
            </a:r>
            <a:r>
              <a:rPr sz="750" b="1">
                <a:solidFill>
                  <a:srgbClr val="0E7C86"/>
                </a:solidFill>
                <a:latin typeface="Meiryo"/>
                <a:ea typeface="Meiryo"/>
              </a:rPr>
              <a:t>青緑枠＝P.3中間層</a:t>
            </a:r>
            <a:r>
              <a:rPr sz="750" b="1">
                <a:solidFill>
                  <a:srgbClr val="5B6577"/>
                </a:solidFill>
                <a:latin typeface="Meiryo"/>
                <a:ea typeface="Meiryo"/>
              </a:rPr>
              <a:t>／</a:t>
            </a:r>
            <a:r>
              <a:rPr sz="750" b="1">
                <a:solidFill>
                  <a:srgbClr val="C96A1B"/>
                </a:solidFill>
                <a:latin typeface="Meiryo"/>
                <a:ea typeface="Meiryo"/>
              </a:rPr>
              <a:t>橙枠＝P.2ハーネス</a:t>
            </a:r>
            <a:r>
              <a:rPr sz="750" b="1">
                <a:solidFill>
                  <a:srgbClr val="5B6577"/>
                </a:solidFill>
                <a:latin typeface="Meiryo"/>
                <a:ea typeface="Meiryo"/>
              </a:rPr>
              <a:t>（棚の名前はP.6と同一・丸数字＝I/F機能番号）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55648"/>
            <a:ext cx="1645920" cy="16459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F7D4F"/>
                </a:solidFill>
                <a:latin typeface="Meiryo"/>
                <a:ea typeface="Meiryo"/>
              </a:rPr>
              <a:t>生成 → 格納先の棚 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011680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011680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① 用語辞書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64792" y="2011680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64792" y="2011680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制約・ルール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331720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FBF0E1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331720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rules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64792" y="2331720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FBF0E1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64792" y="2331720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queue（様式）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5808" y="1956816"/>
            <a:ext cx="31638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45536" y="1993392"/>
            <a:ext cx="2962656" cy="6400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B2A4A"/>
                </a:solidFill>
                <a:latin typeface="Meiryo"/>
                <a:ea typeface="Meiryo"/>
              </a:rPr>
              <a:t>1  lead｜task契約を作成</a:t>
            </a:r>
          </a:p>
          <a:p>
            <a:pPr algn="l">
              <a:lnSpc>
                <a:spcPct val="102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依頼を仕事の契約に翻訳（変更範囲・受け入れ条件・検証方法）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1B2A4A"/>
                </a:solidFill>
                <a:latin typeface="Meiryo"/>
                <a:ea typeface="Meiryo"/>
              </a:rPr>
              <a:t>＝ P.2「task契約の作成（lead）」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048256"/>
            <a:ext cx="1645920" cy="530352"/>
          </a:xfrm>
          <a:prstGeom prst="roundRect">
            <a:avLst>
              <a:gd name="adj" fmla="val 12000"/>
            </a:avLst>
          </a:prstGeom>
          <a:solidFill>
            <a:srgbClr val="EAF4EC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2048256"/>
            <a:ext cx="1517904" cy="53035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F7D4F"/>
                </a:solidFill>
                <a:latin typeface="Meiryo"/>
                <a:ea typeface="Meiryo"/>
              </a:rPr>
              <a:t>task契約 →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2816352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2816352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② イベント履歴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64792" y="2816352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64792" y="2816352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② 過去トラ・知見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136392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FBF0E1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3136392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SKILLS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64792" y="3136392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FBF0E1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64792" y="3136392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Wiki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35808" y="2761488"/>
            <a:ext cx="31638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45536" y="2798064"/>
            <a:ext cx="2962656" cy="6400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C96A1B"/>
                </a:solidFill>
                <a:latin typeface="Meiryo"/>
                <a:ea typeface="Meiryo"/>
              </a:rPr>
              <a:t>2  worker｜探索と立案</a:t>
            </a:r>
          </a:p>
          <a:p>
            <a:pPr algn="l">
              <a:lnSpc>
                <a:spcPct val="102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探索の型（計画→並列検索→統合・採点→文脈復元）で仮説と対処案を作成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1B2A4A"/>
                </a:solidFill>
                <a:latin typeface="Meiryo"/>
                <a:ea typeface="Meiryo"/>
              </a:rPr>
              <a:t>＝ P.2「dispatch → claim → 実装（worker）」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2852928"/>
            <a:ext cx="1645920" cy="530352"/>
          </a:xfrm>
          <a:prstGeom prst="roundRect">
            <a:avLst>
              <a:gd name="adj" fmla="val 12000"/>
            </a:avLst>
          </a:prstGeom>
          <a:solidFill>
            <a:srgbClr val="EAF4EC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82512" y="2852928"/>
            <a:ext cx="1517904" cy="53035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F7D4F"/>
                </a:solidFill>
                <a:latin typeface="Meiryo"/>
                <a:ea typeface="Meiryo"/>
              </a:rPr>
              <a:t>仮説・対処案＋探索ログ → queue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4572000" y="2651760"/>
            <a:ext cx="128016" cy="100584"/>
          </a:xfrm>
          <a:prstGeom prst="down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02920" y="3621024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FBF0E1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3621024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CI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64792" y="3621024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FBF0E1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764792" y="3621024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Hooks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3941063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3941063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制約・ルール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35808" y="3566160"/>
            <a:ext cx="31638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A62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45536" y="3602736"/>
            <a:ext cx="2962656" cy="6400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A6252F"/>
                </a:solidFill>
                <a:latin typeface="Meiryo"/>
                <a:ea typeface="Meiryo"/>
              </a:rPr>
              <a:t>3  検証ゲート（自動）</a:t>
            </a:r>
          </a:p>
          <a:p>
            <a:pPr algn="l">
              <a:lnSpc>
                <a:spcPct val="102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形式・整合・安全を機械チェック ― 人手ゼロの門番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1B2A4A"/>
                </a:solidFill>
                <a:latin typeface="Meiryo"/>
                <a:ea typeface="Meiryo"/>
              </a:rPr>
              <a:t>＝ P.2「検証ゲート」そのもの（業務版）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3657600"/>
            <a:ext cx="1645920" cy="530352"/>
          </a:xfrm>
          <a:prstGeom prst="roundRect">
            <a:avLst>
              <a:gd name="adj" fmla="val 12000"/>
            </a:avLst>
          </a:prstGeom>
          <a:solidFill>
            <a:srgbClr val="EAF4EC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82512" y="3657600"/>
            <a:ext cx="1517904" cy="53035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F7D4F"/>
                </a:solidFill>
                <a:latin typeface="Meiryo"/>
                <a:ea typeface="Meiryo"/>
              </a:rPr>
              <a:t>検証ログ → queue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4572000" y="3456432"/>
            <a:ext cx="128016" cy="100584"/>
          </a:xfrm>
          <a:prstGeom prst="down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02920" y="4425696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4425696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③ 根拠リンク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64792" y="4425696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764792" y="4425696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7C86"/>
                </a:solidFill>
                <a:latin typeface="Meiryo"/>
                <a:ea typeface="Meiryo"/>
              </a:rPr>
              <a:t>インスタンス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4745736"/>
            <a:ext cx="1197864" cy="274320"/>
          </a:xfrm>
          <a:prstGeom prst="roundRect">
            <a:avLst>
              <a:gd name="adj" fmla="val 16000"/>
            </a:avLst>
          </a:prstGeom>
          <a:solidFill>
            <a:srgbClr val="FBF0E1"/>
          </a:solidFill>
          <a:ln w="9525">
            <a:solidFill>
              <a:srgbClr val="C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2920" y="4745736"/>
            <a:ext cx="1197864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C96A1B"/>
                </a:solidFill>
                <a:latin typeface="Meiryo"/>
                <a:ea typeface="Meiryo"/>
              </a:rPr>
              <a:t>queue（受入条件）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35808" y="4370832"/>
            <a:ext cx="31638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145536" y="4407408"/>
            <a:ext cx="2962656" cy="6400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0E7C86"/>
                </a:solidFill>
                <a:latin typeface="Meiryo"/>
                <a:ea typeface="Meiryo"/>
              </a:rPr>
              <a:t>4  verifier｜独立照合</a:t>
            </a:r>
          </a:p>
          <a:p>
            <a:pPr algn="l">
              <a:lnSpc>
                <a:spcPct val="102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根拠を遡って原本と突き合わせ ― OK / FIX / ASK_LEAD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1B2A4A"/>
                </a:solidFill>
                <a:latin typeface="Meiryo"/>
                <a:ea typeface="Meiryo"/>
              </a:rPr>
              <a:t>＝ P.2「review（verifier）」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09360" y="4462272"/>
            <a:ext cx="1645920" cy="530352"/>
          </a:xfrm>
          <a:prstGeom prst="roundRect">
            <a:avLst>
              <a:gd name="adj" fmla="val 12000"/>
            </a:avLst>
          </a:prstGeom>
          <a:solidFill>
            <a:srgbClr val="EAF4EC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82512" y="4462272"/>
            <a:ext cx="1517904" cy="53035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F7D4F"/>
                </a:solidFill>
                <a:latin typeface="Meiryo"/>
                <a:ea typeface="Meiryo"/>
              </a:rPr>
              <a:t>審査記録 → queue</a:t>
            </a:r>
          </a:p>
        </p:txBody>
      </p:sp>
      <p:sp>
        <p:nvSpPr>
          <p:cNvPr id="65" name="Down Arrow 64"/>
          <p:cNvSpPr/>
          <p:nvPr/>
        </p:nvSpPr>
        <p:spPr>
          <a:xfrm>
            <a:off x="4572000" y="4261104"/>
            <a:ext cx="128016" cy="100584"/>
          </a:xfrm>
          <a:prstGeom prst="down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2920" y="5358384"/>
            <a:ext cx="2423160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（読む物なし ― 通過成果を統合するのみ）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5808" y="5175504"/>
            <a:ext cx="31638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145536" y="5212080"/>
            <a:ext cx="2962656" cy="6400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1B2A4A"/>
                </a:solidFill>
                <a:latin typeface="Meiryo"/>
                <a:ea typeface="Meiryo"/>
              </a:rPr>
              <a:t>5  lead｜統合 → SoEへ出力</a:t>
            </a:r>
          </a:p>
          <a:p>
            <a:pPr algn="l">
              <a:lnSpc>
                <a:spcPct val="102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根拠付き対処手順書＋作業指示＋発注案 ― 通過成果のみ</a:t>
            </a:r>
          </a:p>
          <a:p>
            <a:pPr algn="l">
              <a:lnSpc>
                <a:spcPct val="102000"/>
              </a:lnSpc>
            </a:pPr>
            <a:r>
              <a:rPr sz="700" b="1">
                <a:solidFill>
                  <a:srgbClr val="1B2A4A"/>
                </a:solidFill>
                <a:latin typeface="Meiryo"/>
                <a:ea typeface="Meiryo"/>
              </a:rPr>
              <a:t>＝ P.2「統合（lead）」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09360" y="5266944"/>
            <a:ext cx="1645920" cy="530352"/>
          </a:xfrm>
          <a:prstGeom prst="roundRect">
            <a:avLst>
              <a:gd name="adj" fmla="val 12000"/>
            </a:avLst>
          </a:prstGeom>
          <a:solidFill>
            <a:srgbClr val="EAF4EC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82512" y="5266944"/>
            <a:ext cx="1517904" cy="53035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F7D4F"/>
                </a:solidFill>
                <a:latin typeface="Meiryo"/>
                <a:ea typeface="Meiryo"/>
              </a:rPr>
              <a:t>成果物→SoE／運用ログ→queue（④-4）</a:t>
            </a:r>
          </a:p>
        </p:txBody>
      </p:sp>
      <p:sp>
        <p:nvSpPr>
          <p:cNvPr id="71" name="Down Arrow 70"/>
          <p:cNvSpPr/>
          <p:nvPr/>
        </p:nvSpPr>
        <p:spPr>
          <a:xfrm>
            <a:off x="4572000" y="5065776"/>
            <a:ext cx="128016" cy="100584"/>
          </a:xfrm>
          <a:prstGeom prst="down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2920" y="5961888"/>
            <a:ext cx="7498079" cy="16459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FIX＝workerへ差し戻し／ASK_LEAD＝leadが調停 ― 工程はP.2と同一。読む棚・書く棚はすべてP.6で満たした18の棚（名前も同一）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0" y="1042415"/>
            <a:ext cx="3611880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A4A"/>
                </a:solidFill>
                <a:latin typeface="Meiryo"/>
                <a:ea typeface="Meiryo"/>
              </a:rPr>
              <a:t>何が変わるか ― 同じ依頼のBEFORE → AFTER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38160" y="1335024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8247888" y="1426464"/>
            <a:ext cx="566928" cy="731520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47888" y="1426464"/>
            <a:ext cx="566928" cy="7315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復旧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15400" y="1408176"/>
            <a:ext cx="274320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6B7280"/>
                </a:solidFill>
                <a:latin typeface="Meiryo"/>
                <a:ea typeface="Meiryo"/>
              </a:rPr>
              <a:t>旧　</a:t>
            </a: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ベテラン出社待ちで6時間停止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15400" y="1810512"/>
            <a:ext cx="274320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0E7C86"/>
                </a:solidFill>
                <a:latin typeface="Meiryo"/>
                <a:ea typeface="Meiryo"/>
              </a:rPr>
              <a:t>新　</a:t>
            </a:r>
            <a:r>
              <a:rPr sz="750" b="0">
                <a:solidFill>
                  <a:srgbClr val="263042"/>
                </a:solidFill>
                <a:latin typeface="Meiryo"/>
                <a:ea typeface="Meiryo"/>
              </a:rPr>
              <a:t>若手＋AIが即時に一次対処へ ― 手順は根拠付きで迷わない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138160" y="2340864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247888" y="2432304"/>
            <a:ext cx="566928" cy="731520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247888" y="2432304"/>
            <a:ext cx="566928" cy="7315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信頼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15400" y="2414016"/>
            <a:ext cx="274320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6B7280"/>
                </a:solidFill>
                <a:latin typeface="Meiryo"/>
                <a:ea typeface="Meiryo"/>
              </a:rPr>
              <a:t>旧　</a:t>
            </a: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「勘」の指示で、検証しようがない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15400" y="2816352"/>
            <a:ext cx="274320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0E7C86"/>
                </a:solidFill>
                <a:latin typeface="Meiryo"/>
                <a:ea typeface="Meiryo"/>
              </a:rPr>
              <a:t>新　</a:t>
            </a:r>
            <a:r>
              <a:rPr sz="750" b="0">
                <a:solidFill>
                  <a:srgbClr val="263042"/>
                </a:solidFill>
                <a:latin typeface="Meiryo"/>
                <a:ea typeface="Meiryo"/>
              </a:rPr>
              <a:t>全提案に出典リンク ― 人が確かめてから実行できる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38160" y="3346704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8247888" y="3438144"/>
            <a:ext cx="566928" cy="731520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247888" y="3438144"/>
            <a:ext cx="566928" cy="7315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蓄積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15400" y="3419856"/>
            <a:ext cx="274320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6B7280"/>
                </a:solidFill>
                <a:latin typeface="Meiryo"/>
                <a:ea typeface="Meiryo"/>
              </a:rPr>
              <a:t>旧　</a:t>
            </a: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対応が記憶と個人メモに消える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15400" y="3822191"/>
            <a:ext cx="274320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0E7C86"/>
                </a:solidFill>
                <a:latin typeface="Meiryo"/>
                <a:ea typeface="Meiryo"/>
              </a:rPr>
              <a:t>新　</a:t>
            </a:r>
            <a:r>
              <a:rPr sz="750" b="0">
                <a:solidFill>
                  <a:srgbClr val="263042"/>
                </a:solidFill>
                <a:latin typeface="Meiryo"/>
                <a:ea typeface="Meiryo"/>
              </a:rPr>
              <a:t>実行そのものが運用ログ・知見として自動で残る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38160" y="4389120"/>
            <a:ext cx="3611880" cy="859536"/>
          </a:xfrm>
          <a:prstGeom prst="roundRect">
            <a:avLst>
              <a:gd name="adj" fmla="val 8000"/>
            </a:avLst>
          </a:prstGeom>
          <a:solidFill>
            <a:srgbClr val="EAF4EC"/>
          </a:solidFill>
          <a:ln w="952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75320" y="4389120"/>
            <a:ext cx="3337560" cy="85953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2F7D4F"/>
                </a:solidFill>
                <a:latin typeface="Meiryo"/>
                <a:ea typeface="Meiryo"/>
              </a:rPr>
              <a:t>実行するほどデータが増える</a:t>
            </a:r>
          </a:p>
          <a:p>
            <a:pPr algn="l">
              <a:lnSpc>
                <a:spcPct val="110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task契約・探索ログ・検証ログ・成果物はすべてAI生成知（緑）― 次頁で2つの置き場へ還流する ▶ ④-4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38160" y="5358384"/>
            <a:ext cx="3611880" cy="457200"/>
          </a:xfrm>
          <a:prstGeom prst="rect">
            <a:avLst/>
          </a:prstGeom>
          <a:noFill/>
        </p:spPr>
        <p:txBody>
          <a:bodyPr wrap="square" lIns="18288" tIns="0" rIns="18288" bIns="0" anchor="t"/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※ 効果の大きさは業務・現場で異なるため、導入設計時にKPIとして定義（例：MTTR、再発率、教育・立上げ工数）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6291072"/>
            <a:ext cx="1120140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85800" y="6291072"/>
            <a:ext cx="1088136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賢さの源泉はモデルではなく「読み先」― 差分は置き場が吸収し、エージェントは共通のまま。だから誰の現場でも根拠付きで速い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6684264"/>
            <a:ext cx="11201400" cy="1554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※ 5工程はP.2「taskライフサイクル」と同一。ここでは参照元（ハ＝ハーネス／中＝中間層）と生成データに着目して再掲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5989320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6577"/>
                </a:solidFill>
                <a:latin typeface="Meiryo"/>
                <a:ea typeface="Meiryo"/>
              </a:rPr>
              <a:t>SoA AIエージェント層 ｜ ④-4 実例：STEP 3 複利（2経路の還流）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E7C86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構造化データ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96A1B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非構造化データ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7A3E63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暗黙知（脳内）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21945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0" y="219456"/>
            <a:ext cx="1207008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F7D4F"/>
                </a:solidFill>
                <a:latin typeface="Meiryo"/>
                <a:ea typeface="Meiryo"/>
              </a:rPr>
              <a:t>● </a:t>
            </a:r>
            <a:r>
              <a:rPr sz="800" b="0">
                <a:solidFill>
                  <a:srgbClr val="263042"/>
                </a:solidFill>
                <a:latin typeface="Meiryo"/>
                <a:ea typeface="Meiryo"/>
              </a:rPr>
              <a:t>AI生成知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"/>
            <a:ext cx="11247120" cy="4754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"/>
            <a:ext cx="10927080" cy="47548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STEP 3｜複利 ― 生成データは2つの置き場へ還流する：事実は即時に中間層へ、やり方は承認を経てハーネスへ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042415"/>
            <a:ext cx="5943600" cy="548640"/>
          </a:xfrm>
          <a:prstGeom prst="roundRect">
            <a:avLst>
              <a:gd name="adj" fmla="val 8000"/>
            </a:avLst>
          </a:prstGeom>
          <a:solidFill>
            <a:srgbClr val="EAF4EC"/>
          </a:solidFill>
          <a:ln w="15240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1042415"/>
            <a:ext cx="5669280" cy="54864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F7D4F"/>
                </a:solidFill>
                <a:latin typeface="Meiryo"/>
                <a:ea typeface="Meiryo"/>
              </a:rPr>
              <a:t>④-3の実行が生んだAI生成知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task契約・探索ログ・検証ログ・成果物・失敗報告 ― 集める手間ゼロで毎日たまる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389120" y="1645920"/>
            <a:ext cx="164592" cy="146304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7772400" y="1645920"/>
            <a:ext cx="164592" cy="146304"/>
          </a:xfrm>
          <a:prstGeom prst="downArrow">
            <a:avLst/>
          </a:prstGeom>
          <a:solidFill>
            <a:srgbClr val="7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1847088"/>
            <a:ext cx="5532120" cy="2798064"/>
          </a:xfrm>
          <a:prstGeom prst="roundRect">
            <a:avLst>
              <a:gd name="adj" fmla="val 5000"/>
            </a:avLst>
          </a:prstGeom>
          <a:solidFill>
            <a:srgbClr val="E9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1901952"/>
            <a:ext cx="5257800" cy="45720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E7C86"/>
                </a:solidFill>
                <a:latin typeface="Meiryo"/>
                <a:ea typeface="Meiryo"/>
              </a:rPr>
              <a:t>経路① 事実・知見の還流 → 中間層（自動・随時）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「今回の停止と対処」が根拠リンク付きでグラフに蓄積 ― 承認不要で即、共有知に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432304"/>
            <a:ext cx="5257800" cy="20116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E7C86"/>
                </a:solidFill>
                <a:latin typeface="Meiryo"/>
                <a:ea typeface="Meiryo"/>
              </a:rPr>
              <a:t>＝ Graph Engineering（P.4のSTEP 2）― 共通ハブ経由で知見が部署を越える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24912"/>
            <a:ext cx="25146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770632"/>
            <a:ext cx="2331720" cy="7132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設計ハーネス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故障モードをFMEA・設計基準へ ― 壊れにくい次機種に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2724912"/>
            <a:ext cx="25146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2770632"/>
            <a:ext cx="2331720" cy="7132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品証ハーネス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予兆パターンを検査項目・合格条件に追加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602736"/>
            <a:ext cx="25146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648456"/>
            <a:ext cx="2331720" cy="7132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調達・保全計画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予備品の基準・点検周期をデータで最適化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602736"/>
            <a:ext cx="25146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2331720" cy="7132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他ライン・他工場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テンプレ適用のみで横展開 ― 2本目は速く・安く（P.1）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847088"/>
            <a:ext cx="5532120" cy="2798064"/>
          </a:xfrm>
          <a:prstGeom prst="roundRect">
            <a:avLst>
              <a:gd name="adj" fmla="val 5000"/>
            </a:avLst>
          </a:prstGeom>
          <a:solidFill>
            <a:srgbClr val="F5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5257800" cy="45720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7A3E63"/>
                </a:solidFill>
                <a:latin typeface="Meiryo"/>
                <a:ea typeface="Meiryo"/>
              </a:rPr>
              <a:t>経路② やり方の改善 → ハーネス（承認制・低頻度）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＝ Gated RSI（P.4のSTEP 3）― AIが提案し、人が門番。勝手に変えない・暴走しない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432304"/>
            <a:ext cx="5166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7A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9672" y="2450592"/>
            <a:ext cx="4937760" cy="51206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7A3E63"/>
                </a:solidFill>
                <a:latin typeface="Meiryo"/>
                <a:ea typeface="Meiryo"/>
              </a:rPr>
              <a:t>① AIが改善案を生成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例：「異音SKILLに周波数帯◯◯を追記」「検証ゲートに温度条件を追加」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090672"/>
            <a:ext cx="5166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A62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9672" y="3108960"/>
            <a:ext cx="4937760" cy="51206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A6252F"/>
                </a:solidFill>
                <a:latin typeface="Meiryo"/>
                <a:ea typeface="Meiryo"/>
              </a:rPr>
              <a:t>② harnessテスト ＋ ③ 人の承認（HITL）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安全確認と承認を通った案だけが先へ ― ここが「Gated」の意味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915400" y="2980944"/>
            <a:ext cx="128016" cy="100584"/>
          </a:xfrm>
          <a:prstGeom prst="down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00800" y="3749039"/>
            <a:ext cx="5166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9672" y="3767327"/>
            <a:ext cx="4937760" cy="51206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B2A4A"/>
                </a:solidFill>
                <a:latin typeface="Meiryo"/>
                <a:ea typeface="Meiryo"/>
              </a:rPr>
              <a:t>④ ハーネスに反映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B6577"/>
                </a:solidFill>
                <a:latin typeface="Meiryo"/>
                <a:ea typeface="Meiryo"/>
              </a:rPr>
              <a:t>SKILLS・rules・検証ゲートが改訂され、次の対応がもっと上手く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8915400" y="3639311"/>
            <a:ext cx="128016" cy="100584"/>
          </a:xfrm>
          <a:prstGeom prst="down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389120"/>
            <a:ext cx="5166360" cy="18288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7A3E63"/>
                </a:solidFill>
                <a:latin typeface="Meiryo"/>
                <a:ea typeface="Meiryo"/>
              </a:rPr>
              <a:t>④→① 改善が次の改善を生む再帰ループ ― 自律度は実績に応じて段階昇格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773168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4828032"/>
            <a:ext cx="10881360" cy="219456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2A4A"/>
                </a:solidFill>
                <a:latin typeface="Meiryo"/>
                <a:ea typeface="Meiryo"/>
              </a:rPr>
              <a:t>総括 ― データの旅の全体像：エージェントは終始「共通」のまま、置き場だけが育っていく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084064"/>
            <a:ext cx="19202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0664" y="5102352"/>
            <a:ext cx="1810512" cy="2560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63042"/>
                </a:solidFill>
                <a:latin typeface="Meiryo"/>
                <a:ea typeface="Meiryo"/>
              </a:rPr>
              <a:t>3つの知識　</a:t>
            </a:r>
            <a:r>
              <a:rPr sz="850" b="1">
                <a:solidFill>
                  <a:srgbClr val="0E7C86"/>
                </a:solidFill>
                <a:latin typeface="Meiryo"/>
                <a:ea typeface="Meiryo"/>
              </a:rPr>
              <a:t>●</a:t>
            </a:r>
            <a:r>
              <a:rPr sz="850" b="1">
                <a:solidFill>
                  <a:srgbClr val="C96A1B"/>
                </a:solidFill>
                <a:latin typeface="Meiryo"/>
                <a:ea typeface="Meiryo"/>
              </a:rPr>
              <a:t>●</a:t>
            </a:r>
            <a:r>
              <a:rPr sz="850" b="1">
                <a:solidFill>
                  <a:srgbClr val="7A3E63"/>
                </a:solidFill>
                <a:latin typeface="Meiryo"/>
                <a:ea typeface="Meiryo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" y="5358384"/>
            <a:ext cx="1810512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脳内・紙・システム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80360" y="5084064"/>
            <a:ext cx="1920240" cy="56692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35224" y="5102352"/>
            <a:ext cx="1810512" cy="2560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</a:rPr>
              <a:t>変換して振り分け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35224" y="5358384"/>
            <a:ext cx="1810512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DDE5EC"/>
                </a:solidFill>
                <a:latin typeface="Meiryo"/>
                <a:ea typeface="Meiryo"/>
              </a:rPr>
              <a:t>事実か／やり方か（④-2）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74920" y="5084064"/>
            <a:ext cx="192024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29783" y="5102352"/>
            <a:ext cx="1810512" cy="2560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</a:rPr>
              <a:t>2つの置き場　</a:t>
            </a:r>
            <a:r>
              <a:rPr sz="850" b="1">
                <a:solidFill>
                  <a:srgbClr val="8FD8DE"/>
                </a:solidFill>
                <a:latin typeface="Meiryo"/>
                <a:ea typeface="Meiryo"/>
              </a:rPr>
              <a:t>中</a:t>
            </a:r>
            <a:r>
              <a:rPr sz="850" b="0">
                <a:solidFill>
                  <a:srgbClr val="FFFFFF"/>
                </a:solidFill>
                <a:latin typeface="Meiryo"/>
                <a:ea typeface="Meiryo"/>
              </a:rPr>
              <a:t>×</a:t>
            </a:r>
            <a:r>
              <a:rPr sz="850" b="1">
                <a:solidFill>
                  <a:srgbClr val="F3B87A"/>
                </a:solidFill>
                <a:latin typeface="Meiryo"/>
                <a:ea typeface="Meiryo"/>
              </a:rPr>
              <a:t>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783" y="5358384"/>
            <a:ext cx="1810512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DDE5EC"/>
                </a:solidFill>
                <a:latin typeface="Meiryo"/>
                <a:ea typeface="Meiryo"/>
              </a:rPr>
              <a:t>事実 × やり方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69480" y="5084064"/>
            <a:ext cx="1920240" cy="56692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24344" y="5102352"/>
            <a:ext cx="1810512" cy="2560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</a:rPr>
              <a:t>共通Agentが実行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24344" y="5358384"/>
            <a:ext cx="1810512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DDE5EC"/>
                </a:solidFill>
                <a:latin typeface="Meiryo"/>
                <a:ea typeface="Meiryo"/>
              </a:rPr>
              <a:t>読み先が賢さ（④-3）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64040" y="5084064"/>
            <a:ext cx="1920240" cy="566928"/>
          </a:xfrm>
          <a:prstGeom prst="roundRect">
            <a:avLst>
              <a:gd name="adj" fmla="val 10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18904" y="5102352"/>
            <a:ext cx="1810512" cy="256032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eiryo"/>
                <a:ea typeface="Meiryo"/>
              </a:rPr>
              <a:t>生成→2経路で還流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18904" y="5358384"/>
            <a:ext cx="1810512" cy="237744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DDE5EC"/>
                </a:solidFill>
                <a:latin typeface="Meiryo"/>
                <a:ea typeface="Meiryo"/>
              </a:rPr>
              <a:t>即時＋承認制（本頁）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2642616" y="5285232"/>
            <a:ext cx="201168" cy="146304"/>
          </a:xfrm>
          <a:prstGeom prst="right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ight Arrow 56"/>
          <p:cNvSpPr/>
          <p:nvPr/>
        </p:nvSpPr>
        <p:spPr>
          <a:xfrm>
            <a:off x="4837176" y="5285232"/>
            <a:ext cx="201168" cy="146304"/>
          </a:xfrm>
          <a:prstGeom prst="right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ight Arrow 57"/>
          <p:cNvSpPr/>
          <p:nvPr/>
        </p:nvSpPr>
        <p:spPr>
          <a:xfrm>
            <a:off x="7031736" y="5285232"/>
            <a:ext cx="201168" cy="146304"/>
          </a:xfrm>
          <a:prstGeom prst="right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ight Arrow 58"/>
          <p:cNvSpPr/>
          <p:nvPr/>
        </p:nvSpPr>
        <p:spPr>
          <a:xfrm>
            <a:off x="9226296" y="5285232"/>
            <a:ext cx="201168" cy="146304"/>
          </a:xfrm>
          <a:prstGeom prst="rightArrow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5800" y="5724144"/>
            <a:ext cx="10881360" cy="27432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E7C86"/>
                </a:solidFill>
                <a:latin typeface="Meiryo"/>
                <a:ea typeface="Meiryo"/>
              </a:rPr>
              <a:t>◀ </a:t>
            </a:r>
            <a:r>
              <a:rPr sz="850" b="0">
                <a:solidFill>
                  <a:srgbClr val="263042"/>
                </a:solidFill>
                <a:latin typeface="Meiryo"/>
                <a:ea typeface="Meiryo"/>
              </a:rPr>
              <a:t>還流した分だけ「読み先」が賢くなり、次の実行はもっと上手く ― 使うほど増える複利。人が改善するのではなく「改善が自動で回る構造」を作る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6291072"/>
            <a:ext cx="1120140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5800" y="6291072"/>
            <a:ext cx="10881360" cy="3840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人が減っても知恵は減らない ― 佐藤さんの32年は「事実」として全社に共有され、「やり方」として承認済みの型になる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684264"/>
            <a:ext cx="11201400" cy="155448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577"/>
                </a:solidFill>
                <a:latin typeface="Meiryo"/>
                <a:ea typeface="Meiryo"/>
              </a:rPr>
              <a:t>※ 実例は保全業務。他工程も同じ構造で適用（業種×工程テンプレ＝P.1の③）。全体像＝P.2／中間層＝P.3／Harness・Graph・RSIの3段階＝P.4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3069</Words>
  <Application>Microsoft Office PowerPoint</Application>
  <PresentationFormat>ワイド画面</PresentationFormat>
  <Paragraphs>417</Paragraphs>
  <Slides>8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守屋 文雄/TechnoPro Holdings</cp:lastModifiedBy>
  <cp:revision>2</cp:revision>
  <dcterms:created xsi:type="dcterms:W3CDTF">2026-07-21T11:08:42Z</dcterms:created>
  <dcterms:modified xsi:type="dcterms:W3CDTF">2026-07-24T04:52:12Z</dcterms:modified>
</cp:coreProperties>
</file>